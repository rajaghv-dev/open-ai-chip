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notesMasterIdLst>
    <p:notesMasterId r:id="rId8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open-source silicon" id="{9c7014ad-d2dd-ae76-e2da-68ddd459babb}">
          <p14:sldIdLst>
            <p14:sldId id="256"/>
            <p14:sldId id="257"/>
            <p14:sldId id="258"/>
            <p14:sldId id="259"/>
            <p14:sldId id="260"/>
          </p14:sldIdLst>
        </p14:section>
        <p14:section name="The open-source EDA flow" id="{49fac2f7-0c1d-8b81-a4ed-773fdcde6c77}">
          <p14:sldIdLst>
            <p14:sldId id="261"/>
            <p14:sldId id="262"/>
            <p14:sldId id="263"/>
            <p14:sldId id="264"/>
            <p14:sldId id="265"/>
            <p14:sldId id="266"/>
            <p14:sldId id="267"/>
            <p14:sldId id="268"/>
            <p14:sldId id="269"/>
            <p14:sldId id="270"/>
            <p14:sldId id="271"/>
            <p14:sldId id="272"/>
            <p14:sldId id="273"/>
            <p14:sldId id="274"/>
            <p14:sldId id="275"/>
          </p14:sldIdLst>
        </p14:section>
        <p14:section name="Lab block 1" id="{88abf43f-eae0-09d2-7df8-811aed110297}">
          <p14:sldIdLst>
            <p14:sldId id="276"/>
            <p14:sldId id="277"/>
            <p14:sldId id="278"/>
            <p14:sldId id="279"/>
            <p14:sldId id="280"/>
            <p14:sldId id="281"/>
          </p14:sldIdLst>
        </p14:section>
        <p14:section name="Tour of the designs" id="{765cf68a-b7ea-dc2e-3abb-40b4f6f4b393}">
          <p14:sldIdLst>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Lst>
        </p14:section>
        <p14:section name="Lab block 2" id="{95fdd1e2-598e-221e-dedf-7dca16f7804d}">
          <p14:sldIdLst>
            <p14:sldId id="305"/>
            <p14:sldId id="306"/>
            <p14:sldId id="307"/>
            <p14:sldId id="308"/>
            <p14:sldId id="309"/>
            <p14:sldId id="310"/>
          </p14:sldIdLst>
        </p14:section>
        <p14:section name="What verification caught" id="{9c1a205d-fb84-930c-52f2-f7415cb79f29}">
          <p14:sldIdLst>
            <p14:sldId id="311"/>
            <p14:sldId id="312"/>
            <p14:sldId id="313"/>
            <p14:sldId id="314"/>
            <p14:sldId id="315"/>
            <p14:sldId id="316"/>
            <p14:sldId id="317"/>
          </p14:sldIdLst>
        </p14:section>
        <p14:section name="Road to silicon" id="{54c475f7-4247-1231-ffec-354b4f4912f7}">
          <p14:sldIdLst>
            <p14:sldId id="318"/>
            <p14:sldId id="319"/>
            <p14:sldId id="320"/>
            <p14:sldId id="321"/>
            <p14:sldId id="322"/>
            <p14:sldId id="323"/>
          </p14:sldIdLst>
        </p14:section>
        <p14:section name="Recap and questions" id="{59736222-afa7-56bd-d62d-052f604d3518}">
          <p14:sldIdLst>
            <p14:sldId id="324"/>
            <p14:sldId id="325"/>
            <p14:sldId id="326"/>
            <p14:sldId id="327"/>
          </p14:sldIdLst>
        </p14:section>
        <p14:section name="Appendix" id="{9a94aca5-38ff-1d89-bc40-c0c228a14f80}">
          <p14:sldIdLst>
            <p14:sldId id="328"/>
            <p14:sldId id="329"/>
            <p14:sldId id="330"/>
            <p14:sldId id="331"/>
            <p14:sldId id="332"/>
            <p14:sldId id="333"/>
            <p14:sldId id="334"/>
            <p14:sldId id="335"/>
            <p14:sldId id="33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0–10 min (Why open-source silicon); about 2 min on this slide.
Source: git config user.name = Raja Gopal; repository URL from README.md. Prepared for Open Source India; not issued by the conference. Say plainly: the repository is private at the moment of writing (see the status slide in block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0–10 min (Why open-source silicon); about 2.5 min on this slide.
Agenda. Block ranges are the owner's plan for the 150-minute session. docs/LABS.md has its own facilitator outline (labs of 15 minutes each, a break at 70-80); this deck follows the owner's block plan instead, so use LABS.md only for the lab worksheets.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0–10 min (Why open-source silicon); about 2 min on this slide.
Sources: README.md and CLAUDE.md (RTL to GDSII on SkyWater sky130A with LibreLane 3.0.2 and OpenROAD); docs/SPEC.md section 1 (goal: examples small enough for free compute). Talking points: the tools, the process data (PDK) and the designs are all public, so every step can be repeated and inspected.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0–10 min (Why open-source silicon); about 2 min on this slide.
Sources: docs/LABS.md (six labs, one flow stage each, 3 to 65 seconds each, measured on uart under 2 CPUs / 8 GB) and docs/SPEC.md 5.8. Outcomes are the owner's block plan: see the flow, run it, tour the designs, learn what verification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0–10 min (Why open-source silicon); about 2 min on this slide.
Sources: docs/SPEC.md 5.4 (tight profile = 2 CPUs, 8 GB) and 5.1 (tiers); output/&lt;design&gt;/resources.json container_peak_mem_gb and wall_s_total for the 11 designs rebuilt under the tight profile; output/baseline_tight.md (Apple-silicon Colima VM, container capped to 2 CPUs / 8 GB; wall times are a lower bound for cloud x86). Colab, Codespaces: not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0.5 min on this slide.
Block B: 30 minutes. Stage images, tools and step times are from build/results/_flow_stages/cnn_lite (stages.json, tools.json); the design is cnn_lite because it fills its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README.md and CLAUDE.md (flow = LibreLane 3.0.2 + OpenROAD); build/results/_flow_stages/cnn_lite/tools.json (76 steps). No detail on this slide on purpose; each stage has its own slide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build/results/_flow_stages/cnn_lite/stages.json (tool, step_wall_s, description per image) and tools.json (phase times; total 411.2 s over 77 steps, 2 CPUs / 8 GB, Apple-silicon VM); docs/SPEC.md section 4. Lint is step 01 (Verilator) of the flow; simulation is run separately with iverilog (make simulate-*).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build/results/_flow_stages/cnn_lite/stages.json (tool, step_wall_s, description per image) and tools.json (phase times; total 411.2 s over 77 steps, 2 CPUs / 8 GB, Apple-silicon VM); docs/SPEC.md section 4. Steps 05-09 (yosys). sky130_fd_sc_hd__and2_1 is a cell of the sky130_fd_sc_hd standard-cell library. Lab 1 runs this stage on uart: 674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build/results/_flow_stages/cnn_lite/stages.json (tool, step_wall_s, description per image) and tools.json (phase times; total 411.2 s over 77 steps, 2 CPUs / 8 GB, Apple-silicon VM); docs/SPEC.md section 4. Image 01_floorplan.png: Die and core are defined; the placement rows (grey) are drawn from the DEF ROW lines and the IO pins (orange) from the first DEF that has them. Cells and power grid do not exist yet. Step directory: 13-openroad-floorplan (+ pins from 26-odb-customioplacement). Image 02_pdn.png: Tap cells are inserted and the power grid (met1 rails, met4/met5 stripes) is added. Step directory: 21-openroad-generatepdn.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build/results/_flow_stages/cnn_lite/stages.json (tool, step_wall_s, description per image) and tools.json (phase times; total 411.2 s over 77 steps, 2 CPUs / 8 GB, Apple-silicon VM); docs/SPEC.md section 4. Image 03a_global_placement.png: Cells get rough positions; they overlap and are not yet on legal sites. Step directory: 28-openroad-globalplacement. Image 03_placement.png: Cells are snapped onto legal sites with no overlaps; still no signal wires. Step directory: 34-openroad-detailedplacement.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build/results/_flow_stages/cnn_lite/stages.json (tool, step_wall_s, description per image) and tools.json (phase times; total 411.2 s over 77 steps, 2 CPUs / 8 GB, Apple-silicon VM); docs/SPEC.md section 4. Image 04_cts.png: Same placement, dimmed; the 127 clock buffers/loads inserted by CTS are black squares and the 84 clock nets (connectivity drawn as straight red lines from DEF, not real routing) show the tree. Step directory: 35-openroad-cts.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build/results/_flow_stages/cnn_lite/stages.json (tool, step_wall_s, description per image) and tools.json (phase times; total 411.2 s over 77 steps, 2 CPUs / 8 GB, Apple-silicon VM); docs/SPEC.md section 4. Image 05_routing.png: All signal wires are routed on met1-met5 and the pins are connected. Step directory: 45-openroad-detailedrouting.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build/results/_flow_stages/cnn_lite/stages.json (tool, step_wall_s, description per image) and tools.json (phase times; total 411.2 s over 77 steps, 2 CPUs / 8 GB, Apple-silicon VM); docs/SPEC.md section 4. Values: output/cnn_lite/metrics.json, worst of min/nom/max extraction for each process corner (timing__setup__ws__corner:*_ss_100C_1v60, *_tt_025C_1v80, *_ff_n40C_1v95).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build/results/_flow_stages/cnn_lite/stages.json (tool, step_wall_s, description per image) and tools.json (phase times; total 411.2 s over 77 steps, 2 CPUs / 8 GB, Apple-silicon VM); docs/SPEC.md section 4. Times are the signoff phase per tool from tools.json (they include stream-out and XOR). Antenna checks run in OpenROAD.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build/results/_flow_stages/cnn_lite/stages.json (tool, step_wall_s, description per image) and tools.json (phase times; total 411.2 s over 77 steps, 2 CPUs / 8 GB, Apple-silicon VM); docs/SPEC.md section 4. Image 06_final.png: The finished GDSII with every layer including transistors (diffusion, poly), not only cell abstracts. Step directory: final (final/gds, from 57-magic-streamout / 58-klayout-streamout). Image 07_zoom_cells.png: Zoom on a 60 x 40 um window at (150, 10) um chosen as the densest logic region: cells, local interconnect and metal tracks. Step directory: final (final/gds).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build/results/_flow_stages/cnn_lite/tools.json (total_steps 77); CLAUDE.md (LibreLane 3.0.2); docs/SPEC.md 4.1 and 5.4 (resources.json records peak memory and wall time per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 min on this slide.
Sources: README.md and CLAUDE.md (SkyWater sky130A 130 nm); docs/SPEC.md 4.2 (PDK pins). '5 metal layers' as given in the task brief for sky130 (met1 to met5); sky130_fd_sc_hd is the standard-cell library used by the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2.5 min on this slide.
Sources: build/results/_flow_stages/cnn_lite/tools.json phases (lint 0.83 s; synthesis 7.18 s; floorplan 5.02 s; placement 9.08 s; CTS 14.97 s; routing 279.09 s; signoff 95.07 s); sum_of_step_wall_s 411.2. Phase boundaries by step number as defined in tools.json (routing includes fill insertion; signoff = RCX, STA, IR drop, stream-out, XOR, DRC, LVS). 2 CPUs / 8 GB on an Apple-silicon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10–40 min (The open-source EDA flow); about 2.5 min on this slide.
Sources: output/&lt;design&gt;/metrics.json keys magic__drc_error__count, klayout__drc_error__count, design__lvs_error__count, antenna__violating__nets, design__xor_difference__count, summed over the 12 designs with metrics (spm_ref, counter_wb, uart, ring_osc, pwm_dac, sigma_delta, aes128, bnn_mnist, fcnn_mnist, user_proj_example, cnn_lite, cnn_fp16). Timing: timing__setup_vio__count and timing__hold_vio__count &gt; 0 for 1 design(s) (cnn_fp16). Max-slew violations are non-zero in 9 of 12 designs; counts per design in the appendix. Setup the next block with: these checks passed on counter_wb and ring_osc too, while they were hollow (block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40–60 min (Lab block 1); about 0.5 min on this slide.
Block C: 20 minutes. Setup about 2 minutes (128 s measured), labs 3, 6 and 9 s each; the rest is predicting, looking and discussing. The labs run on uart, not cnn_lite, so every stage takes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40–60 min (Lab block 1); about 3 min on this slide.
Sources: docs/LABS.md (worksheet, reference values, commands) and docs/SPEC.md 5.8; commands are defined in mk/L1.mk (lab-setup, lab, lab-check, lab-list, lab-reset, lab-knob, lab-pack, lab-unpack). Reference values are for uart, measured on the Mac VM (arm64, 2 CPUs, 8 GB, profile tight); x86 machines, a real Codespace and Colab are NOT tested (LABS.md expects 1.5 to 2 times longer). make lab-setup: reference run plus checkpoints, 128 s measured on uart. Labs 1 to 6 measured 3, 6, 9, 12, 32 and 65 s (wall, including container start). Each lab starts from its own checkpoint, so a failed lab never blocks the next. make lab-list shows the labs and your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40–60 min (Lab block 1); about 2.5 min on this slide.
Sources: output/uart/resources.json (76 steps, wall_s per step, grouped by step number: lint, synth 1-9; floorplan 10-27; placement 28-34; clock tree 35-38; routing 39-53; signoff 54-76); docs/LABS.md (setup 128 s measured on the Mac VM). Use the time to talk through the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40–60 min (Lab block 1); about 4.5 min on this slide.
Sources: docs/LABS.md (worksheet, reference values, commands) and docs/SPEC.md 5.8; commands are defined in mk/L1.mk (lab-setup, lab, lab-check, lab-list, lab-reset, lab-knob, lab-pack, lab-unpack). Reference values are for uart, measured on the Mac VM (arm64, 2 CPUs, 8 GB, profile tight); x86 machines, a real Codespace and Colab are NOT tested (LABS.md expects 1.5 to 2 times longer). Labs run on uart, the flow section shows cnn_lite: reference numbers differ (e.g. lab 4: 32 clock buffers on uart; cnn_lite's clock tree has 127 buffers/loads in stages.json). Predict: 50, 700 or 5,000 cells? Why (ask the room): Why is the cell area (6,147 um^2) much smaller than the die area seen in lab 2? If it fails: Log is build/labs/uart/mine/lab1/lab.log; usually run make lab-setup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40–60 min (Lab block 1); about 4.5 min on this slide.
Sources: docs/LABS.md (worksheet, reference values, commands) and docs/SPEC.md 5.8; commands are defined in mk/L1.mk (lab-setup, lab, lab-check, lab-list, lab-reset, lab-knob, lab-pack, lab-unpack). Reference values are for uart, measured on the Mac VM (arm64, 2 CPUs, 8 GB, profile tight); x86 machines, a real Codespace and Colab are NOT tested (LABS.md expects 1.5 to 2 times longer). Labs run on uart, the flow section shows cnn_lite: reference numbers differ (e.g. lab 4: 32 clock buffers on uart; cnn_lite's clock tree has 127 buffers/loads in stages.json). Predict: what fraction of the 300 x 300 um die will the cells fill? Why (ask the room): Why does the power grid exist before any signal wire? If it fails: Run make lab-check N=2; if the checkpoint is missing run make lab-setup or make lab-unpack.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40–60 min (Lab block 1); about 4.5 min on this slide.
Sources: docs/LABS.md (worksheet, reference values, commands) and docs/SPEC.md 5.8; commands are defined in mk/L1.mk (lab-setup, lab, lab-check, lab-list, lab-reset, lab-knob, lab-pack, lab-unpack). Reference values are for uart, measured on the Mac VM (arm64, 2 CPUs, 8 GB, profile tight); x86 machines, a real Codespace and Colab are NOT tested (LABS.md expects 1.5 to 2 times longer). Labs run on uart, the flow section shows cnn_lite: reference numbers differ (e.g. lab 4: 32 clock buffers on uart; cnn_lite's clock tree has 127 buffers/loads in stages.json). Predict: spread or cluster? Why (ask the room): The cells cluster on the right. What pulled them there? (Hint: where are the IO pins?) If it fails: Placement failure means the die is too full; see knob util.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0.5 min on this slide.
Block D: 25 minutes, about one minute per slide. Standard cells = design__instance__count__stdcell (includes tap cells, not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designs/spm_ref/src/spm.v header; tests/testbenches/spm_tb.v (run: 'spm_tb: 67286 multiplications, 1094197 bit/status checks, 0 errors'); build/v4/gl_all.log (spm_ref gate-level PASS); docs/SPEC.md 6.2 (original did not multiply); output/spm_ref/metrics.json and resources.json. Detail: Self-checking testbench compares every product bit with a x b computed in the testbench: 67,286 multiplications, 1,094,197 checks, 0 errors (iverilog); gate-level simulation of the synthesized netlist also passes (build/v4/gl_all.log). Original RTL did not multiply; rewritten with the same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designs/spm_ref/src/spm.v header; tests/testbenches/spm_tb.v (run: 'spm_tb: 67286 multiplications, 1094197 bit/status checks, 0 errors'); build/v4/gl_all.log (spm_ref gate-level PASS); docs/SPEC.md 6.2 (original did not multiply); output/spm_ref/metrics.json and resources.json.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rtl/examples/counter_wb/counter_wb.v header (all registers in one always block); build/audit/AUDIT.md (1 of ~67 flip-flops, 34 'multiple conflicting drivers'); build/v4/gl_all.log (counter_wb gate-level PASS); output/counter_wb/metrics.json (design__instance__count__class:sequential_cell = 67, synthesis__check_error__count = 0) and resources.json. Detail: RTL testbench passes five checks (initial value, write/read, reset, free-running count, logic-analyzer mirror); gate-level simulation of the synthesized netlist passes (build/v4/gl_all.log). The original assigned its registers in two always blocks, so synthesis kept 1 of about 67 flip-flops (build/audit/AUDIT.md); now all in one block (RTL header), 67 sequential cells in output/counter_wb.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rtl/examples/counter_wb/counter_wb.v header (all registers in one always block); build/audit/AUDIT.md (1 of ~67 flip-flops, 34 'multiple conflicting drivers'); build/v4/gl_all.log (counter_wb gate-level PASS); output/counter_wb/metrics.json (design__instance__count__class:sequential_cell = 67, synthesis__check_error__count = 0) and resources.json.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rtl/examples/uart/uart_wb.v, uart_tx.v, uart_rx.v headers; tests/testbenches/uart_tb.v (compiles only uart_tx.v + uart_rx.v); build/v4/gl_all.log (uart: '32 Wishbone loopback bytes incl. 00/FF', PASS); mk/Q1.mk; output/uart/metrics.json and resources.json. Detail: The committed uart_tb exercises uart_tx and uart_rx only (loopback, CLKS_PER_BIT = 5). The gate-level runs use 34 Wishbone loopback bytes (uart_wb_tb) and pass on the synthesized and the routed netlist (build/v4/gl_all.log, gl_final.log).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rtl/examples/uart/uart_wb.v, uart_tx.v, uart_rx.v headers; tests/testbenches/uart_tb.v (compiles only uart_tx.v + uart_rx.v); build/v4/gl_all.log (uart: '32 Wishbone loopback bytes incl. 00/FF', PASS); mk/Q1.mk; output/uart/metrics.json and resources.json.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rtl/examples/ring_osc/ring_osc_wb.v header (structure, why explicit cells, 'one counted edge = 64 ring cycles'); build/audit/AUDIT.md (ring absent from the netlist); build/v4/gl_all.log (ring_osc: 'committed tb on the real cell ring', PASS); output/ring_osc/metrics.json and resources.json. Detail: The original ring (a combinational loop of not primitives) was folded away by Yosys; the RTL test used a divider instead of the ring (build/audit/AUDIT.md). Now the ring is built from explicit sky130 nand2_1 / inv_1 cells (RTL header) and the gate-level test runs on the real cell ring and passes (build/v4/gl_all.log). Oscillation frequency in silicon remains unmeasured.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rtl/examples/ring_osc/ring_osc_wb.v header (structure, why explicit cells, 'one counted edge = 64 ring cycles'); build/audit/AUDIT.md (ring absent from the netlist); build/v4/gl_all.log (ring_osc: 'committed tb on the real cell ring', PASS); output/ring_osc/metrics.json and resources.json.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rtl/examples/pwm_dac/pwm_dac_wb.v header; tests/testbenches/pwm_dac_tb.v; build/v4/gl_all.log (pwm_dac PASS); output/pwm_dac/metrics.json and resources.json. Detail: Testbench passes: duty 0 always low, duty 255 gives 255/256 high, duty 128 gives exactly 50%, duty register reads back (iverilog). Gate-level simulation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rtl/examples/pwm_dac/pwm_dac_wb.v header; tests/testbenches/pwm_dac_tb.v; build/v4/gl_all.log (pwm_dac PASS); output/pwm_dac/metrics.json and resources.json.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rtl/examples/sigma_delta/sigma_delta_wb.v header; tests/testbenches/sigma_delta_tb.v; build/v4/gl_all.log (sigma_delta PASS); output/sigma_delta/metrics.json and resources.json. Detail: Testbench passes: input 0 gives all zeros, 0xFFFF all ones, 0x8000 about 50%, density register near 128, input register reads back (iverilog). Gate-level simulation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rtl/examples/sigma_delta/sigma_delta_wb.v header; tests/testbenches/sigma_delta_tb.v; build/v4/gl_all.log (sigma_delta PASS); output/sigma_delta/metrics.json and resources.json.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rtl/examples/aes128/aes128_core.v header; tests/testbenches/aes128_tb.v (run: KAT 0/1/2 PASS, random 1000 core + 1000 wb, 'aes128 testbench: PASS (0 errors)'); build/v4/gl_all.log (aes128 PASS); docs/SPEC.md section 3 and 6.2/6.3 (51 cycles; excluding tap cells 7,288); output/baseline_tight.md (original: 32,432 cells, -6.20 ns); output/aes128/metrics.json and resources.json (new build). Detail: Passes FIPS-197 Appendix B and C.1 and the all-zero vector, plus 1,000 random vectors through the core and 1,000 through Wishbone: 0 mismatches (iverilog); gate-level simulation passes (build/v4/gl_all.log). Original build: 32,432 cells, 800 x 800 um, setup -6.20 ns, wrong ciphertext for both NIST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rtl/examples/aes128/aes128_core.v header; tests/testbenches/aes128_tb.v (run: KAT 0/1/2 PASS, random 1000 core + 1000 wb, 'aes128 testbench: PASS (0 errors)'); build/v4/gl_all.log (aes128 PASS); docs/SPEC.md section 3 and 6.2/6.3 (51 cycles; excluding tap cells 7,288); output/baseline_tight.md (original: 32,432 cells, -6.20 ns); output/aes128/metrics.json and resources.json (new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rtl/bnn_mnist/bnn_top.v header; build/sim/full.log ('RTL accuracy: 9010/10000 = 90.10%', 'total checks: 130302, errors: 0'); models/bnn_mnist/weights.json; docs/SPEC.md 7.2, 7.4 and section 3; build/v4/gl_all.log (bnn_mnist PASS, 200 images); output/baseline_tight.md (original 34,707 cells, -6.62 ns); output/bnn_mnist/metrics.json and resources.json (new build). Detail: RTL equals the integer reference on all 10,000 MNIST test images (130,302 checks, 0 errors). Accuracy 90.10% (9,010 / 10,000). 770 cycles per inference; 7,552 ROM bits. Gate-level simulation of 200 images passes. Before: 784 -&gt; 32 -&gt; 10 with random weights, 34,707 cells, 900 x 900 um, setup -6.62 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rtl/bnn_mnist/bnn_top.v header; build/sim/full.log ('RTL accuracy: 9010/10000 = 90.10%', 'total checks: 130302, errors: 0'); models/bnn_mnist/weights.json; docs/SPEC.md 7.2, 7.4 and section 3; build/v4/gl_all.log (bnn_mnist PASS, 200 images); output/baseline_tight.md (original 34,707 cells, -6.62 ns); output/bnn_mnist/metrics.json and resources.json (new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rtl/fcnn/user_proj_example.v, models/fcnn_mnist/golden.py header; models/fcnn_mnist/weights.json (float_test_accuracy 0.9208, hw_test_accuracy 0.9172); tests/testbenches/fcnn_mnist_tb.v (re-run, 1000 images: 0 mismatches, 909/1000, 602 cycles); build/v4/gl_all.log and gl_final.log (fcnn_mnist and user_proj_example: 100 images, PASS); docs/SPEC.md 6.2 (original 102,091 and 56,517 cells); designs/user_proj_example/config.json RT_MAX_LAYER met4; output/fcnn_mnist and output/user_proj_example metrics.json + resources.json. Detail: 1,000 MNIST images through Wishbone: 0 mismatches against the bit-exact reference, 909 / 1,000 correct, 602 cycles each. On 10,000 images the model gives 92.08% in floating point and 91.72% hardware-exact. Gate-level simulation of 100 images passes on the synthesized and routed netlists (build/v4). user_proj_example: same RTL, RT_MAX_LAYER met4; see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rtl/fcnn/user_proj_example.v, models/fcnn_mnist/golden.py header; models/fcnn_mnist/weights.json (float_test_accuracy 0.9208, hw_test_accuracy 0.9172); tests/testbenches/fcnn_mnist_tb.v (re-run, 1000 images: 0 mismatches, 909/1000, 602 cycles); build/v4/gl_all.log and gl_final.log (fcnn_mnist and user_proj_example: 100 images, PASS); docs/SPEC.md 6.2 (original 102,091 and 56,517 cells); designs/user_proj_example/config.json RT_MAX_LAYER met4; output/fcnn_mnist and output/user_proj_example metrics.json + resources.json.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rtl/cnn_lite/cnn_lite_top.v header; build/sim/cnn_lite_full.log ('10000 vectors, 0 errors', 150048 checks); docs/SPEC.md 6.5 (91.37%, 94.43% with 8 filters); build/v4/gl_all.log (cnn_lite PASS, 200 images, latency 1587); output/cnn_lite/metrics.json vs output/cnn_fp16/metrics.json (ratio 531505/7700). Detail: RTL equals the reference on all 10,000 images (150,048 checks, 0 errors); accuracy 91.37% (9,137 / 10,000); 8 filters would reach 94.43% at twice the ROM; 1,587 cycles per inference; gate-level simulation of 200 images passes. cnn_fp16 has 531,505 cells; cnn_lite 7,700 (ratio about 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rtl/cnn_lite/cnn_lite_top.v header; build/sim/cnn_lite_full.log ('10000 vectors, 0 errors', 150048 checks); docs/SPEC.md 6.5 (91.37%, 94.43% with 8 filters); build/v4/gl_all.log (cnn_lite PASS, 200 images, latency 1587); output/cnn_lite/metrics.json vs output/cnn_fp16/metrics.json (ratio 531505/7700).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CLAUDE.md and docs/SPEC.md 3 and 6.2 (108 KB HLS Verilog, cannot be regenerated, ~32 GB); output/cnn_fp16/metrics.json (531,505 cells, 2800 x 1760, setup -5.18, hold -0.49, slew 142,619, cap 2,207, 5,843 setup and 8 hold failing paths); docs/RESULTS.md (peak 23 GB, ~3.5 hours). No layout.png exists for it. Detail: 108 KB of HLS-generated Verilog; the HLS tool is not available so it cannot be regenerated. Hardened on a workstation (about 3.5 hours, 23 GB peak memory), 0 DRC, 0 LVS errors; setup -5.18 ns and hold -0.49 ns at the worst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60–85 min (Tour of the designs); about 1 min on this slide.
Sources: CLAUDE.md and docs/SPEC.md 3 and 6.2 (108 KB HLS Verilog, cannot be regenerated, ~32 GB); output/cnn_fp16/metrics.json (531,505 cells, 2800 x 1760, setup -5.18, hold -0.49, slew 142,619, cap 2,207, 5,843 setup and 8 hold failing paths); docs/RESULTS.md (peak 23 GB, ~3.5 hours). No layout.png exists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85–105 min (Lab block 2); about 0.5 min on this slide.
Block E: 20 minutes. Labs take 12, 32 and 65 s; the clock-period experiment about 55 s per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85–105 min (Lab block 2); about 4 min on this slide.
Sources: docs/LABS.md (worksheet, reference values, commands) and docs/SPEC.md 5.8; commands are defined in mk/L1.mk (lab-setup, lab, lab-check, lab-list, lab-reset, lab-knob, lab-pack, lab-unpack). Reference values are for uart, measured on the Mac VM (arm64, 2 CPUs, 8 GB, profile tight); x86 machines, a real Codespace and Colab are NOT tested (LABS.md expects 1.5 to 2 times longer). Labs run on uart, the flow section shows cnn_lite: reference numbers differ (e.g. lab 4: 32 clock buffers on uart; cnn_lite's clock tree has 127 buffers/loads in stages.json). Predict: how many clock buffers does a tree for about 100 flip-flops need? Why (ask the room): Why does CTS care about hold slack but placement did not? If it fails: Hold or slew failures show as negative slack; the lab still completes.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85–105 min (Lab block 2); about 4 min on this slide.
Sources: docs/LABS.md (worksheet, reference values, commands) and docs/SPEC.md 5.8; commands are defined in mk/L1.mk (lab-setup, lab, lab-check, lab-list, lab-reset, lab-knob, lab-pack, lab-unpack). Reference values are for uart, measured on the Mac VM (arm64, 2 CPUs, 8 GB, profile tight); x86 machines, a real Codespace and Colab are NOT tested (LABS.md expects 1.5 to 2 times longer). Labs run on uart, the flow section shows cnn_lite: reference numbers differ (e.g. lab 4: 32 clock buffers on uart; cnn_lite's clock tree has 127 buffers/loads in stages.json). Predict: routed wire length versus the lab 3 estimate: shorter, equal or longer? Why (ask the room): Why is the final wire longer than the placement estimate? If it fails: The route may be too congested (see knob util); the message names the step. About 30 s: talk while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85–105 min (Lab block 2); about 4 min on this slide.
Sources: docs/LABS.md (worksheet, reference values, commands) and docs/SPEC.md 5.8; commands are defined in mk/L1.mk (lab-setup, lab, lab-check, lab-list, lab-reset, lab-knob, lab-pack, lab-unpack). Reference values are for uart, measured on the Mac VM (arm64, 2 CPUs, 8 GB, profile tight); x86 machines, a real Codespace and Colab are NOT tested (LABS.md expects 1.5 to 2 times longer). Labs run on uart, the flow section shows cnn_lite: reference numbers differ (e.g. lab 4: 32 clock buffers on uart; cnn_lite's clock tree has 127 buffers/loads in stages.json). Predict: which of DRC, LVS, XOR is most likely to fail on a flow-generated design? Why (ask the room): Which corner is worst for setup, and why? If it fails: A DRC or LVS count above 0 is a real finding, not a tooling error; open mine/lab6/runs/lab/final/ reports. About 1 minute: talk while it runs. Reference corners: tt 16.521, ss 13.230, ff 17.667 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85–105 min (Lab block 2); about 4 min on this slide.
Sources: docs/LABS.md (worksheet, reference values, commands) and docs/SPEC.md 5.8; commands are defined in mk/L1.mk (lab-setup, lab, lab-check, lab-list, lab-reset, lab-knob, lab-pack, lab-unpack). Reference values are for uart, measured on the Mac VM (arm64, 2 CPUs, 8 GB, profile tight); x86 machines, a real Codespace and Colab are NOT tested (LABS.md expects 1.5 to 2 times longer). Knob clock on uart: 25 ns: slack +13.194; 10 ns: +1.086; 6 ns: -0.228 ns with 51 failing paths (LABS.md knob table; SPEC 5.8). Each run about 55 s; runs on a copy of the config, designs/*/config.json is not touched. A failing run is a valid result. Ask: what did we ask for that the chip could not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85–105 min (Lab block 2); about 3 min on this slide.
Sources: docs/LABS.md (worksheet, reference values, commands) and docs/SPEC.md 5.8; commands are defined in mk/L1.mk (lab-setup, lab, lab-check, lab-list, lab-reset, lab-knob, lab-pack, lab-unpack). Reference values are for uart, measured on the Mac VM (arm64, 2 CPUs, 8 GB, profile tight); x86 machines, a real Codespace and Colab are NOT tested (LABS.md expects 1.5 to 2 times longer). Knob table in docs/LABS.md: synthesis strategy on uart AREA 0: 674 cells, AREA 3: 968, DELAY 0: 740 (make lab-knob KNOB=synth "VALUE=AREA 3"); placement density 70: routed wirelength 18764 -&gt; 18054 um (-3.8 percent; global-route wirelength went UP 0.9 percent, one design and one change: do not over-claim); utilization on spm_ref: 40 passes, 75 fails in the repair step after global placement (DPL-0036), 92 fails in global placement (GPL-0301). DELAY 1 is refused on purpose (out of memory at 16 GB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105–125 min (What verification caught); about 0.5 min on this slide.
Block F: 20 minutes. Sources: docs/SPEC.md section 3 and build/audit/AUDIT.md (audit of 2026-10-05).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105–125 min (What verification caught); about 3 min on this slide.
Sources: docs/SPEC.md section 3 and 6.2; the commit message of d2e98d2 (git log); output/baseline_tight.md; output/cnn_fp16/metrics.json (setup -5.18, hold -0.49). 'Six small tests' = spm_ref, counter_wb, uart, ring_osc, pwm_dac, sigma_delta (SPEC section 3). Full table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105–125 min (What verification caught); about 3 min on this slide.
Sources: build/audit/AUDIT.md (Verdict: two of eleven cloud designs are hollow; counter_wb kept 1 flip-flop of ~67, ring_osc lost its 31-inverter ring; 'the flow, metrics, CI gate and RTL simulations all report them as clean'); docs/SPEC.md section 3. This is the best teaching story of the project: every check we ran agreed, and every check was blind to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105–125 min (What verification caught); about 3 min on this slide.
Sources: build/audit/AUDIT.md finding 1 (counter, running, overflow assigned in two always blocks; Yosys 'multiple conflicting drivers' x34; 1 FF kept; 32 bits of wbs_dat_o and 128 la_data_out bits tied to constants; hidden by ERROR_ON_SYNTH_CHECKS=false); rtl/examples/counter_wb/counter_wb.v header ('every register ... is assigned in the ONE always block below'); output/counter_wb/metrics.json (design__instance__count__class:sequential_cell = 67, design__instance__count__stdcell = 1,214, was 750 in output/baseline_tight.md; synthesis__check_error__count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105–125 min (What verification caught); about 3 min on this slide.
Sources: build/audit/AUDIT.md finding 2 (the (* keep *) not-primitive ring was dropped; no combinational cycle in the netlist; RTL test replaced the ring with a divider); rtl/examples/ring_osc/ring_osc_wb.v header (Yosys folds pairs of $not cells and deletes the loop; ring now built from explicit sky130_fd_sc_hd__nand2_1 and __inv_1 instances, dont-touch in the config; counted edge = 64 ring cycles); build/v4/gl_all.log (ring_osc gate-level test on the real cell ring PASS); output/ring_osc/metrics.json (new build) vs output/baseline_tight.md (709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105–125 min (What verification caught); about 4 min on this slide.
Sources: mk/Q1.mk header (make gl-&lt;name&gt;: synthesis-only LibreLane run on a copy, then the design's self-checking testbench on the sky130 netlist with the sky130_fd_sc_hd functional models; make check-&lt;name&gt;: scripts/flow/check_signoff.py, DRC/LVS/XOR/antenna/slack/synthesis checks and 'surviving flip-flops &gt;= flip-flops the RTL elaborates to'; gl-all and check-all run every design; names: spm counter uart aes128 ring-osc pwm-dac sigma-delta bnn fcnn user-proj cnn-lite). docs/SPEC.md 6.6 and 3. These commands have been run on the Mac VM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105–125 min (What verification caught); about 3 min on this slide.
Sources: build/v4/gl_all.log (gl-all on the synthesized netlist: 11 of 11 PASS; vectors: spm_ref exhaustive 8x8 plus random, 67,286 multiplications; uart_wb 34 Wishbone loopback bytes; aes128 3 known-answer vectors plus 1,000 core and 1,000 Wishbone vectors; bnn_mnist 200 vectors; cnn_lite 200; fcnn_mnist and user_proj_example 100 images each; counter_wb, ring_osc, pwm_dac, sigma_delta their committed testbenches); build/v4/gl_final.log (same testbenches on the post-route netlist: 11 of 11 rc=0), build/v4/check_all.log (make check-all: registers the RTL describes equal the sequential cells that survive: 16, 67, 101, 686, 77, 25, 74, 517, 668, 668, 617 for the designs in table order spm_ref, counter_wb, uart, aes128, ring_osc, pwm_dac, sigma_delta, bnn_mnist, fcnn_mnist, user_proj_example, cnn_lite; 11 of 11 PASS). Written by an independent verifier. Before the fix: counter_wb kept 1 of about 67 flip-flops and ring_osc lost its ring (66 flip-flops found, ring absent), build/audit/AUDIT.md. Commands: make gl-&lt;name&gt;, make check-&lt;name&gt; (mk/Q1.mk).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125–140 min (Road to silicon); about 0.5 min on this slide.
Block G: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125–140 min (Road to silicon); about 4 min on this slide.
Sources: mk/F3.mk and scripts/flow/lunch.sh (check the environment, install what is missing, simulate, harden reuse-first, check-&lt;name&gt;, gl-&lt;name&gt; NETLIST=final on the routed netlist, collect, pack build/lunch/open-ai-silicon-lunch_&lt;design&gt;.tar.gz); README.md and docs/SETUP.md: bnn_mnist in Docker mode 7 min 48 s end to end on the development Mac, 14 s on a re-run; Docker-free in a fresh ubuntu:22.04 container (2 CPUs, 8 GB, no Docker, arm64): spm_ref 191 s including a 138 s tool install, bnn_mnist 437 s. Uses Docker when a daemon answers, otherwise the Nix-installed tools. Not measured on x86, Colab or a real Codespace.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125–140 min (Road to silicon); about 4 min on this slide.
Sources: owner statement 2026-10-05 and docs/AGENTS_QUICKREF.md / README.md: the repository is PRIVATE; the Colab notebook notebooks/open_ai_silicon_rtl2gds.ipynb exists and its cells ran as a script in a Docker-free Ubuntu container, but it has NOT been run on Colab; nothing has run in a real Codespace (.devcontainer/devcontainer.json exists); GitHub Actions: the test and RTL-simulation jobs have passed twice on GitHub (gh run list: ci success, two runs); the hardening, gate-level and lunch workflows have not run there. docs/WORKSHOP_HOSTING.md for the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125–140 min (Road to silicon); about 2 min on this slide.
Sources: docs/SPEC.md section 8 (8.2 wrapper rules, die 2920 x 3520 um; 8.4 hardening, macro about 400 x 400 um; 8.5 precheck, 14 checks; 8.6 submission) and section 12 (open decision 3). Repository has no chipignite/ directory (checked 2026-10-05). PLANNED, NOT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125–140 min (Road to silicon); about 3 min on this slide.
Sources: docs/SPEC.md section 8 (wrapper, precheck) and 6.1 (target: max-slew and max-cap reported); mk/Q1.mk (gl-&lt;name&gt;, check-&lt;name&gt;); build/v4/gl_all.log, gl_final.log, check_all.log (11 of 11); output/&lt;design&gt;/metrics.json design__max_slew_violation__count &gt; 0 for: spm_ref, counter_wb, uart, ring_osc, sigma_delta, aes128, fcnn_mnist, user_proj_example (plus cnn_fp16, a workstation reference). No chipignite/ directory exists. Nothing fabricated.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125–140 min (Road to silicon); about 2 min on this slide.
Sources: docs/SPEC.md 8.7 'Shuttle facts' (web research of 2026-10-04, marked unverified): CI2612 commitment 2026-11-04, tapeout 2026-12-07, delivery 2027-05-25; $14,950 per project (100 packaged parts or bare die, an evaluation board); $500 non-refundable deposit; a shuttle needs 20 projects; no standing free shuttle found. docs/SPEC.md 12: whether to buy a slot is an open owner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140–150 min (Recap and questions); about 3 min on this slide.
Recap: (1) the flow is a sequence of small stages you can run and look at (blocks B, C, E); (2) open tools plus an open PDK make every step inspectable; (3) clean DRC, LVS and timing do not prove the logic survived: count what survives and simulate the netlist (block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140–150 min (Recap and questions); about 2.5 min on this slide.
Sources: designs/ (12 design directories); output/&lt;design&gt;/resources.json present for 11 designs rebuilt under the tight profile; no chip has been fabricated (docs/SPEC.md section 8, 12). Standard cells = design__instance__count__stdcell, which counts tap cells but not fill (docs/SPEC.md 6.2); excluding tap cells bnn_mnist is 5,828 and aes128 7,288. Full tables in the appendix.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140–150 min (Recap and questions); about 2 min on this slide.
Sources: mk/L1.mk and mk/Q1.mk (commands); docs/LABS.md; repository URL from README.md (private at the moment of writing). Commands shown exist in the repository's make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block 140–150 min (Recap and questions); about 3 min on this slide.
Questions. Sources: README.md (repository URL); git config user.name.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appendix, not presented.
Appendix: detail removed from the main slides; not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appendix, not presented.
Sources: output/&lt;design&gt;/metrics.json (design__instance__count__stdcell, design__die__bbox, timing__setup__ws__corner:* and timing__hold__ws__corner:*: worst over all corners, corner named) and resources.json; same values as scripts/docs_tables.py. Tight profile: 2 CPUs, 8 GB, Apple-silicon VM; cloud x86 will be slower. cnn_fp16 peak/wall: docs/RESULTS.md workstation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appendix, not presented.
Sources: output/&lt;design&gt;/metrics.json keys magic__drc_error__count, klayout__drc_error__count, design__lvs_error__count, antenna__violating__nets, design__xor_difference__count, design__max_slew_violation__count, design__max_cap_violation__count.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appendix, not presented.
Sources: see each design's slide notes; testbench runs of tests/testbenches/*; build/v4/gl_all.log.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appendix, not presented.
Sources: see each design's slide notes; testbench runs of tests/testbenches/*; build/v4/gl_all.log.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appendix, not presented.
Sources: docs/SPEC.md section 3 and 6.2; build/audit/AUDIT.md; output/baseline_tight.md; output/*/metrics.json (per-corner: timing__setup_vio__count__corner:max_ss_100C_1v60 = 32 for the original bnn_mnist, 1,306 for the original aes128).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appendix, not presented.
Sources: output/fcnn_mnist and output/user_proj_example metrics.json and resources.json; designs/user_proj_example/config.json RT_MAX_LAYER met4.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appendix, not presented.
Sources: docs/LABS.md Commands; mk/L1.mk (lab-setup, lab, lab-check, lab-reset, lab-list, lab-knob, lab-pack, lab-unpack); mk/Q1.mk (gl-&lt;name&gt;, gl-all, check-&lt;name&gt;, check-all). Options DESIGN=uart (default), PROFILE=tight, CPUSET, USE_DOCKER=0 (not tested), LABROOT.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appendix, not presented.
Sources: build/results/_flow_stages/cnn_lite/stages.json (stage, step_directory, tool, step_wall_s, description). Pre-final images are drawn from DEF + LEF (cell outlines); the clock-tree image draws clock nets as straight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I_CONTENT">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rgbClr val="5C6573"/>
                </a:solidFill>
                <a:latin typeface="Arial" pitchFamily="34" charset="0"/>
                <a:ea typeface="Arial" pitchFamily="34" charset="-122"/>
                <a:cs typeface="Arial" pitchFamily="34" charset="-120"/>
              </a:rPr>
              <a:t>open-ai-silicon  ·  Prepared for Open Source India</a:t>
            </a:r>
            <a:endParaRPr lang="en-US" sz="1000" dirty="0"/>
          </a:p>
        </p:txBody>
      </p:sp>
      <p:sp>
        <p:nvSpPr>
          <p:cNvPr id="3" name="Text 1"/>
          <p:cNvSpPr/>
          <p:nvPr>
            <p:ph idx="101" type="title" hasCustomPrompt="1"/>
          </p:nvPr>
        </p:nvSpPr>
        <p:spPr>
          <a:xfrm>
            <a:off x="457200" y="274320"/>
            <a:ext cx="8229600" cy="960120"/>
          </a:xfrm>
          <a:prstGeom prst="rect">
            <a:avLst/>
          </a:prstGeom>
          <a:noFill/>
          <a:ln/>
        </p:spPr>
        <p:txBody>
          <a:bodyPr wrap="square" rtlCol="0"/>
          <a:lstStyle>
            <a:lvl1pPr algn="l" indent="0" marL="0">
              <a:buNone/>
              <a:defRPr lang="en-US" sz="2800" b="1" dirty="0">
                <a:solidFill>
                  <a:srgbClr val="12151C"/>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I_DARK">
    <p:bg>
      <p:bgPr>
        <a:solidFill>
          <a:srgbClr val="071A36"/>
        </a:solidFill>
      </p:bgPr>
    </p:bg>
    <p:spTree>
      <p:nvGrpSpPr>
        <p:cNvPr id="1" name=""/>
        <p:cNvGrpSpPr/>
        <p:nvPr/>
      </p:nvGrpSpPr>
      <p:grpSpPr>
        <a:xfrm>
          <a:off x="0" y="0"/>
          <a:ext cx="0" cy="0"/>
          <a:chOff x="0" y="0"/>
          <a:chExt cx="0" cy="0"/>
        </a:xfrm>
      </p:grpSpPr>
      <p:sp>
        <p:nvSpPr>
          <p:cNvPr id="2" name="Text 0"/>
          <p:cNvSpPr/>
          <p:nvPr/>
        </p:nvSpPr>
        <p:spPr>
          <a:xfrm>
            <a:off x="640080" y="4773168"/>
            <a:ext cx="5486400" cy="274320"/>
          </a:xfrm>
          <a:prstGeom prst="rect">
            <a:avLst/>
          </a:prstGeom>
          <a:noFill/>
          <a:ln/>
        </p:spPr>
        <p:txBody>
          <a:bodyPr wrap="square" lIns="0" tIns="0" rIns="0" bIns="0" rtlCol="0" anchor="ctr"/>
          <a:lstStyle/>
          <a:p>
            <a:pPr indent="0" marL="0">
              <a:buNone/>
            </a:pPr>
            <a:r>
              <a:rPr lang="en-US" sz="1000" dirty="0">
                <a:solidFill>
                  <a:srgbClr val="AEB8C8"/>
                </a:solidFill>
                <a:latin typeface="Arial" pitchFamily="34" charset="0"/>
                <a:ea typeface="Arial" pitchFamily="34" charset="-122"/>
                <a:cs typeface="Arial" pitchFamily="34" charset="-120"/>
              </a:rPr>
              <a:t>open-ai-silicon  ·  Prepared for Open Source India</a:t>
            </a:r>
            <a:endParaRPr lang="en-US" sz="1000" dirty="0"/>
          </a:p>
        </p:txBody>
      </p:sp>
      <p:sp>
        <p:nvSpPr>
          <p:cNvPr id="3" name="Text 1"/>
          <p:cNvSpPr/>
          <p:nvPr>
            <p:ph idx="101" type="title" hasCustomPrompt="1"/>
          </p:nvPr>
        </p:nvSpPr>
        <p:spPr>
          <a:xfrm>
            <a:off x="640080" y="914400"/>
            <a:ext cx="7680960" cy="1188720"/>
          </a:xfrm>
          <a:prstGeom prst="rect">
            <a:avLst/>
          </a:prstGeom>
          <a:noFill/>
          <a:ln/>
        </p:spPr>
        <p:txBody>
          <a:bodyPr wrap="square" rtlCol="0"/>
          <a:lstStyle>
            <a:lvl1pPr algn="l" indent="0" marL="0">
              <a:buNone/>
              <a:defRPr lang="en-US" sz="3600" b="1" dirty="0">
                <a:solidFill>
                  <a:srgbClr val="FFFFF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ill PREPARED FOR OPEN SOURCE INDIA"/>
          <p:cNvSpPr/>
          <p:nvPr/>
        </p:nvSpPr>
        <p:spPr>
          <a:xfrm>
            <a:off x="640080" y="548640"/>
            <a:ext cx="3291840" cy="292608"/>
          </a:xfrm>
          <a:prstGeom prst="roundRect">
            <a:avLst>
              <a:gd name="adj" fmla="val 50000"/>
            </a:avLst>
          </a:prstGeom>
          <a:solidFill>
            <a:srgbClr val="FF4D2E"/>
          </a:solidFill>
          <a:ln w="6350">
            <a:solidFill>
              <a:srgbClr val="FF4D2E"/>
            </a:solidFill>
            <a:prstDash val="solid"/>
          </a:ln>
        </p:spPr>
      </p:sp>
      <p:sp>
        <p:nvSpPr>
          <p:cNvPr id="3" name="Text 1"/>
          <p:cNvSpPr txBox="1"/>
          <p:nvPr/>
        </p:nvSpPr>
        <p:spPr>
          <a:xfrm>
            <a:off x="640080" y="548640"/>
            <a:ext cx="32918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PREPARED FOR OPEN SOURCE INDIA</a:t>
            </a:r>
            <a:endParaRPr lang="en-US" sz="1200" dirty="0"/>
          </a:p>
        </p:txBody>
      </p:sp>
      <p:sp>
        <p:nvSpPr>
          <p:cNvPr id="4" name="Text 1"/>
          <p:cNvSpPr/>
          <p:nvPr>
            <p:ph idx="101" type="title" hasCustomPrompt="1"/>
          </p:nvPr>
        </p:nvSpPr>
        <p:spPr>
          <a:xfrm>
            <a:off x="640080" y="914400"/>
            <a:ext cx="768096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Open-source chips, from RTL to GDSII: a hands-on workshop</a:t>
            </a:r>
            <a:endParaRPr lang="en-US" sz="3600" dirty="0"/>
          </a:p>
        </p:txBody>
      </p:sp>
      <p:sp>
        <p:nvSpPr>
          <p:cNvPr id="5" name="Text 3"/>
          <p:cNvSpPr txBox="1"/>
          <p:nvPr/>
        </p:nvSpPr>
        <p:spPr>
          <a:xfrm>
            <a:off x="640080" y="2743200"/>
            <a:ext cx="7315200" cy="731520"/>
          </a:xfrm>
          <a:prstGeom prst="rect">
            <a:avLst/>
          </a:prstGeom>
          <a:noFill/>
          <a:ln/>
        </p:spPr>
        <p:txBody>
          <a:bodyPr wrap="square" lIns="0" tIns="0" rIns="0" bIns="0" rtlCol="0" anchor="t"/>
          <a:lstStyle/>
          <a:p>
            <a:pPr indent="0" marL="0">
              <a:buNone/>
            </a:pPr>
            <a:r>
              <a:rPr lang="en-US" sz="1800" dirty="0">
                <a:solidFill>
                  <a:srgbClr val="D6DCE6"/>
                </a:solidFill>
                <a:latin typeface="Arial" pitchFamily="34" charset="0"/>
                <a:ea typeface="Arial" pitchFamily="34" charset="-122"/>
                <a:cs typeface="Arial" pitchFamily="34" charset="-120"/>
              </a:rPr>
              <a:t>150 minutes: watch one chip take shape, run the flow yourself, and learn what verification caught</a:t>
            </a:r>
            <a:endParaRPr lang="en-US" sz="1800" dirty="0"/>
          </a:p>
        </p:txBody>
      </p:sp>
      <p:sp>
        <p:nvSpPr>
          <p:cNvPr id="6" name="Text 4"/>
          <p:cNvSpPr txBox="1"/>
          <p:nvPr/>
        </p:nvSpPr>
        <p:spPr>
          <a:xfrm>
            <a:off x="640080" y="3657600"/>
            <a:ext cx="4572000" cy="32004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Raja Gopal</a:t>
            </a:r>
            <a:endParaRPr lang="en-US" sz="2000" dirty="0"/>
          </a:p>
        </p:txBody>
      </p:sp>
      <p:sp>
        <p:nvSpPr>
          <p:cNvPr id="7" name="Text 5"/>
          <p:cNvSpPr txBox="1"/>
          <p:nvPr/>
        </p:nvSpPr>
        <p:spPr>
          <a:xfrm>
            <a:off x="640080" y="4023360"/>
            <a:ext cx="5486400" cy="274320"/>
          </a:xfrm>
          <a:prstGeom prst="rect">
            <a:avLst/>
          </a:prstGeom>
          <a:noFill/>
          <a:ln/>
        </p:spPr>
        <p:txBody>
          <a:bodyPr wrap="square" lIns="0" tIns="0" rIns="0" bIns="0" rtlCol="0" anchor="t"/>
          <a:lstStyle/>
          <a:p>
            <a:pPr indent="0" marL="0">
              <a:buNone/>
            </a:pPr>
            <a:r>
              <a:rPr lang="en-US" sz="1600" dirty="0">
                <a:solidFill>
                  <a:srgbClr val="7FD6C6"/>
                </a:solidFill>
                <a:latin typeface="Arial" pitchFamily="34" charset="0"/>
                <a:ea typeface="Arial" pitchFamily="34" charset="-122"/>
                <a:cs typeface="Arial" pitchFamily="34" charset="-120"/>
              </a:rPr>
              <a:t>github.com/rajaghv-dev/open-ai-silicon</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Today in 150 minutes: eight blocks</a:t>
            </a:r>
            <a:endParaRPr lang="en-US" sz="2800" dirty="0"/>
          </a:p>
        </p:txBody>
      </p:sp>
      <p:sp>
        <p:nvSpPr>
          <p:cNvPr id="3" name="pill 0–10"/>
          <p:cNvSpPr/>
          <p:nvPr/>
        </p:nvSpPr>
        <p:spPr>
          <a:xfrm>
            <a:off x="457200" y="1261872"/>
            <a:ext cx="1188720" cy="329184"/>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261872"/>
            <a:ext cx="1188720" cy="329184"/>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0–10</a:t>
            </a:r>
            <a:endParaRPr lang="en-US" sz="1200" dirty="0"/>
          </a:p>
        </p:txBody>
      </p:sp>
      <p:sp>
        <p:nvSpPr>
          <p:cNvPr id="5" name="Text 3"/>
          <p:cNvSpPr txBox="1"/>
          <p:nvPr/>
        </p:nvSpPr>
        <p:spPr>
          <a:xfrm>
            <a:off x="1828800" y="1234440"/>
            <a:ext cx="6766560" cy="384048"/>
          </a:xfrm>
          <a:prstGeom prst="rect">
            <a:avLst/>
          </a:prstGeom>
          <a:noFill/>
          <a:ln/>
        </p:spPr>
        <p:txBody>
          <a:bodyPr wrap="square" lIns="0" tIns="0" rIns="0" bIns="0" rtlCol="0" anchor="ctr"/>
          <a:lstStyle/>
          <a:p>
            <a:pPr indent="0" marL="0">
              <a:buNone/>
            </a:pPr>
            <a:r>
              <a:rPr lang="en-US" sz="2000" dirty="0">
                <a:solidFill>
                  <a:srgbClr val="12151C"/>
                </a:solidFill>
                <a:latin typeface="Arial" pitchFamily="34" charset="0"/>
                <a:ea typeface="Arial" pitchFamily="34" charset="-122"/>
                <a:cs typeface="Arial" pitchFamily="34" charset="-120"/>
              </a:rPr>
              <a:t>Why open-source silicon</a:t>
            </a:r>
            <a:endParaRPr lang="en-US" sz="2000" dirty="0"/>
          </a:p>
        </p:txBody>
      </p:sp>
      <p:sp>
        <p:nvSpPr>
          <p:cNvPr id="6" name="pill 10–40"/>
          <p:cNvSpPr/>
          <p:nvPr/>
        </p:nvSpPr>
        <p:spPr>
          <a:xfrm>
            <a:off x="457200" y="1691640"/>
            <a:ext cx="1188720" cy="329184"/>
          </a:xfrm>
          <a:prstGeom prst="roundRect">
            <a:avLst>
              <a:gd name="adj" fmla="val 50000"/>
            </a:avLst>
          </a:prstGeom>
          <a:solidFill>
            <a:srgbClr val="E6E9ED"/>
          </a:solidFill>
          <a:ln w="6350">
            <a:solidFill>
              <a:srgbClr val="E6E9ED"/>
            </a:solidFill>
            <a:prstDash val="solid"/>
          </a:ln>
        </p:spPr>
      </p:sp>
      <p:sp>
        <p:nvSpPr>
          <p:cNvPr id="7" name="Text 5"/>
          <p:cNvSpPr txBox="1"/>
          <p:nvPr/>
        </p:nvSpPr>
        <p:spPr>
          <a:xfrm>
            <a:off x="457200" y="1691640"/>
            <a:ext cx="1188720" cy="329184"/>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10–40</a:t>
            </a:r>
            <a:endParaRPr lang="en-US" sz="1200" dirty="0"/>
          </a:p>
        </p:txBody>
      </p:sp>
      <p:sp>
        <p:nvSpPr>
          <p:cNvPr id="8" name="Text 6"/>
          <p:cNvSpPr txBox="1"/>
          <p:nvPr/>
        </p:nvSpPr>
        <p:spPr>
          <a:xfrm>
            <a:off x="1828800" y="1664208"/>
            <a:ext cx="6766560" cy="384048"/>
          </a:xfrm>
          <a:prstGeom prst="rect">
            <a:avLst/>
          </a:prstGeom>
          <a:noFill/>
          <a:ln/>
        </p:spPr>
        <p:txBody>
          <a:bodyPr wrap="square" lIns="0" tIns="0" rIns="0" bIns="0" rtlCol="0" anchor="ctr"/>
          <a:lstStyle/>
          <a:p>
            <a:pPr indent="0" marL="0">
              <a:buNone/>
            </a:pPr>
            <a:r>
              <a:rPr lang="en-US" sz="2000" dirty="0">
                <a:solidFill>
                  <a:srgbClr val="12151C"/>
                </a:solidFill>
                <a:latin typeface="Arial" pitchFamily="34" charset="0"/>
                <a:ea typeface="Arial" pitchFamily="34" charset="-122"/>
                <a:cs typeface="Arial" pitchFamily="34" charset="-120"/>
              </a:rPr>
              <a:t>The open-source EDA flow</a:t>
            </a:r>
            <a:endParaRPr lang="en-US" sz="2000" dirty="0"/>
          </a:p>
        </p:txBody>
      </p:sp>
      <p:sp>
        <p:nvSpPr>
          <p:cNvPr id="9" name="pill 40–60"/>
          <p:cNvSpPr/>
          <p:nvPr/>
        </p:nvSpPr>
        <p:spPr>
          <a:xfrm>
            <a:off x="457200" y="2121408"/>
            <a:ext cx="1188720" cy="329184"/>
          </a:xfrm>
          <a:prstGeom prst="roundRect">
            <a:avLst>
              <a:gd name="adj" fmla="val 50000"/>
            </a:avLst>
          </a:prstGeom>
          <a:solidFill>
            <a:srgbClr val="E1F0ED"/>
          </a:solidFill>
          <a:ln w="6350">
            <a:solidFill>
              <a:srgbClr val="E1F0ED"/>
            </a:solidFill>
            <a:prstDash val="solid"/>
          </a:ln>
        </p:spPr>
      </p:sp>
      <p:sp>
        <p:nvSpPr>
          <p:cNvPr id="10" name="Text 8"/>
          <p:cNvSpPr txBox="1"/>
          <p:nvPr/>
        </p:nvSpPr>
        <p:spPr>
          <a:xfrm>
            <a:off x="457200" y="2121408"/>
            <a:ext cx="1188720" cy="329184"/>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40–60</a:t>
            </a:r>
            <a:endParaRPr lang="en-US" sz="1200" dirty="0"/>
          </a:p>
        </p:txBody>
      </p:sp>
      <p:sp>
        <p:nvSpPr>
          <p:cNvPr id="11" name="Text 9"/>
          <p:cNvSpPr txBox="1"/>
          <p:nvPr/>
        </p:nvSpPr>
        <p:spPr>
          <a:xfrm>
            <a:off x="1828800" y="2093976"/>
            <a:ext cx="6766560" cy="384048"/>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Lab block 1</a:t>
            </a:r>
            <a:endParaRPr lang="en-US" sz="2000" dirty="0"/>
          </a:p>
        </p:txBody>
      </p:sp>
      <p:sp>
        <p:nvSpPr>
          <p:cNvPr id="12" name="pill LAB"/>
          <p:cNvSpPr/>
          <p:nvPr/>
        </p:nvSpPr>
        <p:spPr>
          <a:xfrm>
            <a:off x="7772400" y="2121408"/>
            <a:ext cx="822960" cy="329184"/>
          </a:xfrm>
          <a:prstGeom prst="roundRect">
            <a:avLst>
              <a:gd name="adj" fmla="val 50000"/>
            </a:avLst>
          </a:prstGeom>
          <a:solidFill>
            <a:srgbClr val="FF4D2E"/>
          </a:solidFill>
          <a:ln w="6350">
            <a:solidFill>
              <a:srgbClr val="FF4D2E"/>
            </a:solidFill>
            <a:prstDash val="solid"/>
          </a:ln>
        </p:spPr>
      </p:sp>
      <p:sp>
        <p:nvSpPr>
          <p:cNvPr id="13" name="Text 11"/>
          <p:cNvSpPr txBox="1"/>
          <p:nvPr/>
        </p:nvSpPr>
        <p:spPr>
          <a:xfrm>
            <a:off x="7772400" y="2121408"/>
            <a:ext cx="8229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LAB</a:t>
            </a:r>
            <a:endParaRPr lang="en-US" sz="1200" dirty="0"/>
          </a:p>
        </p:txBody>
      </p:sp>
      <p:sp>
        <p:nvSpPr>
          <p:cNvPr id="14" name="pill 60–85"/>
          <p:cNvSpPr/>
          <p:nvPr/>
        </p:nvSpPr>
        <p:spPr>
          <a:xfrm>
            <a:off x="457200" y="2551176"/>
            <a:ext cx="1188720" cy="329184"/>
          </a:xfrm>
          <a:prstGeom prst="roundRect">
            <a:avLst>
              <a:gd name="adj" fmla="val 50000"/>
            </a:avLst>
          </a:prstGeom>
          <a:solidFill>
            <a:srgbClr val="E6E9ED"/>
          </a:solidFill>
          <a:ln w="6350">
            <a:solidFill>
              <a:srgbClr val="E6E9ED"/>
            </a:solidFill>
            <a:prstDash val="solid"/>
          </a:ln>
        </p:spPr>
      </p:sp>
      <p:sp>
        <p:nvSpPr>
          <p:cNvPr id="15" name="Text 13"/>
          <p:cNvSpPr txBox="1"/>
          <p:nvPr/>
        </p:nvSpPr>
        <p:spPr>
          <a:xfrm>
            <a:off x="457200" y="2551176"/>
            <a:ext cx="1188720" cy="329184"/>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60–85</a:t>
            </a:r>
            <a:endParaRPr lang="en-US" sz="1200" dirty="0"/>
          </a:p>
        </p:txBody>
      </p:sp>
      <p:sp>
        <p:nvSpPr>
          <p:cNvPr id="16" name="Text 14"/>
          <p:cNvSpPr txBox="1"/>
          <p:nvPr/>
        </p:nvSpPr>
        <p:spPr>
          <a:xfrm>
            <a:off x="1828800" y="2523744"/>
            <a:ext cx="6766560" cy="384048"/>
          </a:xfrm>
          <a:prstGeom prst="rect">
            <a:avLst/>
          </a:prstGeom>
          <a:noFill/>
          <a:ln/>
        </p:spPr>
        <p:txBody>
          <a:bodyPr wrap="square" lIns="0" tIns="0" rIns="0" bIns="0" rtlCol="0" anchor="ctr"/>
          <a:lstStyle/>
          <a:p>
            <a:pPr indent="0" marL="0">
              <a:buNone/>
            </a:pPr>
            <a:r>
              <a:rPr lang="en-US" sz="2000" dirty="0">
                <a:solidFill>
                  <a:srgbClr val="12151C"/>
                </a:solidFill>
                <a:latin typeface="Arial" pitchFamily="34" charset="0"/>
                <a:ea typeface="Arial" pitchFamily="34" charset="-122"/>
                <a:cs typeface="Arial" pitchFamily="34" charset="-120"/>
              </a:rPr>
              <a:t>Tour of the designs</a:t>
            </a:r>
            <a:endParaRPr lang="en-US" sz="2000" dirty="0"/>
          </a:p>
        </p:txBody>
      </p:sp>
      <p:sp>
        <p:nvSpPr>
          <p:cNvPr id="17" name="pill 85–105"/>
          <p:cNvSpPr/>
          <p:nvPr/>
        </p:nvSpPr>
        <p:spPr>
          <a:xfrm>
            <a:off x="457200" y="2980944"/>
            <a:ext cx="1188720" cy="329184"/>
          </a:xfrm>
          <a:prstGeom prst="roundRect">
            <a:avLst>
              <a:gd name="adj" fmla="val 50000"/>
            </a:avLst>
          </a:prstGeom>
          <a:solidFill>
            <a:srgbClr val="E1F0ED"/>
          </a:solidFill>
          <a:ln w="6350">
            <a:solidFill>
              <a:srgbClr val="E1F0ED"/>
            </a:solidFill>
            <a:prstDash val="solid"/>
          </a:ln>
        </p:spPr>
      </p:sp>
      <p:sp>
        <p:nvSpPr>
          <p:cNvPr id="18" name="Text 16"/>
          <p:cNvSpPr txBox="1"/>
          <p:nvPr/>
        </p:nvSpPr>
        <p:spPr>
          <a:xfrm>
            <a:off x="457200" y="2980944"/>
            <a:ext cx="1188720" cy="329184"/>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85–105</a:t>
            </a:r>
            <a:endParaRPr lang="en-US" sz="1200" dirty="0"/>
          </a:p>
        </p:txBody>
      </p:sp>
      <p:sp>
        <p:nvSpPr>
          <p:cNvPr id="19" name="Text 17"/>
          <p:cNvSpPr txBox="1"/>
          <p:nvPr/>
        </p:nvSpPr>
        <p:spPr>
          <a:xfrm>
            <a:off x="1828800" y="2953512"/>
            <a:ext cx="6766560" cy="384048"/>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Lab block 2</a:t>
            </a:r>
            <a:endParaRPr lang="en-US" sz="2000" dirty="0"/>
          </a:p>
        </p:txBody>
      </p:sp>
      <p:sp>
        <p:nvSpPr>
          <p:cNvPr id="20" name="pill LAB"/>
          <p:cNvSpPr/>
          <p:nvPr/>
        </p:nvSpPr>
        <p:spPr>
          <a:xfrm>
            <a:off x="7772400" y="2980944"/>
            <a:ext cx="822960" cy="329184"/>
          </a:xfrm>
          <a:prstGeom prst="roundRect">
            <a:avLst>
              <a:gd name="adj" fmla="val 50000"/>
            </a:avLst>
          </a:prstGeom>
          <a:solidFill>
            <a:srgbClr val="FF4D2E"/>
          </a:solidFill>
          <a:ln w="6350">
            <a:solidFill>
              <a:srgbClr val="FF4D2E"/>
            </a:solidFill>
            <a:prstDash val="solid"/>
          </a:ln>
        </p:spPr>
      </p:sp>
      <p:sp>
        <p:nvSpPr>
          <p:cNvPr id="21" name="Text 19"/>
          <p:cNvSpPr txBox="1"/>
          <p:nvPr/>
        </p:nvSpPr>
        <p:spPr>
          <a:xfrm>
            <a:off x="7772400" y="2980944"/>
            <a:ext cx="8229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LAB</a:t>
            </a:r>
            <a:endParaRPr lang="en-US" sz="1200" dirty="0"/>
          </a:p>
        </p:txBody>
      </p:sp>
      <p:sp>
        <p:nvSpPr>
          <p:cNvPr id="22" name="pill 105–125"/>
          <p:cNvSpPr/>
          <p:nvPr/>
        </p:nvSpPr>
        <p:spPr>
          <a:xfrm>
            <a:off x="457200" y="3410712"/>
            <a:ext cx="1188720" cy="329184"/>
          </a:xfrm>
          <a:prstGeom prst="roundRect">
            <a:avLst>
              <a:gd name="adj" fmla="val 50000"/>
            </a:avLst>
          </a:prstGeom>
          <a:solidFill>
            <a:srgbClr val="E6E9ED"/>
          </a:solidFill>
          <a:ln w="6350">
            <a:solidFill>
              <a:srgbClr val="E6E9ED"/>
            </a:solidFill>
            <a:prstDash val="solid"/>
          </a:ln>
        </p:spPr>
      </p:sp>
      <p:sp>
        <p:nvSpPr>
          <p:cNvPr id="23" name="Text 21"/>
          <p:cNvSpPr txBox="1"/>
          <p:nvPr/>
        </p:nvSpPr>
        <p:spPr>
          <a:xfrm>
            <a:off x="457200" y="3410712"/>
            <a:ext cx="1188720" cy="329184"/>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105–125</a:t>
            </a:r>
            <a:endParaRPr lang="en-US" sz="1200" dirty="0"/>
          </a:p>
        </p:txBody>
      </p:sp>
      <p:sp>
        <p:nvSpPr>
          <p:cNvPr id="24" name="Text 22"/>
          <p:cNvSpPr txBox="1"/>
          <p:nvPr/>
        </p:nvSpPr>
        <p:spPr>
          <a:xfrm>
            <a:off x="1828800" y="3383280"/>
            <a:ext cx="6766560" cy="384048"/>
          </a:xfrm>
          <a:prstGeom prst="rect">
            <a:avLst/>
          </a:prstGeom>
          <a:noFill/>
          <a:ln/>
        </p:spPr>
        <p:txBody>
          <a:bodyPr wrap="square" lIns="0" tIns="0" rIns="0" bIns="0" rtlCol="0" anchor="ctr"/>
          <a:lstStyle/>
          <a:p>
            <a:pPr indent="0" marL="0">
              <a:buNone/>
            </a:pPr>
            <a:r>
              <a:rPr lang="en-US" sz="2000" dirty="0">
                <a:solidFill>
                  <a:srgbClr val="12151C"/>
                </a:solidFill>
                <a:latin typeface="Arial" pitchFamily="34" charset="0"/>
                <a:ea typeface="Arial" pitchFamily="34" charset="-122"/>
                <a:cs typeface="Arial" pitchFamily="34" charset="-120"/>
              </a:rPr>
              <a:t>What verification caught</a:t>
            </a:r>
            <a:endParaRPr lang="en-US" sz="2000" dirty="0"/>
          </a:p>
        </p:txBody>
      </p:sp>
      <p:sp>
        <p:nvSpPr>
          <p:cNvPr id="25" name="pill 125–140"/>
          <p:cNvSpPr/>
          <p:nvPr/>
        </p:nvSpPr>
        <p:spPr>
          <a:xfrm>
            <a:off x="457200" y="3840480"/>
            <a:ext cx="1188720" cy="329184"/>
          </a:xfrm>
          <a:prstGeom prst="roundRect">
            <a:avLst>
              <a:gd name="adj" fmla="val 50000"/>
            </a:avLst>
          </a:prstGeom>
          <a:solidFill>
            <a:srgbClr val="E1F0ED"/>
          </a:solidFill>
          <a:ln w="6350">
            <a:solidFill>
              <a:srgbClr val="E1F0ED"/>
            </a:solidFill>
            <a:prstDash val="solid"/>
          </a:ln>
        </p:spPr>
      </p:sp>
      <p:sp>
        <p:nvSpPr>
          <p:cNvPr id="26" name="Text 24"/>
          <p:cNvSpPr txBox="1"/>
          <p:nvPr/>
        </p:nvSpPr>
        <p:spPr>
          <a:xfrm>
            <a:off x="457200" y="3840480"/>
            <a:ext cx="1188720" cy="329184"/>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125–140</a:t>
            </a:r>
            <a:endParaRPr lang="en-US" sz="1200" dirty="0"/>
          </a:p>
        </p:txBody>
      </p:sp>
      <p:sp>
        <p:nvSpPr>
          <p:cNvPr id="27" name="Text 25"/>
          <p:cNvSpPr txBox="1"/>
          <p:nvPr/>
        </p:nvSpPr>
        <p:spPr>
          <a:xfrm>
            <a:off x="1828800" y="3813048"/>
            <a:ext cx="6766560" cy="384048"/>
          </a:xfrm>
          <a:prstGeom prst="rect">
            <a:avLst/>
          </a:prstGeom>
          <a:noFill/>
          <a:ln/>
        </p:spPr>
        <p:txBody>
          <a:bodyPr wrap="square" lIns="0" tIns="0" rIns="0" bIns="0" rtlCol="0" anchor="ctr"/>
          <a:lstStyle/>
          <a:p>
            <a:pPr indent="0" marL="0">
              <a:buNone/>
            </a:pPr>
            <a:r>
              <a:rPr lang="en-US" sz="2000" dirty="0">
                <a:solidFill>
                  <a:srgbClr val="12151C"/>
                </a:solidFill>
                <a:latin typeface="Arial" pitchFamily="34" charset="0"/>
                <a:ea typeface="Arial" pitchFamily="34" charset="-122"/>
                <a:cs typeface="Arial" pitchFamily="34" charset="-120"/>
              </a:rPr>
              <a:t>Road to silicon</a:t>
            </a:r>
            <a:endParaRPr lang="en-US" sz="2000" dirty="0"/>
          </a:p>
        </p:txBody>
      </p:sp>
      <p:sp>
        <p:nvSpPr>
          <p:cNvPr id="28" name="pill 140–150"/>
          <p:cNvSpPr/>
          <p:nvPr/>
        </p:nvSpPr>
        <p:spPr>
          <a:xfrm>
            <a:off x="457200" y="4270248"/>
            <a:ext cx="1188720" cy="329184"/>
          </a:xfrm>
          <a:prstGeom prst="roundRect">
            <a:avLst>
              <a:gd name="adj" fmla="val 50000"/>
            </a:avLst>
          </a:prstGeom>
          <a:solidFill>
            <a:srgbClr val="E6E9ED"/>
          </a:solidFill>
          <a:ln w="6350">
            <a:solidFill>
              <a:srgbClr val="E6E9ED"/>
            </a:solidFill>
            <a:prstDash val="solid"/>
          </a:ln>
        </p:spPr>
      </p:sp>
      <p:sp>
        <p:nvSpPr>
          <p:cNvPr id="29" name="Text 27"/>
          <p:cNvSpPr txBox="1"/>
          <p:nvPr/>
        </p:nvSpPr>
        <p:spPr>
          <a:xfrm>
            <a:off x="457200" y="4270248"/>
            <a:ext cx="1188720" cy="329184"/>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140–150</a:t>
            </a:r>
            <a:endParaRPr lang="en-US" sz="1200" dirty="0"/>
          </a:p>
        </p:txBody>
      </p:sp>
      <p:sp>
        <p:nvSpPr>
          <p:cNvPr id="30" name="Text 28"/>
          <p:cNvSpPr txBox="1"/>
          <p:nvPr/>
        </p:nvSpPr>
        <p:spPr>
          <a:xfrm>
            <a:off x="1828800" y="4242816"/>
            <a:ext cx="6766560" cy="384048"/>
          </a:xfrm>
          <a:prstGeom prst="rect">
            <a:avLst/>
          </a:prstGeom>
          <a:noFill/>
          <a:ln/>
        </p:spPr>
        <p:txBody>
          <a:bodyPr wrap="square" lIns="0" tIns="0" rIns="0" bIns="0" rtlCol="0" anchor="ctr"/>
          <a:lstStyle/>
          <a:p>
            <a:pPr indent="0" marL="0">
              <a:buNone/>
            </a:pPr>
            <a:r>
              <a:rPr lang="en-US" sz="2000" dirty="0">
                <a:solidFill>
                  <a:srgbClr val="12151C"/>
                </a:solidFill>
                <a:latin typeface="Arial" pitchFamily="34" charset="0"/>
                <a:ea typeface="Arial" pitchFamily="34" charset="-122"/>
                <a:cs typeface="Arial" pitchFamily="34" charset="-120"/>
              </a:rPr>
              <a:t>Recap and questions</a:t>
            </a:r>
            <a:endParaRPr lang="en-US" sz="20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Open silicon lets anyone follow a chip from text to layout</a:t>
            </a:r>
            <a:endParaRPr lang="en-US" sz="2800" dirty="0"/>
          </a:p>
        </p:txBody>
      </p:sp>
      <p:sp>
        <p:nvSpPr>
          <p:cNvPr id="3" name="card"/>
          <p:cNvSpPr/>
          <p:nvPr/>
        </p:nvSpPr>
        <p:spPr>
          <a:xfrm>
            <a:off x="457200" y="1463040"/>
            <a:ext cx="2651760" cy="2286000"/>
          </a:xfrm>
          <a:prstGeom prst="roundRect">
            <a:avLst>
              <a:gd name="adj" fmla="val 3200"/>
            </a:avLst>
          </a:prstGeom>
          <a:solidFill>
            <a:srgbClr val="FFFFFF"/>
          </a:solidFill>
          <a:ln w="9525">
            <a:solidFill>
              <a:srgbClr val="D5D9DC"/>
            </a:solidFill>
            <a:prstDash val="solid"/>
          </a:ln>
        </p:spPr>
      </p:sp>
      <p:sp>
        <p:nvSpPr>
          <p:cNvPr id="4" name="Shape 2"/>
          <p:cNvSpPr/>
          <p:nvPr/>
        </p:nvSpPr>
        <p:spPr>
          <a:xfrm>
            <a:off x="685800" y="1691640"/>
            <a:ext cx="457200" cy="457200"/>
          </a:xfrm>
          <a:prstGeom prst="ellipse">
            <a:avLst/>
          </a:prstGeom>
          <a:solidFill>
            <a:srgbClr val="E1F0ED"/>
          </a:solidFill>
          <a:ln w="12700">
            <a:solidFill>
              <a:srgbClr val="E1F0ED"/>
            </a:solidFill>
            <a:prstDash val="solid"/>
          </a:ln>
        </p:spPr>
      </p:sp>
      <p:sp>
        <p:nvSpPr>
          <p:cNvPr id="5" name="Text 3"/>
          <p:cNvSpPr txBox="1"/>
          <p:nvPr/>
        </p:nvSpPr>
        <p:spPr>
          <a:xfrm>
            <a:off x="685800" y="1691640"/>
            <a:ext cx="457200" cy="457200"/>
          </a:xfrm>
          <a:prstGeom prst="rect">
            <a:avLst/>
          </a:prstGeom>
          <a:noFill/>
          <a:ln/>
        </p:spPr>
        <p:txBody>
          <a:bodyPr wrap="square" lIns="0" tIns="0" rIns="0" bIns="0" rtlCol="0" anchor="ctr"/>
          <a:lstStyle/>
          <a:p>
            <a:pPr algn="ctr" indent="0" marL="0">
              <a:buNone/>
            </a:pPr>
            <a:r>
              <a:rPr lang="en-US" sz="2000" b="1" dirty="0">
                <a:solidFill>
                  <a:srgbClr val="008F7A"/>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685800" y="2286000"/>
            <a:ext cx="2286000" cy="365760"/>
          </a:xfrm>
          <a:prstGeom prst="rect">
            <a:avLst/>
          </a:prstGeom>
          <a:noFill/>
          <a:ln/>
        </p:spPr>
        <p:txBody>
          <a:bodyPr wrap="square" lIns="0" tIns="0" rIns="0" bIns="0" rtlCol="0" anchor="t"/>
          <a:lstStyle/>
          <a:p>
            <a:pPr indent="0" marL="0">
              <a:buNone/>
            </a:pPr>
            <a:r>
              <a:rPr lang="en-US" sz="2000" b="1" dirty="0">
                <a:solidFill>
                  <a:srgbClr val="12151C"/>
                </a:solidFill>
                <a:latin typeface="Arial" pitchFamily="34" charset="0"/>
                <a:ea typeface="Arial" pitchFamily="34" charset="-122"/>
                <a:cs typeface="Arial" pitchFamily="34" charset="-120"/>
              </a:rPr>
              <a:t>Open tools</a:t>
            </a:r>
            <a:endParaRPr lang="en-US" sz="2000" dirty="0"/>
          </a:p>
        </p:txBody>
      </p:sp>
      <p:sp>
        <p:nvSpPr>
          <p:cNvPr id="7" name="Text 5"/>
          <p:cNvSpPr txBox="1"/>
          <p:nvPr/>
        </p:nvSpPr>
        <p:spPr>
          <a:xfrm>
            <a:off x="685800" y="2697480"/>
            <a:ext cx="2240280" cy="91440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Yosys, OpenROAD, Magic, KLayout, Netgen</a:t>
            </a:r>
            <a:endParaRPr lang="en-US" sz="1800" dirty="0"/>
          </a:p>
        </p:txBody>
      </p:sp>
      <p:sp>
        <p:nvSpPr>
          <p:cNvPr id="8" name="card"/>
          <p:cNvSpPr/>
          <p:nvPr/>
        </p:nvSpPr>
        <p:spPr>
          <a:xfrm>
            <a:off x="3246120" y="1463040"/>
            <a:ext cx="2651760" cy="2286000"/>
          </a:xfrm>
          <a:prstGeom prst="roundRect">
            <a:avLst>
              <a:gd name="adj" fmla="val 3200"/>
            </a:avLst>
          </a:prstGeom>
          <a:solidFill>
            <a:srgbClr val="FFFFFF"/>
          </a:solidFill>
          <a:ln w="9525">
            <a:solidFill>
              <a:srgbClr val="D5D9DC"/>
            </a:solidFill>
            <a:prstDash val="solid"/>
          </a:ln>
        </p:spPr>
      </p:sp>
      <p:sp>
        <p:nvSpPr>
          <p:cNvPr id="9" name="Shape 7"/>
          <p:cNvSpPr/>
          <p:nvPr/>
        </p:nvSpPr>
        <p:spPr>
          <a:xfrm>
            <a:off x="3474720" y="1691640"/>
            <a:ext cx="457200" cy="457200"/>
          </a:xfrm>
          <a:prstGeom prst="ellipse">
            <a:avLst/>
          </a:prstGeom>
          <a:solidFill>
            <a:srgbClr val="E1F0ED"/>
          </a:solidFill>
          <a:ln w="12700">
            <a:solidFill>
              <a:srgbClr val="E1F0ED"/>
            </a:solidFill>
            <a:prstDash val="solid"/>
          </a:ln>
        </p:spPr>
      </p:sp>
      <p:sp>
        <p:nvSpPr>
          <p:cNvPr id="10" name="Text 8"/>
          <p:cNvSpPr txBox="1"/>
          <p:nvPr/>
        </p:nvSpPr>
        <p:spPr>
          <a:xfrm>
            <a:off x="3474720" y="1691640"/>
            <a:ext cx="457200" cy="457200"/>
          </a:xfrm>
          <a:prstGeom prst="rect">
            <a:avLst/>
          </a:prstGeom>
          <a:noFill/>
          <a:ln/>
        </p:spPr>
        <p:txBody>
          <a:bodyPr wrap="square" lIns="0" tIns="0" rIns="0" bIns="0" rtlCol="0" anchor="ctr"/>
          <a:lstStyle/>
          <a:p>
            <a:pPr algn="ctr" indent="0" marL="0">
              <a:buNone/>
            </a:pPr>
            <a:r>
              <a:rPr lang="en-US" sz="2000" b="1" dirty="0">
                <a:solidFill>
                  <a:srgbClr val="008F7A"/>
                </a:solidFill>
                <a:latin typeface="Arial" pitchFamily="34" charset="0"/>
                <a:ea typeface="Arial" pitchFamily="34" charset="-122"/>
                <a:cs typeface="Arial" pitchFamily="34" charset="-120"/>
              </a:rPr>
              <a:t>2</a:t>
            </a:r>
            <a:endParaRPr lang="en-US" sz="2000" dirty="0"/>
          </a:p>
        </p:txBody>
      </p:sp>
      <p:sp>
        <p:nvSpPr>
          <p:cNvPr id="11" name="Text 9"/>
          <p:cNvSpPr txBox="1"/>
          <p:nvPr/>
        </p:nvSpPr>
        <p:spPr>
          <a:xfrm>
            <a:off x="3474720" y="2286000"/>
            <a:ext cx="2286000" cy="365760"/>
          </a:xfrm>
          <a:prstGeom prst="rect">
            <a:avLst/>
          </a:prstGeom>
          <a:noFill/>
          <a:ln/>
        </p:spPr>
        <p:txBody>
          <a:bodyPr wrap="square" lIns="0" tIns="0" rIns="0" bIns="0" rtlCol="0" anchor="t"/>
          <a:lstStyle/>
          <a:p>
            <a:pPr indent="0" marL="0">
              <a:buNone/>
            </a:pPr>
            <a:r>
              <a:rPr lang="en-US" sz="2000" b="1" dirty="0">
                <a:solidFill>
                  <a:srgbClr val="12151C"/>
                </a:solidFill>
                <a:latin typeface="Arial" pitchFamily="34" charset="0"/>
                <a:ea typeface="Arial" pitchFamily="34" charset="-122"/>
                <a:cs typeface="Arial" pitchFamily="34" charset="-120"/>
              </a:rPr>
              <a:t>An open PDK</a:t>
            </a:r>
            <a:endParaRPr lang="en-US" sz="2000" dirty="0"/>
          </a:p>
        </p:txBody>
      </p:sp>
      <p:sp>
        <p:nvSpPr>
          <p:cNvPr id="12" name="Text 10"/>
          <p:cNvSpPr txBox="1"/>
          <p:nvPr/>
        </p:nvSpPr>
        <p:spPr>
          <a:xfrm>
            <a:off x="3474720" y="2697480"/>
            <a:ext cx="2240280" cy="91440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SkyWater sky130, 130 nm</a:t>
            </a:r>
            <a:endParaRPr lang="en-US" sz="1800" dirty="0"/>
          </a:p>
        </p:txBody>
      </p:sp>
      <p:sp>
        <p:nvSpPr>
          <p:cNvPr id="13" name="card"/>
          <p:cNvSpPr/>
          <p:nvPr/>
        </p:nvSpPr>
        <p:spPr>
          <a:xfrm>
            <a:off x="6035040" y="1463040"/>
            <a:ext cx="2651760" cy="2286000"/>
          </a:xfrm>
          <a:prstGeom prst="roundRect">
            <a:avLst>
              <a:gd name="adj" fmla="val 3200"/>
            </a:avLst>
          </a:prstGeom>
          <a:solidFill>
            <a:srgbClr val="FFFFFF"/>
          </a:solidFill>
          <a:ln w="9525">
            <a:solidFill>
              <a:srgbClr val="D5D9DC"/>
            </a:solidFill>
            <a:prstDash val="solid"/>
          </a:ln>
        </p:spPr>
      </p:sp>
      <p:sp>
        <p:nvSpPr>
          <p:cNvPr id="14" name="Shape 12"/>
          <p:cNvSpPr/>
          <p:nvPr/>
        </p:nvSpPr>
        <p:spPr>
          <a:xfrm>
            <a:off x="6263640" y="1691640"/>
            <a:ext cx="457200" cy="457200"/>
          </a:xfrm>
          <a:prstGeom prst="ellipse">
            <a:avLst/>
          </a:prstGeom>
          <a:solidFill>
            <a:srgbClr val="E1F0ED"/>
          </a:solidFill>
          <a:ln w="12700">
            <a:solidFill>
              <a:srgbClr val="E1F0ED"/>
            </a:solidFill>
            <a:prstDash val="solid"/>
          </a:ln>
        </p:spPr>
      </p:sp>
      <p:sp>
        <p:nvSpPr>
          <p:cNvPr id="15" name="Text 13"/>
          <p:cNvSpPr txBox="1"/>
          <p:nvPr/>
        </p:nvSpPr>
        <p:spPr>
          <a:xfrm>
            <a:off x="6263640" y="1691640"/>
            <a:ext cx="457200" cy="457200"/>
          </a:xfrm>
          <a:prstGeom prst="rect">
            <a:avLst/>
          </a:prstGeom>
          <a:noFill/>
          <a:ln/>
        </p:spPr>
        <p:txBody>
          <a:bodyPr wrap="square" lIns="0" tIns="0" rIns="0" bIns="0" rtlCol="0" anchor="ctr"/>
          <a:lstStyle/>
          <a:p>
            <a:pPr algn="ctr" indent="0" marL="0">
              <a:buNone/>
            </a:pPr>
            <a:r>
              <a:rPr lang="en-US" sz="2000" b="1" dirty="0">
                <a:solidFill>
                  <a:srgbClr val="008F7A"/>
                </a:solidFill>
                <a:latin typeface="Arial" pitchFamily="34" charset="0"/>
                <a:ea typeface="Arial" pitchFamily="34" charset="-122"/>
                <a:cs typeface="Arial" pitchFamily="34" charset="-120"/>
              </a:rPr>
              <a:t>3</a:t>
            </a:r>
            <a:endParaRPr lang="en-US" sz="2000" dirty="0"/>
          </a:p>
        </p:txBody>
      </p:sp>
      <p:sp>
        <p:nvSpPr>
          <p:cNvPr id="16" name="Text 14"/>
          <p:cNvSpPr txBox="1"/>
          <p:nvPr/>
        </p:nvSpPr>
        <p:spPr>
          <a:xfrm>
            <a:off x="6263640" y="2286000"/>
            <a:ext cx="2286000" cy="365760"/>
          </a:xfrm>
          <a:prstGeom prst="rect">
            <a:avLst/>
          </a:prstGeom>
          <a:noFill/>
          <a:ln/>
        </p:spPr>
        <p:txBody>
          <a:bodyPr wrap="square" lIns="0" tIns="0" rIns="0" bIns="0" rtlCol="0" anchor="t"/>
          <a:lstStyle/>
          <a:p>
            <a:pPr indent="0" marL="0">
              <a:buNone/>
            </a:pPr>
            <a:r>
              <a:rPr lang="en-US" sz="2000" b="1" dirty="0">
                <a:solidFill>
                  <a:srgbClr val="12151C"/>
                </a:solidFill>
                <a:latin typeface="Arial" pitchFamily="34" charset="0"/>
                <a:ea typeface="Arial" pitchFamily="34" charset="-122"/>
                <a:cs typeface="Arial" pitchFamily="34" charset="-120"/>
              </a:rPr>
              <a:t>Open designs</a:t>
            </a:r>
            <a:endParaRPr lang="en-US" sz="2000" dirty="0"/>
          </a:p>
        </p:txBody>
      </p:sp>
      <p:sp>
        <p:nvSpPr>
          <p:cNvPr id="17" name="Text 15"/>
          <p:cNvSpPr txBox="1"/>
          <p:nvPr/>
        </p:nvSpPr>
        <p:spPr>
          <a:xfrm>
            <a:off x="6263640" y="2697480"/>
            <a:ext cx="2240280" cy="91440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12 examples, simplest first</a:t>
            </a:r>
            <a:endParaRPr lang="en-US" sz="1800" dirty="0"/>
          </a:p>
        </p:txBody>
      </p:sp>
      <p:sp>
        <p:nvSpPr>
          <p:cNvPr id="18" name="Text 16"/>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800" b="1" dirty="0">
                <a:solidFill>
                  <a:srgbClr val="B83A22"/>
                </a:solidFill>
                <a:latin typeface="Arial" pitchFamily="34" charset="0"/>
                <a:ea typeface="Arial" pitchFamily="34" charset="-122"/>
                <a:cs typeface="Arial" pitchFamily="34" charset="-120"/>
              </a:rPr>
              <a:t>Simulated and hardened in a container. Not fabricated.</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You will leave having run the flow yourself</a:t>
            </a:r>
            <a:endParaRPr lang="en-US" sz="2800" dirty="0"/>
          </a:p>
        </p:txBody>
      </p:sp>
      <p:sp>
        <p:nvSpPr>
          <p:cNvPr id="3" name="card"/>
          <p:cNvSpPr/>
          <p:nvPr/>
        </p:nvSpPr>
        <p:spPr>
          <a:xfrm>
            <a:off x="457200" y="1463040"/>
            <a:ext cx="8229600" cy="822960"/>
          </a:xfrm>
          <a:prstGeom prst="roundRect">
            <a:avLst>
              <a:gd name="adj" fmla="val 8889"/>
            </a:avLst>
          </a:prstGeom>
          <a:solidFill>
            <a:srgbClr val="FFFFFF"/>
          </a:solidFill>
          <a:ln w="9525">
            <a:solidFill>
              <a:srgbClr val="D5D9DC"/>
            </a:solidFill>
            <a:prstDash val="solid"/>
          </a:ln>
        </p:spPr>
      </p:sp>
      <p:sp>
        <p:nvSpPr>
          <p:cNvPr id="4" name="Shape 2"/>
          <p:cNvSpPr/>
          <p:nvPr/>
        </p:nvSpPr>
        <p:spPr>
          <a:xfrm>
            <a:off x="685800" y="1600200"/>
            <a:ext cx="548640" cy="548640"/>
          </a:xfrm>
          <a:prstGeom prst="ellipse">
            <a:avLst/>
          </a:prstGeom>
          <a:solidFill>
            <a:srgbClr val="071A36"/>
          </a:solidFill>
          <a:ln w="12700">
            <a:solidFill>
              <a:srgbClr val="071A36"/>
            </a:solidFill>
            <a:prstDash val="solid"/>
          </a:ln>
        </p:spPr>
      </p:sp>
      <p:sp>
        <p:nvSpPr>
          <p:cNvPr id="5" name="Text 3"/>
          <p:cNvSpPr txBox="1"/>
          <p:nvPr/>
        </p:nvSpPr>
        <p:spPr>
          <a:xfrm>
            <a:off x="685800"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6" name="Text 4"/>
          <p:cNvSpPr txBox="1"/>
          <p:nvPr/>
        </p:nvSpPr>
        <p:spPr>
          <a:xfrm>
            <a:off x="1508760" y="1463040"/>
            <a:ext cx="6949440" cy="822960"/>
          </a:xfrm>
          <a:prstGeom prst="rect">
            <a:avLst/>
          </a:prstGeom>
          <a:noFill/>
          <a:ln/>
        </p:spPr>
        <p:txBody>
          <a:bodyPr wrap="square" lIns="0" tIns="0" rIns="0" bIns="0" rtlCol="0" anchor="ctr"/>
          <a:lstStyle/>
          <a:p>
            <a:pPr indent="0" marL="0">
              <a:buNone/>
            </a:pPr>
            <a:r>
              <a:rPr lang="en-US" sz="2200" b="1" dirty="0">
                <a:solidFill>
                  <a:srgbClr val="12151C"/>
                </a:solidFill>
                <a:latin typeface="Arial" pitchFamily="34" charset="0"/>
                <a:ea typeface="Arial" pitchFamily="34" charset="-122"/>
                <a:cs typeface="Arial" pitchFamily="34" charset="-120"/>
              </a:rPr>
              <a:t>Watch one chip take shape</a:t>
            </a:r>
            <a:endParaRPr lang="en-US" sz="2200" dirty="0"/>
          </a:p>
        </p:txBody>
      </p:sp>
      <p:sp>
        <p:nvSpPr>
          <p:cNvPr id="7" name="card"/>
          <p:cNvSpPr/>
          <p:nvPr/>
        </p:nvSpPr>
        <p:spPr>
          <a:xfrm>
            <a:off x="457200" y="2468880"/>
            <a:ext cx="8229600" cy="822960"/>
          </a:xfrm>
          <a:prstGeom prst="roundRect">
            <a:avLst>
              <a:gd name="adj" fmla="val 8889"/>
            </a:avLst>
          </a:prstGeom>
          <a:solidFill>
            <a:srgbClr val="FFFFFF"/>
          </a:solidFill>
          <a:ln w="9525">
            <a:solidFill>
              <a:srgbClr val="D5D9DC"/>
            </a:solidFill>
            <a:prstDash val="solid"/>
          </a:ln>
        </p:spPr>
      </p:sp>
      <p:sp>
        <p:nvSpPr>
          <p:cNvPr id="8" name="Shape 6"/>
          <p:cNvSpPr/>
          <p:nvPr/>
        </p:nvSpPr>
        <p:spPr>
          <a:xfrm>
            <a:off x="685800" y="2606040"/>
            <a:ext cx="548640" cy="548640"/>
          </a:xfrm>
          <a:prstGeom prst="ellipse">
            <a:avLst/>
          </a:prstGeom>
          <a:solidFill>
            <a:srgbClr val="071A36"/>
          </a:solidFill>
          <a:ln w="12700">
            <a:solidFill>
              <a:srgbClr val="071A36"/>
            </a:solidFill>
            <a:prstDash val="solid"/>
          </a:ln>
        </p:spPr>
      </p:sp>
      <p:sp>
        <p:nvSpPr>
          <p:cNvPr id="9" name="Text 7"/>
          <p:cNvSpPr txBox="1"/>
          <p:nvPr/>
        </p:nvSpPr>
        <p:spPr>
          <a:xfrm>
            <a:off x="685800" y="26060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0" name="Text 8"/>
          <p:cNvSpPr txBox="1"/>
          <p:nvPr/>
        </p:nvSpPr>
        <p:spPr>
          <a:xfrm>
            <a:off x="1508760" y="2468880"/>
            <a:ext cx="6949440" cy="822960"/>
          </a:xfrm>
          <a:prstGeom prst="rect">
            <a:avLst/>
          </a:prstGeom>
          <a:noFill/>
          <a:ln/>
        </p:spPr>
        <p:txBody>
          <a:bodyPr wrap="square" lIns="0" tIns="0" rIns="0" bIns="0" rtlCol="0" anchor="ctr"/>
          <a:lstStyle/>
          <a:p>
            <a:pPr indent="0" marL="0">
              <a:buNone/>
            </a:pPr>
            <a:r>
              <a:rPr lang="en-US" sz="2200" b="1" dirty="0">
                <a:solidFill>
                  <a:srgbClr val="12151C"/>
                </a:solidFill>
                <a:latin typeface="Arial" pitchFamily="34" charset="0"/>
                <a:ea typeface="Arial" pitchFamily="34" charset="-122"/>
                <a:cs typeface="Arial" pitchFamily="34" charset="-120"/>
              </a:rPr>
              <a:t>Run six flow stages yourself</a:t>
            </a:r>
            <a:endParaRPr lang="en-US" sz="2200" dirty="0"/>
          </a:p>
        </p:txBody>
      </p:sp>
      <p:sp>
        <p:nvSpPr>
          <p:cNvPr id="11" name="card"/>
          <p:cNvSpPr/>
          <p:nvPr/>
        </p:nvSpPr>
        <p:spPr>
          <a:xfrm>
            <a:off x="457200" y="3474720"/>
            <a:ext cx="8229600" cy="822960"/>
          </a:xfrm>
          <a:prstGeom prst="roundRect">
            <a:avLst>
              <a:gd name="adj" fmla="val 8889"/>
            </a:avLst>
          </a:prstGeom>
          <a:solidFill>
            <a:srgbClr val="FFFFFF"/>
          </a:solidFill>
          <a:ln w="9525">
            <a:solidFill>
              <a:srgbClr val="D5D9DC"/>
            </a:solidFill>
            <a:prstDash val="solid"/>
          </a:ln>
        </p:spPr>
      </p:sp>
      <p:sp>
        <p:nvSpPr>
          <p:cNvPr id="12" name="Shape 10"/>
          <p:cNvSpPr/>
          <p:nvPr/>
        </p:nvSpPr>
        <p:spPr>
          <a:xfrm>
            <a:off x="685800" y="3611880"/>
            <a:ext cx="548640" cy="548640"/>
          </a:xfrm>
          <a:prstGeom prst="ellipse">
            <a:avLst/>
          </a:prstGeom>
          <a:solidFill>
            <a:srgbClr val="071A36"/>
          </a:solidFill>
          <a:ln w="12700">
            <a:solidFill>
              <a:srgbClr val="071A36"/>
            </a:solidFill>
            <a:prstDash val="solid"/>
          </a:ln>
        </p:spPr>
      </p:sp>
      <p:sp>
        <p:nvSpPr>
          <p:cNvPr id="13" name="Text 11"/>
          <p:cNvSpPr txBox="1"/>
          <p:nvPr/>
        </p:nvSpPr>
        <p:spPr>
          <a:xfrm>
            <a:off x="685800" y="36118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4" name="Text 12"/>
          <p:cNvSpPr txBox="1"/>
          <p:nvPr/>
        </p:nvSpPr>
        <p:spPr>
          <a:xfrm>
            <a:off x="1508760" y="3474720"/>
            <a:ext cx="6949440" cy="822960"/>
          </a:xfrm>
          <a:prstGeom prst="rect">
            <a:avLst/>
          </a:prstGeom>
          <a:noFill/>
          <a:ln/>
        </p:spPr>
        <p:txBody>
          <a:bodyPr wrap="square" lIns="0" tIns="0" rIns="0" bIns="0" rtlCol="0" anchor="ctr"/>
          <a:lstStyle/>
          <a:p>
            <a:pPr indent="0" marL="0">
              <a:buNone/>
            </a:pPr>
            <a:r>
              <a:rPr lang="en-US" sz="2200" b="1" dirty="0">
                <a:solidFill>
                  <a:srgbClr val="12151C"/>
                </a:solidFill>
                <a:latin typeface="Arial" pitchFamily="34" charset="0"/>
                <a:ea typeface="Arial" pitchFamily="34" charset="-122"/>
                <a:cs typeface="Arial" pitchFamily="34" charset="-120"/>
              </a:rPr>
              <a:t>Learn what verification caught</a:t>
            </a:r>
            <a:endParaRPr lang="en-US" sz="22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Every design is sized for a free-tier machine</a:t>
            </a:r>
            <a:endParaRPr lang="en-US" sz="2800" dirty="0"/>
          </a:p>
        </p:txBody>
      </p:sp>
      <p:sp>
        <p:nvSpPr>
          <p:cNvPr id="3" name="card"/>
          <p:cNvSpPr/>
          <p:nvPr/>
        </p:nvSpPr>
        <p:spPr>
          <a:xfrm>
            <a:off x="457200" y="1463040"/>
            <a:ext cx="1965960" cy="1554480"/>
          </a:xfrm>
          <a:prstGeom prst="roundRect">
            <a:avLst>
              <a:gd name="adj" fmla="val 4706"/>
            </a:avLst>
          </a:prstGeom>
          <a:solidFill>
            <a:srgbClr val="FFFFFF"/>
          </a:solidFill>
          <a:ln w="9525">
            <a:solidFill>
              <a:srgbClr val="D5D9DC"/>
            </a:solidFill>
            <a:prstDash val="solid"/>
          </a:ln>
        </p:spPr>
      </p:sp>
      <p:sp>
        <p:nvSpPr>
          <p:cNvPr id="4" name="Text 2"/>
          <p:cNvSpPr txBox="1"/>
          <p:nvPr/>
        </p:nvSpPr>
        <p:spPr>
          <a:xfrm>
            <a:off x="548640" y="1691640"/>
            <a:ext cx="1783080" cy="640080"/>
          </a:xfrm>
          <a:prstGeom prst="rect">
            <a:avLst/>
          </a:prstGeom>
          <a:noFill/>
          <a:ln/>
        </p:spPr>
        <p:txBody>
          <a:bodyPr wrap="square" lIns="0" tIns="0" rIns="0" bIns="0" rtlCol="0" anchor="ctr">
            <a:normAutofit/>
          </a:bodyPr>
          <a:lstStyle/>
          <a:p>
            <a:pPr algn="ctr" indent="0" marL="0">
              <a:buNone/>
            </a:pPr>
            <a:r>
              <a:rPr lang="en-US" sz="3000" b="1" dirty="0">
                <a:solidFill>
                  <a:srgbClr val="008F7A"/>
                </a:solidFill>
                <a:latin typeface="Arial" pitchFamily="34" charset="0"/>
                <a:ea typeface="Arial" pitchFamily="34" charset="-122"/>
                <a:cs typeface="Arial" pitchFamily="34" charset="-120"/>
              </a:rPr>
              <a:t>2</a:t>
            </a:r>
            <a:endParaRPr lang="en-US" sz="3000" dirty="0"/>
          </a:p>
        </p:txBody>
      </p:sp>
      <p:sp>
        <p:nvSpPr>
          <p:cNvPr id="5" name="Text 3"/>
          <p:cNvSpPr txBox="1"/>
          <p:nvPr/>
        </p:nvSpPr>
        <p:spPr>
          <a:xfrm>
            <a:off x="548640" y="2423160"/>
            <a:ext cx="1783080" cy="45720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CPUs</a:t>
            </a:r>
            <a:endParaRPr lang="en-US" sz="1800" dirty="0"/>
          </a:p>
        </p:txBody>
      </p:sp>
      <p:sp>
        <p:nvSpPr>
          <p:cNvPr id="6" name="card"/>
          <p:cNvSpPr/>
          <p:nvPr/>
        </p:nvSpPr>
        <p:spPr>
          <a:xfrm>
            <a:off x="2542032" y="1463040"/>
            <a:ext cx="1965960" cy="1554480"/>
          </a:xfrm>
          <a:prstGeom prst="roundRect">
            <a:avLst>
              <a:gd name="adj" fmla="val 4706"/>
            </a:avLst>
          </a:prstGeom>
          <a:solidFill>
            <a:srgbClr val="FFFFFF"/>
          </a:solidFill>
          <a:ln w="9525">
            <a:solidFill>
              <a:srgbClr val="D5D9DC"/>
            </a:solidFill>
            <a:prstDash val="solid"/>
          </a:ln>
        </p:spPr>
      </p:sp>
      <p:sp>
        <p:nvSpPr>
          <p:cNvPr id="7" name="Text 5"/>
          <p:cNvSpPr txBox="1"/>
          <p:nvPr/>
        </p:nvSpPr>
        <p:spPr>
          <a:xfrm>
            <a:off x="2633472" y="1691640"/>
            <a:ext cx="1783080" cy="640080"/>
          </a:xfrm>
          <a:prstGeom prst="rect">
            <a:avLst/>
          </a:prstGeom>
          <a:noFill/>
          <a:ln/>
        </p:spPr>
        <p:txBody>
          <a:bodyPr wrap="square" lIns="0" tIns="0" rIns="0" bIns="0" rtlCol="0" anchor="ctr">
            <a:normAutofit/>
          </a:bodyPr>
          <a:lstStyle/>
          <a:p>
            <a:pPr algn="ctr" indent="0" marL="0">
              <a:buNone/>
            </a:pPr>
            <a:r>
              <a:rPr lang="en-US" sz="3000" b="1" dirty="0">
                <a:solidFill>
                  <a:srgbClr val="008F7A"/>
                </a:solidFill>
                <a:latin typeface="Arial" pitchFamily="34" charset="0"/>
                <a:ea typeface="Arial" pitchFamily="34" charset="-122"/>
                <a:cs typeface="Arial" pitchFamily="34" charset="-120"/>
              </a:rPr>
              <a:t>8 GB</a:t>
            </a:r>
            <a:endParaRPr lang="en-US" sz="3000" dirty="0"/>
          </a:p>
        </p:txBody>
      </p:sp>
      <p:sp>
        <p:nvSpPr>
          <p:cNvPr id="8" name="Text 6"/>
          <p:cNvSpPr txBox="1"/>
          <p:nvPr/>
        </p:nvSpPr>
        <p:spPr>
          <a:xfrm>
            <a:off x="2633472" y="2423160"/>
            <a:ext cx="1783080" cy="45720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memory cap</a:t>
            </a:r>
            <a:endParaRPr lang="en-US" sz="1800" dirty="0"/>
          </a:p>
        </p:txBody>
      </p:sp>
      <p:sp>
        <p:nvSpPr>
          <p:cNvPr id="9" name="card"/>
          <p:cNvSpPr/>
          <p:nvPr/>
        </p:nvSpPr>
        <p:spPr>
          <a:xfrm>
            <a:off x="4626864" y="1463040"/>
            <a:ext cx="1965960" cy="1554480"/>
          </a:xfrm>
          <a:prstGeom prst="roundRect">
            <a:avLst>
              <a:gd name="adj" fmla="val 4706"/>
            </a:avLst>
          </a:prstGeom>
          <a:solidFill>
            <a:srgbClr val="FFFFFF"/>
          </a:solidFill>
          <a:ln w="9525">
            <a:solidFill>
              <a:srgbClr val="D5D9DC"/>
            </a:solidFill>
            <a:prstDash val="solid"/>
          </a:ln>
        </p:spPr>
      </p:sp>
      <p:sp>
        <p:nvSpPr>
          <p:cNvPr id="10" name="Text 8"/>
          <p:cNvSpPr txBox="1"/>
          <p:nvPr/>
        </p:nvSpPr>
        <p:spPr>
          <a:xfrm>
            <a:off x="4718304" y="1691640"/>
            <a:ext cx="1783080" cy="640080"/>
          </a:xfrm>
          <a:prstGeom prst="rect">
            <a:avLst/>
          </a:prstGeom>
          <a:noFill/>
          <a:ln/>
        </p:spPr>
        <p:txBody>
          <a:bodyPr wrap="square" lIns="0" tIns="0" rIns="0" bIns="0" rtlCol="0" anchor="ctr">
            <a:normAutofit/>
          </a:bodyPr>
          <a:lstStyle/>
          <a:p>
            <a:pPr algn="ctr" indent="0" marL="0">
              <a:buNone/>
            </a:pPr>
            <a:r>
              <a:rPr lang="en-US" sz="3000" b="1" dirty="0">
                <a:solidFill>
                  <a:srgbClr val="008F7A"/>
                </a:solidFill>
                <a:latin typeface="Arial" pitchFamily="34" charset="0"/>
                <a:ea typeface="Arial" pitchFamily="34" charset="-122"/>
                <a:cs typeface="Arial" pitchFamily="34" charset="-120"/>
              </a:rPr>
              <a:t>1.62 GB</a:t>
            </a:r>
            <a:endParaRPr lang="en-US" sz="3000" dirty="0"/>
          </a:p>
        </p:txBody>
      </p:sp>
      <p:sp>
        <p:nvSpPr>
          <p:cNvPr id="11" name="Text 9"/>
          <p:cNvSpPr txBox="1"/>
          <p:nvPr/>
        </p:nvSpPr>
        <p:spPr>
          <a:xfrm>
            <a:off x="4718304" y="2423160"/>
            <a:ext cx="1783080" cy="45720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largest peak</a:t>
            </a:r>
            <a:endParaRPr lang="en-US" sz="1800" dirty="0"/>
          </a:p>
        </p:txBody>
      </p:sp>
      <p:sp>
        <p:nvSpPr>
          <p:cNvPr id="12" name="card"/>
          <p:cNvSpPr/>
          <p:nvPr/>
        </p:nvSpPr>
        <p:spPr>
          <a:xfrm>
            <a:off x="6711696" y="1463040"/>
            <a:ext cx="1965960" cy="1554480"/>
          </a:xfrm>
          <a:prstGeom prst="roundRect">
            <a:avLst>
              <a:gd name="adj" fmla="val 4706"/>
            </a:avLst>
          </a:prstGeom>
          <a:solidFill>
            <a:srgbClr val="FFFFFF"/>
          </a:solidFill>
          <a:ln w="9525">
            <a:solidFill>
              <a:srgbClr val="D5D9DC"/>
            </a:solidFill>
            <a:prstDash val="solid"/>
          </a:ln>
        </p:spPr>
      </p:sp>
      <p:sp>
        <p:nvSpPr>
          <p:cNvPr id="13" name="Text 11"/>
          <p:cNvSpPr txBox="1"/>
          <p:nvPr/>
        </p:nvSpPr>
        <p:spPr>
          <a:xfrm>
            <a:off x="6803136" y="1691640"/>
            <a:ext cx="1783080" cy="640080"/>
          </a:xfrm>
          <a:prstGeom prst="rect">
            <a:avLst/>
          </a:prstGeom>
          <a:noFill/>
          <a:ln/>
        </p:spPr>
        <p:txBody>
          <a:bodyPr wrap="square" lIns="0" tIns="0" rIns="0" bIns="0" rtlCol="0" anchor="ctr">
            <a:normAutofit/>
          </a:bodyPr>
          <a:lstStyle/>
          <a:p>
            <a:pPr algn="ctr" indent="0" marL="0">
              <a:buNone/>
            </a:pPr>
            <a:r>
              <a:rPr lang="en-US" sz="3000" b="1" dirty="0">
                <a:solidFill>
                  <a:srgbClr val="008F7A"/>
                </a:solidFill>
                <a:latin typeface="Arial" pitchFamily="34" charset="0"/>
                <a:ea typeface="Arial" pitchFamily="34" charset="-122"/>
                <a:cs typeface="Arial" pitchFamily="34" charset="-120"/>
              </a:rPr>
              <a:t>8.0 min</a:t>
            </a:r>
            <a:endParaRPr lang="en-US" sz="3000" dirty="0"/>
          </a:p>
        </p:txBody>
      </p:sp>
      <p:sp>
        <p:nvSpPr>
          <p:cNvPr id="14" name="Text 12"/>
          <p:cNvSpPr txBox="1"/>
          <p:nvPr/>
        </p:nvSpPr>
        <p:spPr>
          <a:xfrm>
            <a:off x="6803136" y="2423160"/>
            <a:ext cx="1783080" cy="45720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slowest build</a:t>
            </a:r>
            <a:endParaRPr lang="en-US" sz="1800" dirty="0"/>
          </a:p>
        </p:txBody>
      </p:sp>
      <p:sp>
        <p:nvSpPr>
          <p:cNvPr id="15" name="pill Colab"/>
          <p:cNvSpPr/>
          <p:nvPr/>
        </p:nvSpPr>
        <p:spPr>
          <a:xfrm>
            <a:off x="457200" y="3383280"/>
            <a:ext cx="1508760" cy="329184"/>
          </a:xfrm>
          <a:prstGeom prst="roundRect">
            <a:avLst>
              <a:gd name="adj" fmla="val 50000"/>
            </a:avLst>
          </a:prstGeom>
          <a:solidFill>
            <a:srgbClr val="E1F0ED"/>
          </a:solidFill>
          <a:ln w="6350">
            <a:solidFill>
              <a:srgbClr val="E1F0ED"/>
            </a:solidFill>
            <a:prstDash val="solid"/>
          </a:ln>
        </p:spPr>
      </p:sp>
      <p:sp>
        <p:nvSpPr>
          <p:cNvPr id="16" name="Text 14"/>
          <p:cNvSpPr txBox="1"/>
          <p:nvPr/>
        </p:nvSpPr>
        <p:spPr>
          <a:xfrm>
            <a:off x="457200" y="3383280"/>
            <a:ext cx="1508760" cy="329184"/>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Colab</a:t>
            </a:r>
            <a:endParaRPr lang="en-US" sz="1200" dirty="0"/>
          </a:p>
        </p:txBody>
      </p:sp>
      <p:sp>
        <p:nvSpPr>
          <p:cNvPr id="17" name="pill Codespaces"/>
          <p:cNvSpPr/>
          <p:nvPr/>
        </p:nvSpPr>
        <p:spPr>
          <a:xfrm>
            <a:off x="2103120" y="3383280"/>
            <a:ext cx="1508760" cy="329184"/>
          </a:xfrm>
          <a:prstGeom prst="roundRect">
            <a:avLst>
              <a:gd name="adj" fmla="val 50000"/>
            </a:avLst>
          </a:prstGeom>
          <a:solidFill>
            <a:srgbClr val="E1F0ED"/>
          </a:solidFill>
          <a:ln w="6350">
            <a:solidFill>
              <a:srgbClr val="E1F0ED"/>
            </a:solidFill>
            <a:prstDash val="solid"/>
          </a:ln>
        </p:spPr>
      </p:sp>
      <p:sp>
        <p:nvSpPr>
          <p:cNvPr id="18" name="Text 16"/>
          <p:cNvSpPr txBox="1"/>
          <p:nvPr/>
        </p:nvSpPr>
        <p:spPr>
          <a:xfrm>
            <a:off x="2103120" y="3383280"/>
            <a:ext cx="1508760" cy="329184"/>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Codespaces</a:t>
            </a:r>
            <a:endParaRPr lang="en-US" sz="1200" dirty="0"/>
          </a:p>
        </p:txBody>
      </p:sp>
      <p:sp>
        <p:nvSpPr>
          <p:cNvPr id="19" name="pill GitHub Actions"/>
          <p:cNvSpPr/>
          <p:nvPr/>
        </p:nvSpPr>
        <p:spPr>
          <a:xfrm>
            <a:off x="3749040" y="3383280"/>
            <a:ext cx="1508760" cy="329184"/>
          </a:xfrm>
          <a:prstGeom prst="roundRect">
            <a:avLst>
              <a:gd name="adj" fmla="val 50000"/>
            </a:avLst>
          </a:prstGeom>
          <a:solidFill>
            <a:srgbClr val="E1F0ED"/>
          </a:solidFill>
          <a:ln w="6350">
            <a:solidFill>
              <a:srgbClr val="E1F0ED"/>
            </a:solidFill>
            <a:prstDash val="solid"/>
          </a:ln>
        </p:spPr>
      </p:sp>
      <p:sp>
        <p:nvSpPr>
          <p:cNvPr id="20" name="Text 18"/>
          <p:cNvSpPr txBox="1"/>
          <p:nvPr/>
        </p:nvSpPr>
        <p:spPr>
          <a:xfrm>
            <a:off x="3749040" y="3383280"/>
            <a:ext cx="1508760" cy="329184"/>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GitHub Actions</a:t>
            </a:r>
            <a:endParaRPr lang="en-US" sz="1200" dirty="0"/>
          </a:p>
        </p:txBody>
      </p:sp>
      <p:sp>
        <p:nvSpPr>
          <p:cNvPr id="21" name="Text 19"/>
          <p:cNvSpPr txBox="1"/>
          <p:nvPr/>
        </p:nvSpPr>
        <p:spPr>
          <a:xfrm>
            <a:off x="457200" y="3886200"/>
            <a:ext cx="8229600" cy="3657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2-CPU, 8 GB container stands in for the free tiers.</a:t>
            </a:r>
            <a:endParaRPr lang="en-US" sz="1800" dirty="0"/>
          </a:p>
        </p:txBody>
      </p:sp>
      <p:sp>
        <p:nvSpPr>
          <p:cNvPr id="22" name="Text 20"/>
          <p:cNvSpPr txBox="1"/>
          <p:nvPr/>
        </p:nvSpPr>
        <p:spPr>
          <a:xfrm>
            <a:off x="457200" y="4297680"/>
            <a:ext cx="8229600" cy="32004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Measured on an Apple-silicon VM; cloud machines will be slower.</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640080" y="914400"/>
            <a:ext cx="768096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The open-source EDA flow</a:t>
            </a:r>
            <a:endParaRPr lang="en-US" sz="3600" dirty="0"/>
          </a:p>
        </p:txBody>
      </p:sp>
      <p:sp>
        <p:nvSpPr>
          <p:cNvPr id="3" name="Text 1"/>
          <p:cNvSpPr txBox="1"/>
          <p:nvPr/>
        </p:nvSpPr>
        <p:spPr>
          <a:xfrm>
            <a:off x="640080" y="2148840"/>
            <a:ext cx="7498080" cy="822960"/>
          </a:xfrm>
          <a:prstGeom prst="rect">
            <a:avLst/>
          </a:prstGeom>
          <a:noFill/>
          <a:ln/>
        </p:spPr>
        <p:txBody>
          <a:bodyPr wrap="square" lIns="0" tIns="0" rIns="0" bIns="0" rtlCol="0" anchor="t"/>
          <a:lstStyle/>
          <a:p>
            <a:pPr indent="0" marL="0">
              <a:buNone/>
            </a:pPr>
            <a:r>
              <a:rPr lang="en-US" sz="2000" dirty="0">
                <a:solidFill>
                  <a:srgbClr val="D6DCE6"/>
                </a:solidFill>
                <a:latin typeface="Arial" pitchFamily="34" charset="0"/>
                <a:ea typeface="Arial" pitchFamily="34" charset="-122"/>
                <a:cs typeface="Arial" pitchFamily="34" charset="-120"/>
              </a:rPr>
              <a:t>Watch one chip, cnn_lite, take shape: tools, steps, and the open PDK</a:t>
            </a:r>
            <a:endParaRPr lang="en-US" sz="2000" dirty="0"/>
          </a:p>
        </p:txBody>
      </p:sp>
      <p:sp>
        <p:nvSpPr>
          <p:cNvPr id="4" name="progress A"/>
          <p:cNvSpPr/>
          <p:nvPr/>
        </p:nvSpPr>
        <p:spPr>
          <a:xfrm>
            <a:off x="640080" y="3840480"/>
            <a:ext cx="484632" cy="201168"/>
          </a:xfrm>
          <a:prstGeom prst="rect">
            <a:avLst/>
          </a:prstGeom>
          <a:solidFill>
            <a:srgbClr val="2C3E5C"/>
          </a:solidFill>
          <a:ln w="12700">
            <a:solidFill>
              <a:srgbClr val="2C3E5C"/>
            </a:solidFill>
            <a:prstDash val="solid"/>
          </a:ln>
        </p:spPr>
      </p:sp>
      <p:sp>
        <p:nvSpPr>
          <p:cNvPr id="5" name="progress B"/>
          <p:cNvSpPr/>
          <p:nvPr/>
        </p:nvSpPr>
        <p:spPr>
          <a:xfrm>
            <a:off x="1152144" y="3840480"/>
            <a:ext cx="1508760" cy="201168"/>
          </a:xfrm>
          <a:prstGeom prst="rect">
            <a:avLst/>
          </a:prstGeom>
          <a:solidFill>
            <a:srgbClr val="FF4D2E"/>
          </a:solidFill>
          <a:ln w="12700">
            <a:solidFill>
              <a:srgbClr val="FF4D2E"/>
            </a:solidFill>
            <a:prstDash val="solid"/>
          </a:ln>
        </p:spPr>
      </p:sp>
      <p:sp>
        <p:nvSpPr>
          <p:cNvPr id="6" name="progress C"/>
          <p:cNvSpPr/>
          <p:nvPr/>
        </p:nvSpPr>
        <p:spPr>
          <a:xfrm>
            <a:off x="2688336" y="3840480"/>
            <a:ext cx="996696" cy="201168"/>
          </a:xfrm>
          <a:prstGeom prst="rect">
            <a:avLst/>
          </a:prstGeom>
          <a:solidFill>
            <a:srgbClr val="2C3E5C"/>
          </a:solidFill>
          <a:ln w="12700">
            <a:solidFill>
              <a:srgbClr val="2C3E5C"/>
            </a:solidFill>
            <a:prstDash val="solid"/>
          </a:ln>
        </p:spPr>
      </p:sp>
      <p:sp>
        <p:nvSpPr>
          <p:cNvPr id="7" name="progress D"/>
          <p:cNvSpPr/>
          <p:nvPr/>
        </p:nvSpPr>
        <p:spPr>
          <a:xfrm>
            <a:off x="3712464" y="3840480"/>
            <a:ext cx="1252728" cy="201168"/>
          </a:xfrm>
          <a:prstGeom prst="rect">
            <a:avLst/>
          </a:prstGeom>
          <a:solidFill>
            <a:srgbClr val="2C3E5C"/>
          </a:solidFill>
          <a:ln w="12700">
            <a:solidFill>
              <a:srgbClr val="2C3E5C"/>
            </a:solidFill>
            <a:prstDash val="solid"/>
          </a:ln>
        </p:spPr>
      </p:sp>
      <p:sp>
        <p:nvSpPr>
          <p:cNvPr id="8" name="progress E"/>
          <p:cNvSpPr/>
          <p:nvPr/>
        </p:nvSpPr>
        <p:spPr>
          <a:xfrm>
            <a:off x="4992624" y="3840480"/>
            <a:ext cx="996696" cy="201168"/>
          </a:xfrm>
          <a:prstGeom prst="rect">
            <a:avLst/>
          </a:prstGeom>
          <a:solidFill>
            <a:srgbClr val="2C3E5C"/>
          </a:solidFill>
          <a:ln w="12700">
            <a:solidFill>
              <a:srgbClr val="2C3E5C"/>
            </a:solidFill>
            <a:prstDash val="solid"/>
          </a:ln>
        </p:spPr>
      </p:sp>
      <p:sp>
        <p:nvSpPr>
          <p:cNvPr id="9" name="progress F"/>
          <p:cNvSpPr/>
          <p:nvPr/>
        </p:nvSpPr>
        <p:spPr>
          <a:xfrm>
            <a:off x="6016752" y="3840480"/>
            <a:ext cx="996696" cy="201168"/>
          </a:xfrm>
          <a:prstGeom prst="rect">
            <a:avLst/>
          </a:prstGeom>
          <a:solidFill>
            <a:srgbClr val="2C3E5C"/>
          </a:solidFill>
          <a:ln w="12700">
            <a:solidFill>
              <a:srgbClr val="2C3E5C"/>
            </a:solidFill>
            <a:prstDash val="solid"/>
          </a:ln>
        </p:spPr>
      </p:sp>
      <p:sp>
        <p:nvSpPr>
          <p:cNvPr id="10" name="progress G"/>
          <p:cNvSpPr/>
          <p:nvPr/>
        </p:nvSpPr>
        <p:spPr>
          <a:xfrm>
            <a:off x="7040880" y="3840480"/>
            <a:ext cx="740664" cy="201168"/>
          </a:xfrm>
          <a:prstGeom prst="rect">
            <a:avLst/>
          </a:prstGeom>
          <a:solidFill>
            <a:srgbClr val="2C3E5C"/>
          </a:solidFill>
          <a:ln w="12700">
            <a:solidFill>
              <a:srgbClr val="2C3E5C"/>
            </a:solidFill>
            <a:prstDash val="solid"/>
          </a:ln>
        </p:spPr>
      </p:sp>
      <p:sp>
        <p:nvSpPr>
          <p:cNvPr id="11" name="progress H"/>
          <p:cNvSpPr/>
          <p:nvPr/>
        </p:nvSpPr>
        <p:spPr>
          <a:xfrm>
            <a:off x="7808976" y="3840480"/>
            <a:ext cx="484632" cy="201168"/>
          </a:xfrm>
          <a:prstGeom prst="rect">
            <a:avLst/>
          </a:prstGeom>
          <a:solidFill>
            <a:srgbClr val="2C3E5C"/>
          </a:solidFill>
          <a:ln w="12700">
            <a:solidFill>
              <a:srgbClr val="2C3E5C"/>
            </a:solidFill>
            <a:prstDash val="solid"/>
          </a:ln>
        </p:spPr>
      </p:sp>
      <p:sp>
        <p:nvSpPr>
          <p:cNvPr id="12" name="Text 10"/>
          <p:cNvSpPr txBox="1"/>
          <p:nvPr/>
        </p:nvSpPr>
        <p:spPr>
          <a:xfrm>
            <a:off x="640080" y="4114800"/>
            <a:ext cx="768096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Minutes 10–40 of 150</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The whole flow, from RTL to GDSII</a:t>
            </a:r>
            <a:endParaRPr lang="en-US" sz="2800" dirty="0"/>
          </a:p>
        </p:txBody>
      </p:sp>
      <p:sp>
        <p:nvSpPr>
          <p:cNvPr id="3" name="stage RTL"/>
          <p:cNvSpPr/>
          <p:nvPr/>
        </p:nvSpPr>
        <p:spPr>
          <a:xfrm>
            <a:off x="457200" y="1828800"/>
            <a:ext cx="804672" cy="914400"/>
          </a:xfrm>
          <a:prstGeom prst="roundRect">
            <a:avLst>
              <a:gd name="adj" fmla="val 9091"/>
            </a:avLst>
          </a:prstGeom>
          <a:solidFill>
            <a:srgbClr val="E1F0ED"/>
          </a:solidFill>
          <a:ln w="12700">
            <a:solidFill>
              <a:srgbClr val="008F7A"/>
            </a:solidFill>
            <a:prstDash val="solid"/>
          </a:ln>
        </p:spPr>
      </p:sp>
      <p:sp>
        <p:nvSpPr>
          <p:cNvPr id="4" name="Text 2"/>
          <p:cNvSpPr txBox="1"/>
          <p:nvPr/>
        </p:nvSpPr>
        <p:spPr>
          <a:xfrm>
            <a:off x="457200" y="1828800"/>
            <a:ext cx="804672" cy="914400"/>
          </a:xfrm>
          <a:prstGeom prst="rect">
            <a:avLst/>
          </a:prstGeom>
          <a:noFill/>
          <a:ln/>
        </p:spPr>
        <p:txBody>
          <a:bodyPr wrap="square" lIns="12700" tIns="12700" rIns="12700" bIns="1270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RTL</a:t>
            </a:r>
            <a:endParaRPr lang="en-US" sz="1200" dirty="0"/>
          </a:p>
        </p:txBody>
      </p:sp>
      <p:sp>
        <p:nvSpPr>
          <p:cNvPr id="5" name="flow arrow"/>
          <p:cNvSpPr/>
          <p:nvPr/>
        </p:nvSpPr>
        <p:spPr>
          <a:xfrm>
            <a:off x="1289304" y="2286000"/>
            <a:ext cx="201168" cy="0"/>
          </a:xfrm>
          <a:prstGeom prst="line">
            <a:avLst/>
          </a:prstGeom>
          <a:noFill/>
          <a:ln w="28575">
            <a:solidFill>
              <a:srgbClr val="FF4D2E"/>
            </a:solidFill>
            <a:prstDash val="solid"/>
            <a:tailEnd type="triangle"/>
          </a:ln>
        </p:spPr>
      </p:sp>
      <p:sp>
        <p:nvSpPr>
          <p:cNvPr id="6" name="stage netlist"/>
          <p:cNvSpPr/>
          <p:nvPr/>
        </p:nvSpPr>
        <p:spPr>
          <a:xfrm>
            <a:off x="1517904" y="1828800"/>
            <a:ext cx="804672" cy="914400"/>
          </a:xfrm>
          <a:prstGeom prst="roundRect">
            <a:avLst>
              <a:gd name="adj" fmla="val 9091"/>
            </a:avLst>
          </a:prstGeom>
          <a:solidFill>
            <a:srgbClr val="E1F0ED"/>
          </a:solidFill>
          <a:ln w="12700">
            <a:solidFill>
              <a:srgbClr val="008F7A"/>
            </a:solidFill>
            <a:prstDash val="solid"/>
          </a:ln>
        </p:spPr>
      </p:sp>
      <p:sp>
        <p:nvSpPr>
          <p:cNvPr id="7" name="Text 5"/>
          <p:cNvSpPr txBox="1"/>
          <p:nvPr/>
        </p:nvSpPr>
        <p:spPr>
          <a:xfrm>
            <a:off x="1517904" y="1828800"/>
            <a:ext cx="804672" cy="914400"/>
          </a:xfrm>
          <a:prstGeom prst="rect">
            <a:avLst/>
          </a:prstGeom>
          <a:noFill/>
          <a:ln/>
        </p:spPr>
        <p:txBody>
          <a:bodyPr wrap="square" lIns="12700" tIns="12700" rIns="12700" bIns="1270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netlist</a:t>
            </a:r>
            <a:endParaRPr lang="en-US" sz="1200" dirty="0"/>
          </a:p>
        </p:txBody>
      </p:sp>
      <p:sp>
        <p:nvSpPr>
          <p:cNvPr id="8" name="flow arrow"/>
          <p:cNvSpPr/>
          <p:nvPr/>
        </p:nvSpPr>
        <p:spPr>
          <a:xfrm>
            <a:off x="2350008" y="2286000"/>
            <a:ext cx="201168" cy="0"/>
          </a:xfrm>
          <a:prstGeom prst="line">
            <a:avLst/>
          </a:prstGeom>
          <a:noFill/>
          <a:ln w="28575">
            <a:solidFill>
              <a:srgbClr val="FF4D2E"/>
            </a:solidFill>
            <a:prstDash val="solid"/>
            <a:tailEnd type="triangle"/>
          </a:ln>
        </p:spPr>
      </p:sp>
      <p:sp>
        <p:nvSpPr>
          <p:cNvPr id="9" name="stage floor- plan"/>
          <p:cNvSpPr/>
          <p:nvPr/>
        </p:nvSpPr>
        <p:spPr>
          <a:xfrm>
            <a:off x="2578608" y="1828800"/>
            <a:ext cx="804672" cy="914400"/>
          </a:xfrm>
          <a:prstGeom prst="roundRect">
            <a:avLst>
              <a:gd name="adj" fmla="val 9091"/>
            </a:avLst>
          </a:prstGeom>
          <a:solidFill>
            <a:srgbClr val="E1F0ED"/>
          </a:solidFill>
          <a:ln w="12700">
            <a:solidFill>
              <a:srgbClr val="008F7A"/>
            </a:solidFill>
            <a:prstDash val="solid"/>
          </a:ln>
        </p:spPr>
      </p:sp>
      <p:sp>
        <p:nvSpPr>
          <p:cNvPr id="10" name="Text 8"/>
          <p:cNvSpPr txBox="1"/>
          <p:nvPr/>
        </p:nvSpPr>
        <p:spPr>
          <a:xfrm>
            <a:off x="2578608" y="1828800"/>
            <a:ext cx="804672" cy="914400"/>
          </a:xfrm>
          <a:prstGeom prst="rect">
            <a:avLst/>
          </a:prstGeom>
          <a:noFill/>
          <a:ln/>
        </p:spPr>
        <p:txBody>
          <a:bodyPr wrap="square" lIns="12700" tIns="12700" rIns="12700" bIns="1270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floor-</a:t>
            </a:r>
            <a:endParaRPr lang="en-US" sz="1200" dirty="0"/>
          </a:p>
          <a:p>
            <a:pPr algn="ctr" indent="0" marL="0">
              <a:buNone/>
            </a:pPr>
            <a:r>
              <a:rPr lang="en-US" sz="1200" b="1" dirty="0">
                <a:solidFill>
                  <a:srgbClr val="12151C"/>
                </a:solidFill>
                <a:latin typeface="Arial" pitchFamily="34" charset="0"/>
                <a:ea typeface="Arial" pitchFamily="34" charset="-122"/>
                <a:cs typeface="Arial" pitchFamily="34" charset="-120"/>
              </a:rPr>
              <a:t>plan</a:t>
            </a:r>
            <a:endParaRPr lang="en-US" sz="1200" dirty="0"/>
          </a:p>
        </p:txBody>
      </p:sp>
      <p:sp>
        <p:nvSpPr>
          <p:cNvPr id="11" name="flow arrow"/>
          <p:cNvSpPr/>
          <p:nvPr/>
        </p:nvSpPr>
        <p:spPr>
          <a:xfrm>
            <a:off x="3410712" y="2286000"/>
            <a:ext cx="201168" cy="0"/>
          </a:xfrm>
          <a:prstGeom prst="line">
            <a:avLst/>
          </a:prstGeom>
          <a:noFill/>
          <a:ln w="28575">
            <a:solidFill>
              <a:srgbClr val="FF4D2E"/>
            </a:solidFill>
            <a:prstDash val="solid"/>
            <a:tailEnd type="triangle"/>
          </a:ln>
        </p:spPr>
      </p:sp>
      <p:sp>
        <p:nvSpPr>
          <p:cNvPr id="12" name="stage placed"/>
          <p:cNvSpPr/>
          <p:nvPr/>
        </p:nvSpPr>
        <p:spPr>
          <a:xfrm>
            <a:off x="3639312" y="1828800"/>
            <a:ext cx="804672" cy="914400"/>
          </a:xfrm>
          <a:prstGeom prst="roundRect">
            <a:avLst>
              <a:gd name="adj" fmla="val 9091"/>
            </a:avLst>
          </a:prstGeom>
          <a:solidFill>
            <a:srgbClr val="E1F0ED"/>
          </a:solidFill>
          <a:ln w="12700">
            <a:solidFill>
              <a:srgbClr val="008F7A"/>
            </a:solidFill>
            <a:prstDash val="solid"/>
          </a:ln>
        </p:spPr>
      </p:sp>
      <p:sp>
        <p:nvSpPr>
          <p:cNvPr id="13" name="Text 11"/>
          <p:cNvSpPr txBox="1"/>
          <p:nvPr/>
        </p:nvSpPr>
        <p:spPr>
          <a:xfrm>
            <a:off x="3639312" y="1828800"/>
            <a:ext cx="804672" cy="914400"/>
          </a:xfrm>
          <a:prstGeom prst="rect">
            <a:avLst/>
          </a:prstGeom>
          <a:noFill/>
          <a:ln/>
        </p:spPr>
        <p:txBody>
          <a:bodyPr wrap="square" lIns="12700" tIns="12700" rIns="12700" bIns="1270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placed</a:t>
            </a:r>
            <a:endParaRPr lang="en-US" sz="1200" dirty="0"/>
          </a:p>
        </p:txBody>
      </p:sp>
      <p:sp>
        <p:nvSpPr>
          <p:cNvPr id="14" name="flow arrow"/>
          <p:cNvSpPr/>
          <p:nvPr/>
        </p:nvSpPr>
        <p:spPr>
          <a:xfrm>
            <a:off x="4471416" y="2286000"/>
            <a:ext cx="201168" cy="0"/>
          </a:xfrm>
          <a:prstGeom prst="line">
            <a:avLst/>
          </a:prstGeom>
          <a:noFill/>
          <a:ln w="28575">
            <a:solidFill>
              <a:srgbClr val="FF4D2E"/>
            </a:solidFill>
            <a:prstDash val="solid"/>
            <a:tailEnd type="triangle"/>
          </a:ln>
        </p:spPr>
      </p:sp>
      <p:sp>
        <p:nvSpPr>
          <p:cNvPr id="15" name="stage clock tree"/>
          <p:cNvSpPr/>
          <p:nvPr/>
        </p:nvSpPr>
        <p:spPr>
          <a:xfrm>
            <a:off x="4700016" y="1828800"/>
            <a:ext cx="804672" cy="914400"/>
          </a:xfrm>
          <a:prstGeom prst="roundRect">
            <a:avLst>
              <a:gd name="adj" fmla="val 9091"/>
            </a:avLst>
          </a:prstGeom>
          <a:solidFill>
            <a:srgbClr val="E1F0ED"/>
          </a:solidFill>
          <a:ln w="12700">
            <a:solidFill>
              <a:srgbClr val="008F7A"/>
            </a:solidFill>
            <a:prstDash val="solid"/>
          </a:ln>
        </p:spPr>
      </p:sp>
      <p:sp>
        <p:nvSpPr>
          <p:cNvPr id="16" name="Text 14"/>
          <p:cNvSpPr txBox="1"/>
          <p:nvPr/>
        </p:nvSpPr>
        <p:spPr>
          <a:xfrm>
            <a:off x="4700016" y="1828800"/>
            <a:ext cx="804672" cy="914400"/>
          </a:xfrm>
          <a:prstGeom prst="rect">
            <a:avLst/>
          </a:prstGeom>
          <a:noFill/>
          <a:ln/>
        </p:spPr>
        <p:txBody>
          <a:bodyPr wrap="square" lIns="12700" tIns="12700" rIns="12700" bIns="1270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clock</a:t>
            </a:r>
            <a:endParaRPr lang="en-US" sz="1200" dirty="0"/>
          </a:p>
          <a:p>
            <a:pPr algn="ctr" indent="0" marL="0">
              <a:buNone/>
            </a:pPr>
            <a:r>
              <a:rPr lang="en-US" sz="1200" b="1" dirty="0">
                <a:solidFill>
                  <a:srgbClr val="12151C"/>
                </a:solidFill>
                <a:latin typeface="Arial" pitchFamily="34" charset="0"/>
                <a:ea typeface="Arial" pitchFamily="34" charset="-122"/>
                <a:cs typeface="Arial" pitchFamily="34" charset="-120"/>
              </a:rPr>
              <a:t>tree</a:t>
            </a:r>
            <a:endParaRPr lang="en-US" sz="1200" dirty="0"/>
          </a:p>
        </p:txBody>
      </p:sp>
      <p:sp>
        <p:nvSpPr>
          <p:cNvPr id="17" name="flow arrow"/>
          <p:cNvSpPr/>
          <p:nvPr/>
        </p:nvSpPr>
        <p:spPr>
          <a:xfrm>
            <a:off x="5532120" y="2286000"/>
            <a:ext cx="201168" cy="0"/>
          </a:xfrm>
          <a:prstGeom prst="line">
            <a:avLst/>
          </a:prstGeom>
          <a:noFill/>
          <a:ln w="28575">
            <a:solidFill>
              <a:srgbClr val="FF4D2E"/>
            </a:solidFill>
            <a:prstDash val="solid"/>
            <a:tailEnd type="triangle"/>
          </a:ln>
        </p:spPr>
      </p:sp>
      <p:sp>
        <p:nvSpPr>
          <p:cNvPr id="18" name="stage routed"/>
          <p:cNvSpPr/>
          <p:nvPr/>
        </p:nvSpPr>
        <p:spPr>
          <a:xfrm>
            <a:off x="5760720" y="1828800"/>
            <a:ext cx="804672" cy="914400"/>
          </a:xfrm>
          <a:prstGeom prst="roundRect">
            <a:avLst>
              <a:gd name="adj" fmla="val 9091"/>
            </a:avLst>
          </a:prstGeom>
          <a:solidFill>
            <a:srgbClr val="E1F0ED"/>
          </a:solidFill>
          <a:ln w="12700">
            <a:solidFill>
              <a:srgbClr val="008F7A"/>
            </a:solidFill>
            <a:prstDash val="solid"/>
          </a:ln>
        </p:spPr>
      </p:sp>
      <p:sp>
        <p:nvSpPr>
          <p:cNvPr id="19" name="Text 17"/>
          <p:cNvSpPr txBox="1"/>
          <p:nvPr/>
        </p:nvSpPr>
        <p:spPr>
          <a:xfrm>
            <a:off x="5760720" y="1828800"/>
            <a:ext cx="804672" cy="914400"/>
          </a:xfrm>
          <a:prstGeom prst="rect">
            <a:avLst/>
          </a:prstGeom>
          <a:noFill/>
          <a:ln/>
        </p:spPr>
        <p:txBody>
          <a:bodyPr wrap="square" lIns="12700" tIns="12700" rIns="12700" bIns="1270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routed</a:t>
            </a:r>
            <a:endParaRPr lang="en-US" sz="1200" dirty="0"/>
          </a:p>
        </p:txBody>
      </p:sp>
      <p:sp>
        <p:nvSpPr>
          <p:cNvPr id="20" name="flow arrow"/>
          <p:cNvSpPr/>
          <p:nvPr/>
        </p:nvSpPr>
        <p:spPr>
          <a:xfrm>
            <a:off x="6592824" y="2286000"/>
            <a:ext cx="201168" cy="0"/>
          </a:xfrm>
          <a:prstGeom prst="line">
            <a:avLst/>
          </a:prstGeom>
          <a:noFill/>
          <a:ln w="28575">
            <a:solidFill>
              <a:srgbClr val="FF4D2E"/>
            </a:solidFill>
            <a:prstDash val="solid"/>
            <a:tailEnd type="triangle"/>
          </a:ln>
        </p:spPr>
      </p:sp>
      <p:sp>
        <p:nvSpPr>
          <p:cNvPr id="21" name="stage checked"/>
          <p:cNvSpPr/>
          <p:nvPr/>
        </p:nvSpPr>
        <p:spPr>
          <a:xfrm>
            <a:off x="6821424" y="1828800"/>
            <a:ext cx="804672" cy="914400"/>
          </a:xfrm>
          <a:prstGeom prst="roundRect">
            <a:avLst>
              <a:gd name="adj" fmla="val 9091"/>
            </a:avLst>
          </a:prstGeom>
          <a:solidFill>
            <a:srgbClr val="E1F0ED"/>
          </a:solidFill>
          <a:ln w="12700">
            <a:solidFill>
              <a:srgbClr val="008F7A"/>
            </a:solidFill>
            <a:prstDash val="solid"/>
          </a:ln>
        </p:spPr>
      </p:sp>
      <p:sp>
        <p:nvSpPr>
          <p:cNvPr id="22" name="Text 20"/>
          <p:cNvSpPr txBox="1"/>
          <p:nvPr/>
        </p:nvSpPr>
        <p:spPr>
          <a:xfrm>
            <a:off x="6821424" y="1828800"/>
            <a:ext cx="804672" cy="914400"/>
          </a:xfrm>
          <a:prstGeom prst="rect">
            <a:avLst/>
          </a:prstGeom>
          <a:noFill/>
          <a:ln/>
        </p:spPr>
        <p:txBody>
          <a:bodyPr wrap="square" lIns="12700" tIns="12700" rIns="12700" bIns="1270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checked</a:t>
            </a:r>
            <a:endParaRPr lang="en-US" sz="1200" dirty="0"/>
          </a:p>
        </p:txBody>
      </p:sp>
      <p:sp>
        <p:nvSpPr>
          <p:cNvPr id="23" name="flow arrow"/>
          <p:cNvSpPr/>
          <p:nvPr/>
        </p:nvSpPr>
        <p:spPr>
          <a:xfrm>
            <a:off x="7653528" y="2286000"/>
            <a:ext cx="201168" cy="0"/>
          </a:xfrm>
          <a:prstGeom prst="line">
            <a:avLst/>
          </a:prstGeom>
          <a:noFill/>
          <a:ln w="28575">
            <a:solidFill>
              <a:srgbClr val="FF4D2E"/>
            </a:solidFill>
            <a:prstDash val="solid"/>
            <a:tailEnd type="triangle"/>
          </a:ln>
        </p:spPr>
      </p:sp>
      <p:sp>
        <p:nvSpPr>
          <p:cNvPr id="24" name="stage GDSII"/>
          <p:cNvSpPr/>
          <p:nvPr/>
        </p:nvSpPr>
        <p:spPr>
          <a:xfrm>
            <a:off x="7882128" y="1828800"/>
            <a:ext cx="804672" cy="914400"/>
          </a:xfrm>
          <a:prstGeom prst="roundRect">
            <a:avLst>
              <a:gd name="adj" fmla="val 9091"/>
            </a:avLst>
          </a:prstGeom>
          <a:solidFill>
            <a:srgbClr val="071A36"/>
          </a:solidFill>
          <a:ln w="12700">
            <a:solidFill>
              <a:srgbClr val="071A36"/>
            </a:solidFill>
            <a:prstDash val="solid"/>
          </a:ln>
        </p:spPr>
      </p:sp>
      <p:sp>
        <p:nvSpPr>
          <p:cNvPr id="25" name="Text 23"/>
          <p:cNvSpPr txBox="1"/>
          <p:nvPr/>
        </p:nvSpPr>
        <p:spPr>
          <a:xfrm>
            <a:off x="7882128" y="1828800"/>
            <a:ext cx="804672" cy="914400"/>
          </a:xfrm>
          <a:prstGeom prst="rect">
            <a:avLst/>
          </a:prstGeom>
          <a:noFill/>
          <a:ln/>
        </p:spPr>
        <p:txBody>
          <a:bodyPr wrap="square" lIns="12700" tIns="12700" rIns="12700" bIns="1270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GDSII</a:t>
            </a:r>
            <a:endParaRPr lang="en-US" sz="1200" dirty="0"/>
          </a:p>
        </p:txBody>
      </p:sp>
      <p:sp>
        <p:nvSpPr>
          <p:cNvPr id="26" name="Text 24"/>
          <p:cNvSpPr txBox="1"/>
          <p:nvPr/>
        </p:nvSpPr>
        <p:spPr>
          <a:xfrm>
            <a:off x="457200" y="3200400"/>
            <a:ext cx="8229600" cy="411480"/>
          </a:xfrm>
          <a:prstGeom prst="rect">
            <a:avLst/>
          </a:prstGeom>
          <a:noFill/>
          <a:ln/>
        </p:spPr>
        <p:txBody>
          <a:bodyPr wrap="square" lIns="0" tIns="0" rIns="0" bIns="0" rtlCol="0" anchor="t"/>
          <a:lstStyle/>
          <a:p>
            <a:pPr indent="0" marL="0">
              <a:buNone/>
            </a:pPr>
            <a:r>
              <a:rPr lang="en-US" sz="2200" b="1" dirty="0">
                <a:solidFill>
                  <a:srgbClr val="12151C"/>
                </a:solidFill>
                <a:latin typeface="Arial" pitchFamily="34" charset="0"/>
                <a:ea typeface="Arial" pitchFamily="34" charset="-122"/>
                <a:cs typeface="Arial" pitchFamily="34" charset="-120"/>
              </a:rPr>
              <a:t>Every step is open source.</a:t>
            </a:r>
            <a:endParaRPr lang="en-US" sz="2200" dirty="0"/>
          </a:p>
        </p:txBody>
      </p:sp>
      <p:sp>
        <p:nvSpPr>
          <p:cNvPr id="27" name="Text 25"/>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LibreLane runs it. The sky130 open PDK makes it possible.</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First, check that the RTL does what we mean</a:t>
            </a:r>
            <a:endParaRPr lang="en-US" sz="2800" dirty="0"/>
          </a:p>
        </p:txBody>
      </p:sp>
      <p:sp>
        <p:nvSpPr>
          <p:cNvPr id="3" name="pill IN"/>
          <p:cNvSpPr/>
          <p:nvPr/>
        </p:nvSpPr>
        <p:spPr>
          <a:xfrm>
            <a:off x="457200" y="1408176"/>
            <a:ext cx="77724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408176"/>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IN</a:t>
            </a:r>
            <a:endParaRPr lang="en-US" sz="1200" dirty="0"/>
          </a:p>
        </p:txBody>
      </p:sp>
      <p:sp>
        <p:nvSpPr>
          <p:cNvPr id="5" name="Text 3"/>
          <p:cNvSpPr txBox="1"/>
          <p:nvPr/>
        </p:nvSpPr>
        <p:spPr>
          <a:xfrm>
            <a:off x="1371600" y="1371600"/>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Verilog RTL and a testbench.</a:t>
            </a:r>
            <a:endParaRPr lang="en-US" sz="1800" dirty="0"/>
          </a:p>
        </p:txBody>
      </p:sp>
      <p:sp>
        <p:nvSpPr>
          <p:cNvPr id="6" name="pill OUT"/>
          <p:cNvSpPr/>
          <p:nvPr/>
        </p:nvSpPr>
        <p:spPr>
          <a:xfrm>
            <a:off x="457200" y="2176272"/>
            <a:ext cx="777240" cy="310896"/>
          </a:xfrm>
          <a:prstGeom prst="roundRect">
            <a:avLst>
              <a:gd name="adj" fmla="val 50000"/>
            </a:avLst>
          </a:prstGeom>
          <a:solidFill>
            <a:srgbClr val="E1F0ED"/>
          </a:solidFill>
          <a:ln w="6350">
            <a:solidFill>
              <a:srgbClr val="E1F0ED"/>
            </a:solidFill>
            <a:prstDash val="solid"/>
          </a:ln>
        </p:spPr>
      </p:sp>
      <p:sp>
        <p:nvSpPr>
          <p:cNvPr id="7" name="Text 5"/>
          <p:cNvSpPr txBox="1"/>
          <p:nvPr/>
        </p:nvSpPr>
        <p:spPr>
          <a:xfrm>
            <a:off x="457200" y="2176272"/>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OUT</a:t>
            </a:r>
            <a:endParaRPr lang="en-US" sz="1200" dirty="0"/>
          </a:p>
        </p:txBody>
      </p:sp>
      <p:sp>
        <p:nvSpPr>
          <p:cNvPr id="8" name="Text 6"/>
          <p:cNvSpPr txBox="1"/>
          <p:nvPr/>
        </p:nvSpPr>
        <p:spPr>
          <a:xfrm>
            <a:off x="1371600" y="2139696"/>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pass or fail verdict.</a:t>
            </a:r>
            <a:endParaRPr lang="en-US" sz="1800" dirty="0"/>
          </a:p>
        </p:txBody>
      </p:sp>
      <p:sp>
        <p:nvSpPr>
          <p:cNvPr id="9" name="pill TOOL"/>
          <p:cNvSpPr/>
          <p:nvPr/>
        </p:nvSpPr>
        <p:spPr>
          <a:xfrm>
            <a:off x="457200" y="2944368"/>
            <a:ext cx="777240" cy="310896"/>
          </a:xfrm>
          <a:prstGeom prst="roundRect">
            <a:avLst>
              <a:gd name="adj" fmla="val 50000"/>
            </a:avLst>
          </a:prstGeom>
          <a:solidFill>
            <a:srgbClr val="FF4D2E"/>
          </a:solidFill>
          <a:ln w="6350">
            <a:solidFill>
              <a:srgbClr val="FF4D2E"/>
            </a:solidFill>
            <a:prstDash val="solid"/>
          </a:ln>
        </p:spPr>
      </p:sp>
      <p:sp>
        <p:nvSpPr>
          <p:cNvPr id="10" name="Text 8"/>
          <p:cNvSpPr txBox="1"/>
          <p:nvPr/>
        </p:nvSpPr>
        <p:spPr>
          <a:xfrm>
            <a:off x="457200" y="2944368"/>
            <a:ext cx="777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TOOL</a:t>
            </a:r>
            <a:endParaRPr lang="en-US" sz="1200" dirty="0"/>
          </a:p>
        </p:txBody>
      </p:sp>
      <p:sp>
        <p:nvSpPr>
          <p:cNvPr id="11" name="Text 9"/>
          <p:cNvSpPr txBox="1"/>
          <p:nvPr/>
        </p:nvSpPr>
        <p:spPr>
          <a:xfrm>
            <a:off x="1371600" y="2907792"/>
            <a:ext cx="3154680" cy="73152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Verilator lints, Icarus Verilog simulates.</a:t>
            </a:r>
            <a:endParaRPr lang="en-US" sz="1800" dirty="0"/>
          </a:p>
        </p:txBody>
      </p:sp>
      <p:sp>
        <p:nvSpPr>
          <p:cNvPr id="12" name="pill TIME"/>
          <p:cNvSpPr/>
          <p:nvPr/>
        </p:nvSpPr>
        <p:spPr>
          <a:xfrm>
            <a:off x="457200" y="3712464"/>
            <a:ext cx="777240" cy="310896"/>
          </a:xfrm>
          <a:prstGeom prst="roundRect">
            <a:avLst>
              <a:gd name="adj" fmla="val 50000"/>
            </a:avLst>
          </a:prstGeom>
          <a:solidFill>
            <a:srgbClr val="E6E9ED"/>
          </a:solidFill>
          <a:ln w="6350">
            <a:solidFill>
              <a:srgbClr val="E6E9ED"/>
            </a:solidFill>
            <a:prstDash val="solid"/>
          </a:ln>
        </p:spPr>
      </p:sp>
      <p:sp>
        <p:nvSpPr>
          <p:cNvPr id="13" name="Text 11"/>
          <p:cNvSpPr txBox="1"/>
          <p:nvPr/>
        </p:nvSpPr>
        <p:spPr>
          <a:xfrm>
            <a:off x="457200" y="3712464"/>
            <a:ext cx="777240"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TIME</a:t>
            </a:r>
            <a:endParaRPr lang="en-US" sz="1200" dirty="0"/>
          </a:p>
        </p:txBody>
      </p:sp>
      <p:sp>
        <p:nvSpPr>
          <p:cNvPr id="14" name="Text 12"/>
          <p:cNvSpPr txBox="1"/>
          <p:nvPr/>
        </p:nvSpPr>
        <p:spPr>
          <a:xfrm>
            <a:off x="1371600" y="3675888"/>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Lint: 0.8 s</a:t>
            </a:r>
            <a:endParaRPr lang="en-US" sz="1800" dirty="0"/>
          </a:p>
        </p:txBody>
      </p:sp>
      <p:sp>
        <p:nvSpPr>
          <p:cNvPr id="15" name="card"/>
          <p:cNvSpPr/>
          <p:nvPr/>
        </p:nvSpPr>
        <p:spPr>
          <a:xfrm>
            <a:off x="4709160" y="1371600"/>
            <a:ext cx="3977640" cy="2606040"/>
          </a:xfrm>
          <a:prstGeom prst="roundRect">
            <a:avLst>
              <a:gd name="adj" fmla="val 2807"/>
            </a:avLst>
          </a:prstGeom>
          <a:solidFill>
            <a:srgbClr val="FFFFFF"/>
          </a:solidFill>
          <a:ln w="9525">
            <a:solidFill>
              <a:srgbClr val="D5D9DC"/>
            </a:solidFill>
            <a:prstDash val="solid"/>
          </a:ln>
        </p:spPr>
      </p:sp>
      <p:sp>
        <p:nvSpPr>
          <p:cNvPr id="16" name="block RTL"/>
          <p:cNvSpPr/>
          <p:nvPr/>
        </p:nvSpPr>
        <p:spPr>
          <a:xfrm>
            <a:off x="4892040" y="2194560"/>
            <a:ext cx="990600" cy="914400"/>
          </a:xfrm>
          <a:prstGeom prst="roundRect">
            <a:avLst>
              <a:gd name="adj" fmla="val 6000"/>
            </a:avLst>
          </a:prstGeom>
          <a:solidFill>
            <a:srgbClr val="E1F0ED"/>
          </a:solidFill>
          <a:ln w="12700">
            <a:solidFill>
              <a:srgbClr val="008F7A"/>
            </a:solidFill>
            <a:prstDash val="solid"/>
          </a:ln>
        </p:spPr>
      </p:sp>
      <p:sp>
        <p:nvSpPr>
          <p:cNvPr id="17" name="Text 15"/>
          <p:cNvSpPr txBox="1"/>
          <p:nvPr/>
        </p:nvSpPr>
        <p:spPr>
          <a:xfrm>
            <a:off x="4892040" y="2194560"/>
            <a:ext cx="990600" cy="91440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RTL</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(Verilog)</a:t>
            </a:r>
            <a:endParaRPr lang="en-US" sz="1400" dirty="0"/>
          </a:p>
        </p:txBody>
      </p:sp>
      <p:sp>
        <p:nvSpPr>
          <p:cNvPr id="18" name="arrow"/>
          <p:cNvSpPr/>
          <p:nvPr/>
        </p:nvSpPr>
        <p:spPr>
          <a:xfrm>
            <a:off x="5910072" y="2651760"/>
            <a:ext cx="265176" cy="0"/>
          </a:xfrm>
          <a:prstGeom prst="line">
            <a:avLst/>
          </a:prstGeom>
          <a:noFill/>
          <a:ln w="25400">
            <a:solidFill>
              <a:srgbClr val="FF4D2E"/>
            </a:solidFill>
            <a:prstDash val="solid"/>
            <a:tailEnd type="triangle"/>
          </a:ln>
        </p:spPr>
      </p:sp>
      <p:sp>
        <p:nvSpPr>
          <p:cNvPr id="19" name="block testbench"/>
          <p:cNvSpPr/>
          <p:nvPr/>
        </p:nvSpPr>
        <p:spPr>
          <a:xfrm>
            <a:off x="6202680" y="2194560"/>
            <a:ext cx="990600" cy="914400"/>
          </a:xfrm>
          <a:prstGeom prst="roundRect">
            <a:avLst>
              <a:gd name="adj" fmla="val 6000"/>
            </a:avLst>
          </a:prstGeom>
          <a:solidFill>
            <a:srgbClr val="E1F0ED"/>
          </a:solidFill>
          <a:ln w="12700">
            <a:solidFill>
              <a:srgbClr val="008F7A"/>
            </a:solidFill>
            <a:prstDash val="solid"/>
          </a:ln>
        </p:spPr>
      </p:sp>
      <p:sp>
        <p:nvSpPr>
          <p:cNvPr id="20" name="Text 18"/>
          <p:cNvSpPr txBox="1"/>
          <p:nvPr/>
        </p:nvSpPr>
        <p:spPr>
          <a:xfrm>
            <a:off x="6202680" y="2194560"/>
            <a:ext cx="990600" cy="91440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testbench</a:t>
            </a:r>
            <a:endParaRPr lang="en-US" sz="1400" dirty="0"/>
          </a:p>
        </p:txBody>
      </p:sp>
      <p:sp>
        <p:nvSpPr>
          <p:cNvPr id="21" name="arrow"/>
          <p:cNvSpPr/>
          <p:nvPr/>
        </p:nvSpPr>
        <p:spPr>
          <a:xfrm>
            <a:off x="7220712" y="2651760"/>
            <a:ext cx="265176" cy="0"/>
          </a:xfrm>
          <a:prstGeom prst="line">
            <a:avLst/>
          </a:prstGeom>
          <a:noFill/>
          <a:ln w="25400">
            <a:solidFill>
              <a:srgbClr val="FF4D2E"/>
            </a:solidFill>
            <a:prstDash val="solid"/>
            <a:tailEnd type="triangle"/>
          </a:ln>
        </p:spPr>
      </p:sp>
      <p:sp>
        <p:nvSpPr>
          <p:cNvPr id="22" name="block PASS /"/>
          <p:cNvSpPr/>
          <p:nvPr/>
        </p:nvSpPr>
        <p:spPr>
          <a:xfrm>
            <a:off x="7513320" y="2194560"/>
            <a:ext cx="990600" cy="914400"/>
          </a:xfrm>
          <a:prstGeom prst="roundRect">
            <a:avLst>
              <a:gd name="adj" fmla="val 6000"/>
            </a:avLst>
          </a:prstGeom>
          <a:solidFill>
            <a:srgbClr val="E1F0ED"/>
          </a:solidFill>
          <a:ln w="12700">
            <a:solidFill>
              <a:srgbClr val="008F7A"/>
            </a:solidFill>
            <a:prstDash val="solid"/>
          </a:ln>
        </p:spPr>
      </p:sp>
      <p:sp>
        <p:nvSpPr>
          <p:cNvPr id="23" name="Text 21"/>
          <p:cNvSpPr txBox="1"/>
          <p:nvPr/>
        </p:nvSpPr>
        <p:spPr>
          <a:xfrm>
            <a:off x="7513320" y="2194560"/>
            <a:ext cx="990600" cy="91440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PASS /</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FAIL</a:t>
            </a:r>
            <a:endParaRPr lang="en-US" sz="14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Synthesis turns RTL into library cells</a:t>
            </a:r>
            <a:endParaRPr lang="en-US" sz="2800" dirty="0"/>
          </a:p>
        </p:txBody>
      </p:sp>
      <p:sp>
        <p:nvSpPr>
          <p:cNvPr id="3" name="pill IN"/>
          <p:cNvSpPr/>
          <p:nvPr/>
        </p:nvSpPr>
        <p:spPr>
          <a:xfrm>
            <a:off x="457200" y="1408176"/>
            <a:ext cx="77724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408176"/>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IN</a:t>
            </a:r>
            <a:endParaRPr lang="en-US" sz="1200" dirty="0"/>
          </a:p>
        </p:txBody>
      </p:sp>
      <p:sp>
        <p:nvSpPr>
          <p:cNvPr id="5" name="Text 3"/>
          <p:cNvSpPr txBox="1"/>
          <p:nvPr/>
        </p:nvSpPr>
        <p:spPr>
          <a:xfrm>
            <a:off x="1371600" y="1371600"/>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RTL and the cell library.</a:t>
            </a:r>
            <a:endParaRPr lang="en-US" sz="1800" dirty="0"/>
          </a:p>
        </p:txBody>
      </p:sp>
      <p:sp>
        <p:nvSpPr>
          <p:cNvPr id="6" name="pill OUT"/>
          <p:cNvSpPr/>
          <p:nvPr/>
        </p:nvSpPr>
        <p:spPr>
          <a:xfrm>
            <a:off x="457200" y="2176272"/>
            <a:ext cx="777240" cy="310896"/>
          </a:xfrm>
          <a:prstGeom prst="roundRect">
            <a:avLst>
              <a:gd name="adj" fmla="val 50000"/>
            </a:avLst>
          </a:prstGeom>
          <a:solidFill>
            <a:srgbClr val="E1F0ED"/>
          </a:solidFill>
          <a:ln w="6350">
            <a:solidFill>
              <a:srgbClr val="E1F0ED"/>
            </a:solidFill>
            <a:prstDash val="solid"/>
          </a:ln>
        </p:spPr>
      </p:sp>
      <p:sp>
        <p:nvSpPr>
          <p:cNvPr id="7" name="Text 5"/>
          <p:cNvSpPr txBox="1"/>
          <p:nvPr/>
        </p:nvSpPr>
        <p:spPr>
          <a:xfrm>
            <a:off x="457200" y="2176272"/>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OUT</a:t>
            </a:r>
            <a:endParaRPr lang="en-US" sz="1200" dirty="0"/>
          </a:p>
        </p:txBody>
      </p:sp>
      <p:sp>
        <p:nvSpPr>
          <p:cNvPr id="8" name="Text 6"/>
          <p:cNvSpPr txBox="1"/>
          <p:nvPr/>
        </p:nvSpPr>
        <p:spPr>
          <a:xfrm>
            <a:off x="1371600" y="2139696"/>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netlist of sky130 standard cells.</a:t>
            </a:r>
            <a:endParaRPr lang="en-US" sz="1800" dirty="0"/>
          </a:p>
        </p:txBody>
      </p:sp>
      <p:sp>
        <p:nvSpPr>
          <p:cNvPr id="9" name="pill TOOL"/>
          <p:cNvSpPr/>
          <p:nvPr/>
        </p:nvSpPr>
        <p:spPr>
          <a:xfrm>
            <a:off x="457200" y="2944368"/>
            <a:ext cx="777240" cy="310896"/>
          </a:xfrm>
          <a:prstGeom prst="roundRect">
            <a:avLst>
              <a:gd name="adj" fmla="val 50000"/>
            </a:avLst>
          </a:prstGeom>
          <a:solidFill>
            <a:srgbClr val="FF4D2E"/>
          </a:solidFill>
          <a:ln w="6350">
            <a:solidFill>
              <a:srgbClr val="FF4D2E"/>
            </a:solidFill>
            <a:prstDash val="solid"/>
          </a:ln>
        </p:spPr>
      </p:sp>
      <p:sp>
        <p:nvSpPr>
          <p:cNvPr id="10" name="Text 8"/>
          <p:cNvSpPr txBox="1"/>
          <p:nvPr/>
        </p:nvSpPr>
        <p:spPr>
          <a:xfrm>
            <a:off x="457200" y="2944368"/>
            <a:ext cx="777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TOOL</a:t>
            </a:r>
            <a:endParaRPr lang="en-US" sz="1200" dirty="0"/>
          </a:p>
        </p:txBody>
      </p:sp>
      <p:sp>
        <p:nvSpPr>
          <p:cNvPr id="11" name="Text 9"/>
          <p:cNvSpPr txBox="1"/>
          <p:nvPr/>
        </p:nvSpPr>
        <p:spPr>
          <a:xfrm>
            <a:off x="1371600" y="2907792"/>
            <a:ext cx="3154680" cy="73152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Yosys, with ABC.</a:t>
            </a:r>
            <a:endParaRPr lang="en-US" sz="1800" dirty="0"/>
          </a:p>
        </p:txBody>
      </p:sp>
      <p:sp>
        <p:nvSpPr>
          <p:cNvPr id="12" name="pill TIME"/>
          <p:cNvSpPr/>
          <p:nvPr/>
        </p:nvSpPr>
        <p:spPr>
          <a:xfrm>
            <a:off x="457200" y="3712464"/>
            <a:ext cx="777240" cy="310896"/>
          </a:xfrm>
          <a:prstGeom prst="roundRect">
            <a:avLst>
              <a:gd name="adj" fmla="val 50000"/>
            </a:avLst>
          </a:prstGeom>
          <a:solidFill>
            <a:srgbClr val="E6E9ED"/>
          </a:solidFill>
          <a:ln w="6350">
            <a:solidFill>
              <a:srgbClr val="E6E9ED"/>
            </a:solidFill>
            <a:prstDash val="solid"/>
          </a:ln>
        </p:spPr>
      </p:sp>
      <p:sp>
        <p:nvSpPr>
          <p:cNvPr id="13" name="Text 11"/>
          <p:cNvSpPr txBox="1"/>
          <p:nvPr/>
        </p:nvSpPr>
        <p:spPr>
          <a:xfrm>
            <a:off x="457200" y="3712464"/>
            <a:ext cx="777240"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TIME</a:t>
            </a:r>
            <a:endParaRPr lang="en-US" sz="1200" dirty="0"/>
          </a:p>
        </p:txBody>
      </p:sp>
      <p:sp>
        <p:nvSpPr>
          <p:cNvPr id="14" name="Text 12"/>
          <p:cNvSpPr txBox="1"/>
          <p:nvPr/>
        </p:nvSpPr>
        <p:spPr>
          <a:xfrm>
            <a:off x="1371600" y="3675888"/>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Synthesis step: 6.7 s</a:t>
            </a:r>
            <a:endParaRPr lang="en-US" sz="1800" dirty="0"/>
          </a:p>
        </p:txBody>
      </p:sp>
      <p:sp>
        <p:nvSpPr>
          <p:cNvPr id="15" name="card"/>
          <p:cNvSpPr/>
          <p:nvPr/>
        </p:nvSpPr>
        <p:spPr>
          <a:xfrm>
            <a:off x="4709160" y="1371600"/>
            <a:ext cx="3977640" cy="2606040"/>
          </a:xfrm>
          <a:prstGeom prst="roundRect">
            <a:avLst>
              <a:gd name="adj" fmla="val 2807"/>
            </a:avLst>
          </a:prstGeom>
          <a:solidFill>
            <a:srgbClr val="FFFFFF"/>
          </a:solidFill>
          <a:ln w="9525">
            <a:solidFill>
              <a:srgbClr val="D5D9DC"/>
            </a:solidFill>
            <a:prstDash val="solid"/>
          </a:ln>
        </p:spPr>
      </p:sp>
      <p:sp>
        <p:nvSpPr>
          <p:cNvPr id="16" name="Text 14"/>
          <p:cNvSpPr txBox="1"/>
          <p:nvPr/>
        </p:nvSpPr>
        <p:spPr>
          <a:xfrm>
            <a:off x="4937760" y="1645920"/>
            <a:ext cx="3520440" cy="411480"/>
          </a:xfrm>
          <a:prstGeom prst="rect">
            <a:avLst/>
          </a:prstGeom>
          <a:noFill/>
          <a:ln/>
        </p:spPr>
        <p:txBody>
          <a:bodyPr wrap="square" lIns="0" tIns="0" rIns="0" bIns="0" rtlCol="0" anchor="ctr"/>
          <a:lstStyle/>
          <a:p>
            <a:pPr algn="ctr" indent="0" marL="0">
              <a:buNone/>
            </a:pPr>
            <a:r>
              <a:rPr lang="en-US" sz="1800" b="1" dirty="0">
                <a:solidFill>
                  <a:srgbClr val="12151C"/>
                </a:solidFill>
                <a:latin typeface="Arial" pitchFamily="34" charset="0"/>
                <a:ea typeface="Arial" pitchFamily="34" charset="-122"/>
                <a:cs typeface="Arial" pitchFamily="34" charset="-120"/>
              </a:rPr>
              <a:t>assign y = a &amp; b;</a:t>
            </a:r>
            <a:endParaRPr lang="en-US" sz="1800" dirty="0"/>
          </a:p>
        </p:txBody>
      </p:sp>
      <p:sp>
        <p:nvSpPr>
          <p:cNvPr id="17" name="Shape 15"/>
          <p:cNvSpPr/>
          <p:nvPr/>
        </p:nvSpPr>
        <p:spPr>
          <a:xfrm>
            <a:off x="6697980" y="2148840"/>
            <a:ext cx="0" cy="457200"/>
          </a:xfrm>
          <a:prstGeom prst="line">
            <a:avLst/>
          </a:prstGeom>
          <a:noFill/>
          <a:ln w="25400">
            <a:solidFill>
              <a:srgbClr val="FF4D2E"/>
            </a:solidFill>
            <a:prstDash val="solid"/>
            <a:tailEnd type="triangle"/>
          </a:ln>
        </p:spPr>
      </p:sp>
      <p:sp>
        <p:nvSpPr>
          <p:cNvPr id="18" name="Shape 16"/>
          <p:cNvSpPr/>
          <p:nvPr/>
        </p:nvSpPr>
        <p:spPr>
          <a:xfrm>
            <a:off x="5074920" y="2743200"/>
            <a:ext cx="3246120" cy="868680"/>
          </a:xfrm>
          <a:prstGeom prst="roundRect">
            <a:avLst>
              <a:gd name="adj" fmla="val 6316"/>
            </a:avLst>
          </a:prstGeom>
          <a:solidFill>
            <a:srgbClr val="E1F0ED"/>
          </a:solidFill>
          <a:ln w="12700">
            <a:solidFill>
              <a:srgbClr val="008F7A"/>
            </a:solidFill>
            <a:prstDash val="solid"/>
          </a:ln>
        </p:spPr>
      </p:sp>
      <p:sp>
        <p:nvSpPr>
          <p:cNvPr id="19" name="Text 17"/>
          <p:cNvSpPr txBox="1"/>
          <p:nvPr/>
        </p:nvSpPr>
        <p:spPr>
          <a:xfrm>
            <a:off x="5074920" y="2743200"/>
            <a:ext cx="3246120" cy="868680"/>
          </a:xfrm>
          <a:prstGeom prst="rect">
            <a:avLst/>
          </a:prstGeom>
          <a:noFill/>
          <a:ln/>
        </p:spPr>
        <p:txBody>
          <a:bodyPr wrap="square" lIns="0" tIns="0" rIns="0" bIns="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sky130_fd_sc_hd__and2_1</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(a standard cell)</a:t>
            </a:r>
            <a:endParaRPr lang="en-US" sz="14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Floorplanning draws the die and its power grid</a:t>
            </a:r>
            <a:endParaRPr lang="en-US" sz="2800" dirty="0"/>
          </a:p>
        </p:txBody>
      </p:sp>
      <p:sp>
        <p:nvSpPr>
          <p:cNvPr id="3" name="pill IN"/>
          <p:cNvSpPr/>
          <p:nvPr/>
        </p:nvSpPr>
        <p:spPr>
          <a:xfrm>
            <a:off x="457200" y="1408176"/>
            <a:ext cx="77724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408176"/>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IN</a:t>
            </a:r>
            <a:endParaRPr lang="en-US" sz="1200" dirty="0"/>
          </a:p>
        </p:txBody>
      </p:sp>
      <p:sp>
        <p:nvSpPr>
          <p:cNvPr id="5" name="Text 3"/>
          <p:cNvSpPr txBox="1"/>
          <p:nvPr/>
        </p:nvSpPr>
        <p:spPr>
          <a:xfrm>
            <a:off x="1371600" y="1371600"/>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The netlist.</a:t>
            </a:r>
            <a:endParaRPr lang="en-US" sz="1800" dirty="0"/>
          </a:p>
        </p:txBody>
      </p:sp>
      <p:sp>
        <p:nvSpPr>
          <p:cNvPr id="6" name="pill OUT"/>
          <p:cNvSpPr/>
          <p:nvPr/>
        </p:nvSpPr>
        <p:spPr>
          <a:xfrm>
            <a:off x="457200" y="2176272"/>
            <a:ext cx="777240" cy="310896"/>
          </a:xfrm>
          <a:prstGeom prst="roundRect">
            <a:avLst>
              <a:gd name="adj" fmla="val 50000"/>
            </a:avLst>
          </a:prstGeom>
          <a:solidFill>
            <a:srgbClr val="E1F0ED"/>
          </a:solidFill>
          <a:ln w="6350">
            <a:solidFill>
              <a:srgbClr val="E1F0ED"/>
            </a:solidFill>
            <a:prstDash val="solid"/>
          </a:ln>
        </p:spPr>
      </p:sp>
      <p:sp>
        <p:nvSpPr>
          <p:cNvPr id="7" name="Text 5"/>
          <p:cNvSpPr txBox="1"/>
          <p:nvPr/>
        </p:nvSpPr>
        <p:spPr>
          <a:xfrm>
            <a:off x="457200" y="2176272"/>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OUT</a:t>
            </a:r>
            <a:endParaRPr lang="en-US" sz="1200" dirty="0"/>
          </a:p>
        </p:txBody>
      </p:sp>
      <p:sp>
        <p:nvSpPr>
          <p:cNvPr id="8" name="Text 6"/>
          <p:cNvSpPr txBox="1"/>
          <p:nvPr/>
        </p:nvSpPr>
        <p:spPr>
          <a:xfrm>
            <a:off x="1371600" y="2139696"/>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die, rows for cells, pins, a power grid.</a:t>
            </a:r>
            <a:endParaRPr lang="en-US" sz="1800" dirty="0"/>
          </a:p>
        </p:txBody>
      </p:sp>
      <p:sp>
        <p:nvSpPr>
          <p:cNvPr id="9" name="pill TOOL"/>
          <p:cNvSpPr/>
          <p:nvPr/>
        </p:nvSpPr>
        <p:spPr>
          <a:xfrm>
            <a:off x="457200" y="2944368"/>
            <a:ext cx="777240" cy="310896"/>
          </a:xfrm>
          <a:prstGeom prst="roundRect">
            <a:avLst>
              <a:gd name="adj" fmla="val 50000"/>
            </a:avLst>
          </a:prstGeom>
          <a:solidFill>
            <a:srgbClr val="FF4D2E"/>
          </a:solidFill>
          <a:ln w="6350">
            <a:solidFill>
              <a:srgbClr val="FF4D2E"/>
            </a:solidFill>
            <a:prstDash val="solid"/>
          </a:ln>
        </p:spPr>
      </p:sp>
      <p:sp>
        <p:nvSpPr>
          <p:cNvPr id="10" name="Text 8"/>
          <p:cNvSpPr txBox="1"/>
          <p:nvPr/>
        </p:nvSpPr>
        <p:spPr>
          <a:xfrm>
            <a:off x="457200" y="2944368"/>
            <a:ext cx="777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TOOL</a:t>
            </a:r>
            <a:endParaRPr lang="en-US" sz="1200" dirty="0"/>
          </a:p>
        </p:txBody>
      </p:sp>
      <p:sp>
        <p:nvSpPr>
          <p:cNvPr id="11" name="Text 9"/>
          <p:cNvSpPr txBox="1"/>
          <p:nvPr/>
        </p:nvSpPr>
        <p:spPr>
          <a:xfrm>
            <a:off x="1371600" y="2907792"/>
            <a:ext cx="3154680" cy="73152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OpenROAD.</a:t>
            </a:r>
            <a:endParaRPr lang="en-US" sz="1800" dirty="0"/>
          </a:p>
        </p:txBody>
      </p:sp>
      <p:sp>
        <p:nvSpPr>
          <p:cNvPr id="12" name="pill TIME"/>
          <p:cNvSpPr/>
          <p:nvPr/>
        </p:nvSpPr>
        <p:spPr>
          <a:xfrm>
            <a:off x="457200" y="3712464"/>
            <a:ext cx="777240" cy="310896"/>
          </a:xfrm>
          <a:prstGeom prst="roundRect">
            <a:avLst>
              <a:gd name="adj" fmla="val 50000"/>
            </a:avLst>
          </a:prstGeom>
          <a:solidFill>
            <a:srgbClr val="E6E9ED"/>
          </a:solidFill>
          <a:ln w="6350">
            <a:solidFill>
              <a:srgbClr val="E6E9ED"/>
            </a:solidFill>
            <a:prstDash val="solid"/>
          </a:ln>
        </p:spPr>
      </p:sp>
      <p:sp>
        <p:nvSpPr>
          <p:cNvPr id="13" name="Text 11"/>
          <p:cNvSpPr txBox="1"/>
          <p:nvPr/>
        </p:nvSpPr>
        <p:spPr>
          <a:xfrm>
            <a:off x="457200" y="3712464"/>
            <a:ext cx="777240"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TIME</a:t>
            </a:r>
            <a:endParaRPr lang="en-US" sz="1200" dirty="0"/>
          </a:p>
        </p:txBody>
      </p:sp>
      <p:sp>
        <p:nvSpPr>
          <p:cNvPr id="14" name="Text 12"/>
          <p:cNvSpPr txBox="1"/>
          <p:nvPr/>
        </p:nvSpPr>
        <p:spPr>
          <a:xfrm>
            <a:off x="1371600" y="3675888"/>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Floorplan 0.6 s, power 0.6 s</a:t>
            </a:r>
            <a:endParaRPr lang="en-US" sz="1800" dirty="0"/>
          </a:p>
        </p:txBody>
      </p:sp>
      <p:sp>
        <p:nvSpPr>
          <p:cNvPr id="15" name="Shape 13"/>
          <p:cNvSpPr/>
          <p:nvPr/>
        </p:nvSpPr>
        <p:spPr>
          <a:xfrm>
            <a:off x="4709160" y="1371600"/>
            <a:ext cx="1943100" cy="2606040"/>
          </a:xfrm>
          <a:prstGeom prst="rect">
            <a:avLst/>
          </a:prstGeom>
          <a:solidFill>
            <a:srgbClr val="FFFFFF"/>
          </a:solidFill>
          <a:ln w="9525">
            <a:solidFill>
              <a:srgbClr val="D5D9DC"/>
            </a:solidFill>
            <a:prstDash val="solid"/>
          </a:ln>
        </p:spPr>
      </p:sp>
      <p:pic>
        <p:nvPicPr>
          <p:cNvPr id="16" name="Image 0" descr="Floorplanning draws the die and its power grid">    </p:cNvPr>
          <p:cNvPicPr>
            <a:picLocks noChangeAspect="1"/>
          </p:cNvPicPr>
          <p:nvPr/>
        </p:nvPicPr>
        <p:blipFill>
          <a:blip r:embed="rId1"/>
          <a:stretch>
            <a:fillRect/>
          </a:stretch>
        </p:blipFill>
        <p:spPr>
          <a:xfrm>
            <a:off x="4754880" y="1748790"/>
            <a:ext cx="1851660" cy="1851660"/>
          </a:xfrm>
          <a:prstGeom prst="rect">
            <a:avLst/>
          </a:prstGeom>
        </p:spPr>
      </p:pic>
      <p:sp>
        <p:nvSpPr>
          <p:cNvPr id="17" name="Shape 14"/>
          <p:cNvSpPr/>
          <p:nvPr/>
        </p:nvSpPr>
        <p:spPr>
          <a:xfrm>
            <a:off x="6743700" y="1371600"/>
            <a:ext cx="1943100" cy="2606040"/>
          </a:xfrm>
          <a:prstGeom prst="rect">
            <a:avLst/>
          </a:prstGeom>
          <a:solidFill>
            <a:srgbClr val="FFFFFF"/>
          </a:solidFill>
          <a:ln w="9525">
            <a:solidFill>
              <a:srgbClr val="D5D9DC"/>
            </a:solidFill>
            <a:prstDash val="solid"/>
          </a:ln>
        </p:spPr>
      </p:sp>
      <p:pic>
        <p:nvPicPr>
          <p:cNvPr id="18" name="Image 1" descr="Floorplanning draws the die and its power grid">    </p:cNvPr>
          <p:cNvPicPr>
            <a:picLocks noChangeAspect="1"/>
          </p:cNvPicPr>
          <p:nvPr/>
        </p:nvPicPr>
        <p:blipFill>
          <a:blip r:embed="rId2"/>
          <a:stretch>
            <a:fillRect/>
          </a:stretch>
        </p:blipFill>
        <p:spPr>
          <a:xfrm>
            <a:off x="6789420" y="1748790"/>
            <a:ext cx="1851660" cy="1851660"/>
          </a:xfrm>
          <a:prstGeom prst="rect">
            <a:avLst/>
          </a:prstGeom>
        </p:spPr>
      </p:pic>
      <p:sp>
        <p:nvSpPr>
          <p:cNvPr id="19" name="Text 15"/>
          <p:cNvSpPr txBox="1"/>
          <p:nvPr/>
        </p:nvSpPr>
        <p:spPr>
          <a:xfrm>
            <a:off x="4709160" y="4050792"/>
            <a:ext cx="3977640" cy="64008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Left: rows and pins. Right: power grid. Cell outlines (LEF), not full mask geometry.</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Placement gives every cell a position</a:t>
            </a:r>
            <a:endParaRPr lang="en-US" sz="2800" dirty="0"/>
          </a:p>
        </p:txBody>
      </p:sp>
      <p:sp>
        <p:nvSpPr>
          <p:cNvPr id="3" name="pill IN"/>
          <p:cNvSpPr/>
          <p:nvPr/>
        </p:nvSpPr>
        <p:spPr>
          <a:xfrm>
            <a:off x="457200" y="1408176"/>
            <a:ext cx="77724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408176"/>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IN</a:t>
            </a:r>
            <a:endParaRPr lang="en-US" sz="1200" dirty="0"/>
          </a:p>
        </p:txBody>
      </p:sp>
      <p:sp>
        <p:nvSpPr>
          <p:cNvPr id="5" name="Text 3"/>
          <p:cNvSpPr txBox="1"/>
          <p:nvPr/>
        </p:nvSpPr>
        <p:spPr>
          <a:xfrm>
            <a:off x="1371600" y="1371600"/>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The floorplanned netlist.</a:t>
            </a:r>
            <a:endParaRPr lang="en-US" sz="1800" dirty="0"/>
          </a:p>
        </p:txBody>
      </p:sp>
      <p:sp>
        <p:nvSpPr>
          <p:cNvPr id="6" name="pill OUT"/>
          <p:cNvSpPr/>
          <p:nvPr/>
        </p:nvSpPr>
        <p:spPr>
          <a:xfrm>
            <a:off x="457200" y="2176272"/>
            <a:ext cx="777240" cy="310896"/>
          </a:xfrm>
          <a:prstGeom prst="roundRect">
            <a:avLst>
              <a:gd name="adj" fmla="val 50000"/>
            </a:avLst>
          </a:prstGeom>
          <a:solidFill>
            <a:srgbClr val="E1F0ED"/>
          </a:solidFill>
          <a:ln w="6350">
            <a:solidFill>
              <a:srgbClr val="E1F0ED"/>
            </a:solidFill>
            <a:prstDash val="solid"/>
          </a:ln>
        </p:spPr>
      </p:sp>
      <p:sp>
        <p:nvSpPr>
          <p:cNvPr id="7" name="Text 5"/>
          <p:cNvSpPr txBox="1"/>
          <p:nvPr/>
        </p:nvSpPr>
        <p:spPr>
          <a:xfrm>
            <a:off x="457200" y="2176272"/>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OUT</a:t>
            </a:r>
            <a:endParaRPr lang="en-US" sz="1200" dirty="0"/>
          </a:p>
        </p:txBody>
      </p:sp>
      <p:sp>
        <p:nvSpPr>
          <p:cNvPr id="8" name="Text 6"/>
          <p:cNvSpPr txBox="1"/>
          <p:nvPr/>
        </p:nvSpPr>
        <p:spPr>
          <a:xfrm>
            <a:off x="1371600" y="2139696"/>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Every cell on a legal site.</a:t>
            </a:r>
            <a:endParaRPr lang="en-US" sz="1800" dirty="0"/>
          </a:p>
        </p:txBody>
      </p:sp>
      <p:sp>
        <p:nvSpPr>
          <p:cNvPr id="9" name="pill TOOL"/>
          <p:cNvSpPr/>
          <p:nvPr/>
        </p:nvSpPr>
        <p:spPr>
          <a:xfrm>
            <a:off x="457200" y="2944368"/>
            <a:ext cx="777240" cy="310896"/>
          </a:xfrm>
          <a:prstGeom prst="roundRect">
            <a:avLst>
              <a:gd name="adj" fmla="val 50000"/>
            </a:avLst>
          </a:prstGeom>
          <a:solidFill>
            <a:srgbClr val="FF4D2E"/>
          </a:solidFill>
          <a:ln w="6350">
            <a:solidFill>
              <a:srgbClr val="FF4D2E"/>
            </a:solidFill>
            <a:prstDash val="solid"/>
          </a:ln>
        </p:spPr>
      </p:sp>
      <p:sp>
        <p:nvSpPr>
          <p:cNvPr id="10" name="Text 8"/>
          <p:cNvSpPr txBox="1"/>
          <p:nvPr/>
        </p:nvSpPr>
        <p:spPr>
          <a:xfrm>
            <a:off x="457200" y="2944368"/>
            <a:ext cx="777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TOOL</a:t>
            </a:r>
            <a:endParaRPr lang="en-US" sz="1200" dirty="0"/>
          </a:p>
        </p:txBody>
      </p:sp>
      <p:sp>
        <p:nvSpPr>
          <p:cNvPr id="11" name="Text 9"/>
          <p:cNvSpPr txBox="1"/>
          <p:nvPr/>
        </p:nvSpPr>
        <p:spPr>
          <a:xfrm>
            <a:off x="1371600" y="2907792"/>
            <a:ext cx="3154680" cy="73152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OpenROAD: global, then detailed.</a:t>
            </a:r>
            <a:endParaRPr lang="en-US" sz="1800" dirty="0"/>
          </a:p>
        </p:txBody>
      </p:sp>
      <p:sp>
        <p:nvSpPr>
          <p:cNvPr id="12" name="pill TIME"/>
          <p:cNvSpPr/>
          <p:nvPr/>
        </p:nvSpPr>
        <p:spPr>
          <a:xfrm>
            <a:off x="457200" y="3712464"/>
            <a:ext cx="777240" cy="310896"/>
          </a:xfrm>
          <a:prstGeom prst="roundRect">
            <a:avLst>
              <a:gd name="adj" fmla="val 50000"/>
            </a:avLst>
          </a:prstGeom>
          <a:solidFill>
            <a:srgbClr val="E6E9ED"/>
          </a:solidFill>
          <a:ln w="6350">
            <a:solidFill>
              <a:srgbClr val="E6E9ED"/>
            </a:solidFill>
            <a:prstDash val="solid"/>
          </a:ln>
        </p:spPr>
      </p:sp>
      <p:sp>
        <p:nvSpPr>
          <p:cNvPr id="13" name="Text 11"/>
          <p:cNvSpPr txBox="1"/>
          <p:nvPr/>
        </p:nvSpPr>
        <p:spPr>
          <a:xfrm>
            <a:off x="457200" y="3712464"/>
            <a:ext cx="777240"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TIME</a:t>
            </a:r>
            <a:endParaRPr lang="en-US" sz="1200" dirty="0"/>
          </a:p>
        </p:txBody>
      </p:sp>
      <p:sp>
        <p:nvSpPr>
          <p:cNvPr id="14" name="Text 12"/>
          <p:cNvSpPr txBox="1"/>
          <p:nvPr/>
        </p:nvSpPr>
        <p:spPr>
          <a:xfrm>
            <a:off x="1371600" y="3675888"/>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Global 2.0 s, detailed 0.8 s</a:t>
            </a:r>
            <a:endParaRPr lang="en-US" sz="1800" dirty="0"/>
          </a:p>
        </p:txBody>
      </p:sp>
      <p:sp>
        <p:nvSpPr>
          <p:cNvPr id="15" name="Shape 13"/>
          <p:cNvSpPr/>
          <p:nvPr/>
        </p:nvSpPr>
        <p:spPr>
          <a:xfrm>
            <a:off x="4709160" y="1371600"/>
            <a:ext cx="1943100" cy="2606040"/>
          </a:xfrm>
          <a:prstGeom prst="rect">
            <a:avLst/>
          </a:prstGeom>
          <a:solidFill>
            <a:srgbClr val="FFFFFF"/>
          </a:solidFill>
          <a:ln w="9525">
            <a:solidFill>
              <a:srgbClr val="D5D9DC"/>
            </a:solidFill>
            <a:prstDash val="solid"/>
          </a:ln>
        </p:spPr>
      </p:sp>
      <p:pic>
        <p:nvPicPr>
          <p:cNvPr id="16" name="Image 0" descr="Placement gives every cell a position">    </p:cNvPr>
          <p:cNvPicPr>
            <a:picLocks noChangeAspect="1"/>
          </p:cNvPicPr>
          <p:nvPr/>
        </p:nvPicPr>
        <p:blipFill>
          <a:blip r:embed="rId1"/>
          <a:stretch>
            <a:fillRect/>
          </a:stretch>
        </p:blipFill>
        <p:spPr>
          <a:xfrm>
            <a:off x="4754880" y="1748790"/>
            <a:ext cx="1851660" cy="1851660"/>
          </a:xfrm>
          <a:prstGeom prst="rect">
            <a:avLst/>
          </a:prstGeom>
        </p:spPr>
      </p:pic>
      <p:sp>
        <p:nvSpPr>
          <p:cNvPr id="17" name="Shape 14"/>
          <p:cNvSpPr/>
          <p:nvPr/>
        </p:nvSpPr>
        <p:spPr>
          <a:xfrm>
            <a:off x="6743700" y="1371600"/>
            <a:ext cx="1943100" cy="2606040"/>
          </a:xfrm>
          <a:prstGeom prst="rect">
            <a:avLst/>
          </a:prstGeom>
          <a:solidFill>
            <a:srgbClr val="FFFFFF"/>
          </a:solidFill>
          <a:ln w="9525">
            <a:solidFill>
              <a:srgbClr val="D5D9DC"/>
            </a:solidFill>
            <a:prstDash val="solid"/>
          </a:ln>
        </p:spPr>
      </p:sp>
      <p:pic>
        <p:nvPicPr>
          <p:cNvPr id="18" name="Image 1" descr="Placement gives every cell a position">    </p:cNvPr>
          <p:cNvPicPr>
            <a:picLocks noChangeAspect="1"/>
          </p:cNvPicPr>
          <p:nvPr/>
        </p:nvPicPr>
        <p:blipFill>
          <a:blip r:embed="rId2"/>
          <a:stretch>
            <a:fillRect/>
          </a:stretch>
        </p:blipFill>
        <p:spPr>
          <a:xfrm>
            <a:off x="6789420" y="1748790"/>
            <a:ext cx="1851660" cy="1851660"/>
          </a:xfrm>
          <a:prstGeom prst="rect">
            <a:avLst/>
          </a:prstGeom>
        </p:spPr>
      </p:pic>
      <p:sp>
        <p:nvSpPr>
          <p:cNvPr id="19" name="Text 15"/>
          <p:cNvSpPr txBox="1"/>
          <p:nvPr/>
        </p:nvSpPr>
        <p:spPr>
          <a:xfrm>
            <a:off x="4709160" y="4050792"/>
            <a:ext cx="3977640" cy="64008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Left: rough. Right: legal. Cell outlines (LEF), not full mask geometry.</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The clock tree reaches every flip-flop</a:t>
            </a:r>
            <a:endParaRPr lang="en-US" sz="2800" dirty="0"/>
          </a:p>
        </p:txBody>
      </p:sp>
      <p:sp>
        <p:nvSpPr>
          <p:cNvPr id="3" name="pill IN"/>
          <p:cNvSpPr/>
          <p:nvPr/>
        </p:nvSpPr>
        <p:spPr>
          <a:xfrm>
            <a:off x="457200" y="1408176"/>
            <a:ext cx="77724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408176"/>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IN</a:t>
            </a:r>
            <a:endParaRPr lang="en-US" sz="1200" dirty="0"/>
          </a:p>
        </p:txBody>
      </p:sp>
      <p:sp>
        <p:nvSpPr>
          <p:cNvPr id="5" name="Text 3"/>
          <p:cNvSpPr txBox="1"/>
          <p:nvPr/>
        </p:nvSpPr>
        <p:spPr>
          <a:xfrm>
            <a:off x="1371600" y="1371600"/>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The placed design.</a:t>
            </a:r>
            <a:endParaRPr lang="en-US" sz="1800" dirty="0"/>
          </a:p>
        </p:txBody>
      </p:sp>
      <p:sp>
        <p:nvSpPr>
          <p:cNvPr id="6" name="pill OUT"/>
          <p:cNvSpPr/>
          <p:nvPr/>
        </p:nvSpPr>
        <p:spPr>
          <a:xfrm>
            <a:off x="457200" y="2176272"/>
            <a:ext cx="777240" cy="310896"/>
          </a:xfrm>
          <a:prstGeom prst="roundRect">
            <a:avLst>
              <a:gd name="adj" fmla="val 50000"/>
            </a:avLst>
          </a:prstGeom>
          <a:solidFill>
            <a:srgbClr val="E1F0ED"/>
          </a:solidFill>
          <a:ln w="6350">
            <a:solidFill>
              <a:srgbClr val="E1F0ED"/>
            </a:solidFill>
            <a:prstDash val="solid"/>
          </a:ln>
        </p:spPr>
      </p:sp>
      <p:sp>
        <p:nvSpPr>
          <p:cNvPr id="7" name="Text 5"/>
          <p:cNvSpPr txBox="1"/>
          <p:nvPr/>
        </p:nvSpPr>
        <p:spPr>
          <a:xfrm>
            <a:off x="457200" y="2176272"/>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OUT</a:t>
            </a:r>
            <a:endParaRPr lang="en-US" sz="1200" dirty="0"/>
          </a:p>
        </p:txBody>
      </p:sp>
      <p:sp>
        <p:nvSpPr>
          <p:cNvPr id="8" name="Text 6"/>
          <p:cNvSpPr txBox="1"/>
          <p:nvPr/>
        </p:nvSpPr>
        <p:spPr>
          <a:xfrm>
            <a:off x="1371600" y="2139696"/>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buffered clock network.</a:t>
            </a:r>
            <a:endParaRPr lang="en-US" sz="1800" dirty="0"/>
          </a:p>
        </p:txBody>
      </p:sp>
      <p:sp>
        <p:nvSpPr>
          <p:cNvPr id="9" name="pill TOOL"/>
          <p:cNvSpPr/>
          <p:nvPr/>
        </p:nvSpPr>
        <p:spPr>
          <a:xfrm>
            <a:off x="457200" y="2944368"/>
            <a:ext cx="777240" cy="310896"/>
          </a:xfrm>
          <a:prstGeom prst="roundRect">
            <a:avLst>
              <a:gd name="adj" fmla="val 50000"/>
            </a:avLst>
          </a:prstGeom>
          <a:solidFill>
            <a:srgbClr val="FF4D2E"/>
          </a:solidFill>
          <a:ln w="6350">
            <a:solidFill>
              <a:srgbClr val="FF4D2E"/>
            </a:solidFill>
            <a:prstDash val="solid"/>
          </a:ln>
        </p:spPr>
      </p:sp>
      <p:sp>
        <p:nvSpPr>
          <p:cNvPr id="10" name="Text 8"/>
          <p:cNvSpPr txBox="1"/>
          <p:nvPr/>
        </p:nvSpPr>
        <p:spPr>
          <a:xfrm>
            <a:off x="457200" y="2944368"/>
            <a:ext cx="777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TOOL</a:t>
            </a:r>
            <a:endParaRPr lang="en-US" sz="1200" dirty="0"/>
          </a:p>
        </p:txBody>
      </p:sp>
      <p:sp>
        <p:nvSpPr>
          <p:cNvPr id="11" name="Text 9"/>
          <p:cNvSpPr txBox="1"/>
          <p:nvPr/>
        </p:nvSpPr>
        <p:spPr>
          <a:xfrm>
            <a:off x="1371600" y="2907792"/>
            <a:ext cx="3154680" cy="73152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OpenROAD (TritonCTS).</a:t>
            </a:r>
            <a:endParaRPr lang="en-US" sz="1800" dirty="0"/>
          </a:p>
        </p:txBody>
      </p:sp>
      <p:sp>
        <p:nvSpPr>
          <p:cNvPr id="12" name="pill TIME"/>
          <p:cNvSpPr/>
          <p:nvPr/>
        </p:nvSpPr>
        <p:spPr>
          <a:xfrm>
            <a:off x="457200" y="3712464"/>
            <a:ext cx="777240" cy="310896"/>
          </a:xfrm>
          <a:prstGeom prst="roundRect">
            <a:avLst>
              <a:gd name="adj" fmla="val 50000"/>
            </a:avLst>
          </a:prstGeom>
          <a:solidFill>
            <a:srgbClr val="E6E9ED"/>
          </a:solidFill>
          <a:ln w="6350">
            <a:solidFill>
              <a:srgbClr val="E6E9ED"/>
            </a:solidFill>
            <a:prstDash val="solid"/>
          </a:ln>
        </p:spPr>
      </p:sp>
      <p:sp>
        <p:nvSpPr>
          <p:cNvPr id="13" name="Text 11"/>
          <p:cNvSpPr txBox="1"/>
          <p:nvPr/>
        </p:nvSpPr>
        <p:spPr>
          <a:xfrm>
            <a:off x="457200" y="3712464"/>
            <a:ext cx="777240"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TIME</a:t>
            </a:r>
            <a:endParaRPr lang="en-US" sz="1200" dirty="0"/>
          </a:p>
        </p:txBody>
      </p:sp>
      <p:sp>
        <p:nvSpPr>
          <p:cNvPr id="14" name="Text 12"/>
          <p:cNvSpPr txBox="1"/>
          <p:nvPr/>
        </p:nvSpPr>
        <p:spPr>
          <a:xfrm>
            <a:off x="1371600" y="3675888"/>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7.0 s</a:t>
            </a:r>
            <a:endParaRPr lang="en-US" sz="1800" dirty="0"/>
          </a:p>
        </p:txBody>
      </p:sp>
      <p:sp>
        <p:nvSpPr>
          <p:cNvPr id="15" name="Shape 13"/>
          <p:cNvSpPr/>
          <p:nvPr/>
        </p:nvSpPr>
        <p:spPr>
          <a:xfrm>
            <a:off x="4709160" y="1371600"/>
            <a:ext cx="3977640" cy="2606040"/>
          </a:xfrm>
          <a:prstGeom prst="rect">
            <a:avLst/>
          </a:prstGeom>
          <a:solidFill>
            <a:srgbClr val="FFFFFF"/>
          </a:solidFill>
          <a:ln w="9525">
            <a:solidFill>
              <a:srgbClr val="D5D9DC"/>
            </a:solidFill>
            <a:prstDash val="solid"/>
          </a:ln>
        </p:spPr>
      </p:sp>
      <p:pic>
        <p:nvPicPr>
          <p:cNvPr id="16" name="Image 0" descr="The clock tree reaches every flip-flop">    </p:cNvPr>
          <p:cNvPicPr>
            <a:picLocks noChangeAspect="1"/>
          </p:cNvPicPr>
          <p:nvPr/>
        </p:nvPicPr>
        <p:blipFill>
          <a:blip r:embed="rId1"/>
          <a:stretch>
            <a:fillRect/>
          </a:stretch>
        </p:blipFill>
        <p:spPr>
          <a:xfrm>
            <a:off x="5440680" y="1417320"/>
            <a:ext cx="2514600" cy="2514600"/>
          </a:xfrm>
          <a:prstGeom prst="rect">
            <a:avLst/>
          </a:prstGeom>
        </p:spPr>
      </p:pic>
      <p:sp>
        <p:nvSpPr>
          <p:cNvPr id="17" name="Text 14"/>
          <p:cNvSpPr txBox="1"/>
          <p:nvPr/>
        </p:nvSpPr>
        <p:spPr>
          <a:xfrm>
            <a:off x="4709160" y="4050792"/>
            <a:ext cx="3977640" cy="64008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Clock nets are straight lines between pins, not routed wires; layout dimmed.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Routing draws the wires, and takes the longest</a:t>
            </a:r>
            <a:endParaRPr lang="en-US" sz="2800" dirty="0"/>
          </a:p>
        </p:txBody>
      </p:sp>
      <p:sp>
        <p:nvSpPr>
          <p:cNvPr id="3" name="pill IN"/>
          <p:cNvSpPr/>
          <p:nvPr/>
        </p:nvSpPr>
        <p:spPr>
          <a:xfrm>
            <a:off x="457200" y="1408176"/>
            <a:ext cx="77724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408176"/>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IN</a:t>
            </a:r>
            <a:endParaRPr lang="en-US" sz="1200" dirty="0"/>
          </a:p>
        </p:txBody>
      </p:sp>
      <p:sp>
        <p:nvSpPr>
          <p:cNvPr id="5" name="Text 3"/>
          <p:cNvSpPr txBox="1"/>
          <p:nvPr/>
        </p:nvSpPr>
        <p:spPr>
          <a:xfrm>
            <a:off x="1371600" y="1371600"/>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Placed cells and the clock tree.</a:t>
            </a:r>
            <a:endParaRPr lang="en-US" sz="1800" dirty="0"/>
          </a:p>
        </p:txBody>
      </p:sp>
      <p:sp>
        <p:nvSpPr>
          <p:cNvPr id="6" name="pill OUT"/>
          <p:cNvSpPr/>
          <p:nvPr/>
        </p:nvSpPr>
        <p:spPr>
          <a:xfrm>
            <a:off x="457200" y="2176272"/>
            <a:ext cx="777240" cy="310896"/>
          </a:xfrm>
          <a:prstGeom prst="roundRect">
            <a:avLst>
              <a:gd name="adj" fmla="val 50000"/>
            </a:avLst>
          </a:prstGeom>
          <a:solidFill>
            <a:srgbClr val="E1F0ED"/>
          </a:solidFill>
          <a:ln w="6350">
            <a:solidFill>
              <a:srgbClr val="E1F0ED"/>
            </a:solidFill>
            <a:prstDash val="solid"/>
          </a:ln>
        </p:spPr>
      </p:sp>
      <p:sp>
        <p:nvSpPr>
          <p:cNvPr id="7" name="Text 5"/>
          <p:cNvSpPr txBox="1"/>
          <p:nvPr/>
        </p:nvSpPr>
        <p:spPr>
          <a:xfrm>
            <a:off x="457200" y="2176272"/>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OUT</a:t>
            </a:r>
            <a:endParaRPr lang="en-US" sz="1200" dirty="0"/>
          </a:p>
        </p:txBody>
      </p:sp>
      <p:sp>
        <p:nvSpPr>
          <p:cNvPr id="8" name="Text 6"/>
          <p:cNvSpPr txBox="1"/>
          <p:nvPr/>
        </p:nvSpPr>
        <p:spPr>
          <a:xfrm>
            <a:off x="1371600" y="2139696"/>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Every connection on metal layers.</a:t>
            </a:r>
            <a:endParaRPr lang="en-US" sz="1800" dirty="0"/>
          </a:p>
        </p:txBody>
      </p:sp>
      <p:sp>
        <p:nvSpPr>
          <p:cNvPr id="9" name="pill TOOL"/>
          <p:cNvSpPr/>
          <p:nvPr/>
        </p:nvSpPr>
        <p:spPr>
          <a:xfrm>
            <a:off x="457200" y="2944368"/>
            <a:ext cx="777240" cy="310896"/>
          </a:xfrm>
          <a:prstGeom prst="roundRect">
            <a:avLst>
              <a:gd name="adj" fmla="val 50000"/>
            </a:avLst>
          </a:prstGeom>
          <a:solidFill>
            <a:srgbClr val="FF4D2E"/>
          </a:solidFill>
          <a:ln w="6350">
            <a:solidFill>
              <a:srgbClr val="FF4D2E"/>
            </a:solidFill>
            <a:prstDash val="solid"/>
          </a:ln>
        </p:spPr>
      </p:sp>
      <p:sp>
        <p:nvSpPr>
          <p:cNvPr id="10" name="Text 8"/>
          <p:cNvSpPr txBox="1"/>
          <p:nvPr/>
        </p:nvSpPr>
        <p:spPr>
          <a:xfrm>
            <a:off x="457200" y="2944368"/>
            <a:ext cx="777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TOOL</a:t>
            </a:r>
            <a:endParaRPr lang="en-US" sz="1200" dirty="0"/>
          </a:p>
        </p:txBody>
      </p:sp>
      <p:sp>
        <p:nvSpPr>
          <p:cNvPr id="11" name="Text 9"/>
          <p:cNvSpPr txBox="1"/>
          <p:nvPr/>
        </p:nvSpPr>
        <p:spPr>
          <a:xfrm>
            <a:off x="1371600" y="2907792"/>
            <a:ext cx="3154680" cy="73152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OpenROAD: global, then detailed.</a:t>
            </a:r>
            <a:endParaRPr lang="en-US" sz="1800" dirty="0"/>
          </a:p>
        </p:txBody>
      </p:sp>
      <p:sp>
        <p:nvSpPr>
          <p:cNvPr id="12" name="pill TIME"/>
          <p:cNvSpPr/>
          <p:nvPr/>
        </p:nvSpPr>
        <p:spPr>
          <a:xfrm>
            <a:off x="457200" y="3712464"/>
            <a:ext cx="777240" cy="310896"/>
          </a:xfrm>
          <a:prstGeom prst="roundRect">
            <a:avLst>
              <a:gd name="adj" fmla="val 50000"/>
            </a:avLst>
          </a:prstGeom>
          <a:solidFill>
            <a:srgbClr val="E6E9ED"/>
          </a:solidFill>
          <a:ln w="6350">
            <a:solidFill>
              <a:srgbClr val="E6E9ED"/>
            </a:solidFill>
            <a:prstDash val="solid"/>
          </a:ln>
        </p:spPr>
      </p:sp>
      <p:sp>
        <p:nvSpPr>
          <p:cNvPr id="13" name="Text 11"/>
          <p:cNvSpPr txBox="1"/>
          <p:nvPr/>
        </p:nvSpPr>
        <p:spPr>
          <a:xfrm>
            <a:off x="457200" y="3712464"/>
            <a:ext cx="777240"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TIME</a:t>
            </a:r>
            <a:endParaRPr lang="en-US" sz="1200" dirty="0"/>
          </a:p>
        </p:txBody>
      </p:sp>
      <p:sp>
        <p:nvSpPr>
          <p:cNvPr id="14" name="Text 12"/>
          <p:cNvSpPr txBox="1"/>
          <p:nvPr/>
        </p:nvSpPr>
        <p:spPr>
          <a:xfrm>
            <a:off x="1371600" y="3675888"/>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250 s for detailed routing</a:t>
            </a:r>
            <a:endParaRPr lang="en-US" sz="1800" dirty="0"/>
          </a:p>
        </p:txBody>
      </p:sp>
      <p:sp>
        <p:nvSpPr>
          <p:cNvPr id="15" name="Shape 13"/>
          <p:cNvSpPr/>
          <p:nvPr/>
        </p:nvSpPr>
        <p:spPr>
          <a:xfrm>
            <a:off x="4709160" y="1371600"/>
            <a:ext cx="3977640" cy="2606040"/>
          </a:xfrm>
          <a:prstGeom prst="rect">
            <a:avLst/>
          </a:prstGeom>
          <a:solidFill>
            <a:srgbClr val="FFFFFF"/>
          </a:solidFill>
          <a:ln w="9525">
            <a:solidFill>
              <a:srgbClr val="D5D9DC"/>
            </a:solidFill>
            <a:prstDash val="solid"/>
          </a:ln>
        </p:spPr>
      </p:sp>
      <p:pic>
        <p:nvPicPr>
          <p:cNvPr id="16" name="Image 0" descr="Routing draws the wires, and takes the longest">    </p:cNvPr>
          <p:cNvPicPr>
            <a:picLocks noChangeAspect="1"/>
          </p:cNvPicPr>
          <p:nvPr/>
        </p:nvPicPr>
        <p:blipFill>
          <a:blip r:embed="rId1"/>
          <a:stretch>
            <a:fillRect/>
          </a:stretch>
        </p:blipFill>
        <p:spPr>
          <a:xfrm>
            <a:off x="5440680" y="1417320"/>
            <a:ext cx="2514600" cy="2514600"/>
          </a:xfrm>
          <a:prstGeom prst="rect">
            <a:avLst/>
          </a:prstGeom>
        </p:spPr>
      </p:pic>
      <p:sp>
        <p:nvSpPr>
          <p:cNvPr id="17" name="Text 14"/>
          <p:cNvSpPr txBox="1"/>
          <p:nvPr/>
        </p:nvSpPr>
        <p:spPr>
          <a:xfrm>
            <a:off x="4709160" y="4050792"/>
            <a:ext cx="3977640" cy="64008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Real routed wires; the cells are drawn as outlines (LEF).</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Timing is checked at every corner</a:t>
            </a:r>
            <a:endParaRPr lang="en-US" sz="2800" dirty="0"/>
          </a:p>
        </p:txBody>
      </p:sp>
      <p:sp>
        <p:nvSpPr>
          <p:cNvPr id="3" name="pill IN"/>
          <p:cNvSpPr/>
          <p:nvPr/>
        </p:nvSpPr>
        <p:spPr>
          <a:xfrm>
            <a:off x="457200" y="1408176"/>
            <a:ext cx="77724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408176"/>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IN</a:t>
            </a:r>
            <a:endParaRPr lang="en-US" sz="1200" dirty="0"/>
          </a:p>
        </p:txBody>
      </p:sp>
      <p:sp>
        <p:nvSpPr>
          <p:cNvPr id="5" name="Text 3"/>
          <p:cNvSpPr txBox="1"/>
          <p:nvPr/>
        </p:nvSpPr>
        <p:spPr>
          <a:xfrm>
            <a:off x="1371600" y="1371600"/>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The routed design.</a:t>
            </a:r>
            <a:endParaRPr lang="en-US" sz="1800" dirty="0"/>
          </a:p>
        </p:txBody>
      </p:sp>
      <p:sp>
        <p:nvSpPr>
          <p:cNvPr id="6" name="pill OUT"/>
          <p:cNvSpPr/>
          <p:nvPr/>
        </p:nvSpPr>
        <p:spPr>
          <a:xfrm>
            <a:off x="457200" y="2176272"/>
            <a:ext cx="777240" cy="310896"/>
          </a:xfrm>
          <a:prstGeom prst="roundRect">
            <a:avLst>
              <a:gd name="adj" fmla="val 50000"/>
            </a:avLst>
          </a:prstGeom>
          <a:solidFill>
            <a:srgbClr val="E1F0ED"/>
          </a:solidFill>
          <a:ln w="6350">
            <a:solidFill>
              <a:srgbClr val="E1F0ED"/>
            </a:solidFill>
            <a:prstDash val="solid"/>
          </a:ln>
        </p:spPr>
      </p:sp>
      <p:sp>
        <p:nvSpPr>
          <p:cNvPr id="7" name="Text 5"/>
          <p:cNvSpPr txBox="1"/>
          <p:nvPr/>
        </p:nvSpPr>
        <p:spPr>
          <a:xfrm>
            <a:off x="457200" y="2176272"/>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OUT</a:t>
            </a:r>
            <a:endParaRPr lang="en-US" sz="1200" dirty="0"/>
          </a:p>
        </p:txBody>
      </p:sp>
      <p:sp>
        <p:nvSpPr>
          <p:cNvPr id="8" name="Text 6"/>
          <p:cNvSpPr txBox="1"/>
          <p:nvPr/>
        </p:nvSpPr>
        <p:spPr>
          <a:xfrm>
            <a:off x="1371600" y="2139696"/>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Setup and hold slack per corner.</a:t>
            </a:r>
            <a:endParaRPr lang="en-US" sz="1800" dirty="0"/>
          </a:p>
        </p:txBody>
      </p:sp>
      <p:sp>
        <p:nvSpPr>
          <p:cNvPr id="9" name="pill TOOL"/>
          <p:cNvSpPr/>
          <p:nvPr/>
        </p:nvSpPr>
        <p:spPr>
          <a:xfrm>
            <a:off x="457200" y="2944368"/>
            <a:ext cx="777240" cy="310896"/>
          </a:xfrm>
          <a:prstGeom prst="roundRect">
            <a:avLst>
              <a:gd name="adj" fmla="val 50000"/>
            </a:avLst>
          </a:prstGeom>
          <a:solidFill>
            <a:srgbClr val="FF4D2E"/>
          </a:solidFill>
          <a:ln w="6350">
            <a:solidFill>
              <a:srgbClr val="FF4D2E"/>
            </a:solidFill>
            <a:prstDash val="solid"/>
          </a:ln>
        </p:spPr>
      </p:sp>
      <p:sp>
        <p:nvSpPr>
          <p:cNvPr id="10" name="Text 8"/>
          <p:cNvSpPr txBox="1"/>
          <p:nvPr/>
        </p:nvSpPr>
        <p:spPr>
          <a:xfrm>
            <a:off x="457200" y="2944368"/>
            <a:ext cx="777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TOOL</a:t>
            </a:r>
            <a:endParaRPr lang="en-US" sz="1200" dirty="0"/>
          </a:p>
        </p:txBody>
      </p:sp>
      <p:sp>
        <p:nvSpPr>
          <p:cNvPr id="11" name="Text 9"/>
          <p:cNvSpPr txBox="1"/>
          <p:nvPr/>
        </p:nvSpPr>
        <p:spPr>
          <a:xfrm>
            <a:off x="1371600" y="2907792"/>
            <a:ext cx="3154680" cy="73152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OpenSTA, inside OpenROAD.</a:t>
            </a:r>
            <a:endParaRPr lang="en-US" sz="1800" dirty="0"/>
          </a:p>
        </p:txBody>
      </p:sp>
      <p:sp>
        <p:nvSpPr>
          <p:cNvPr id="12" name="pill TIME"/>
          <p:cNvSpPr/>
          <p:nvPr/>
        </p:nvSpPr>
        <p:spPr>
          <a:xfrm>
            <a:off x="457200" y="3712464"/>
            <a:ext cx="777240" cy="310896"/>
          </a:xfrm>
          <a:prstGeom prst="roundRect">
            <a:avLst>
              <a:gd name="adj" fmla="val 50000"/>
            </a:avLst>
          </a:prstGeom>
          <a:solidFill>
            <a:srgbClr val="E6E9ED"/>
          </a:solidFill>
          <a:ln w="6350">
            <a:solidFill>
              <a:srgbClr val="E6E9ED"/>
            </a:solidFill>
            <a:prstDash val="solid"/>
          </a:ln>
        </p:spPr>
      </p:sp>
      <p:sp>
        <p:nvSpPr>
          <p:cNvPr id="13" name="Text 11"/>
          <p:cNvSpPr txBox="1"/>
          <p:nvPr/>
        </p:nvSpPr>
        <p:spPr>
          <a:xfrm>
            <a:off x="457200" y="3712464"/>
            <a:ext cx="777240"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TIME</a:t>
            </a:r>
            <a:endParaRPr lang="en-US" sz="1200" dirty="0"/>
          </a:p>
        </p:txBody>
      </p:sp>
      <p:sp>
        <p:nvSpPr>
          <p:cNvPr id="14" name="Text 12"/>
          <p:cNvSpPr txBox="1"/>
          <p:nvPr/>
        </p:nvSpPr>
        <p:spPr>
          <a:xfrm>
            <a:off x="1371600" y="3675888"/>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OpenROAD in signoff: 13.6 s</a:t>
            </a:r>
            <a:endParaRPr lang="en-US" sz="1800" dirty="0"/>
          </a:p>
        </p:txBody>
      </p:sp>
      <p:sp>
        <p:nvSpPr>
          <p:cNvPr id="15" name="card"/>
          <p:cNvSpPr/>
          <p:nvPr/>
        </p:nvSpPr>
        <p:spPr>
          <a:xfrm>
            <a:off x="4709160" y="1371600"/>
            <a:ext cx="3977640" cy="804672"/>
          </a:xfrm>
          <a:prstGeom prst="roundRect">
            <a:avLst>
              <a:gd name="adj" fmla="val 9091"/>
            </a:avLst>
          </a:prstGeom>
          <a:solidFill>
            <a:srgbClr val="FFFFFF"/>
          </a:solidFill>
          <a:ln w="9525">
            <a:solidFill>
              <a:srgbClr val="D5D9DC"/>
            </a:solidFill>
            <a:prstDash val="solid"/>
          </a:ln>
        </p:spPr>
      </p:sp>
      <p:sp>
        <p:nvSpPr>
          <p:cNvPr id="16" name="Text 14"/>
          <p:cNvSpPr txBox="1"/>
          <p:nvPr/>
        </p:nvSpPr>
        <p:spPr>
          <a:xfrm>
            <a:off x="4892040" y="1444752"/>
            <a:ext cx="182880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slow corner</a:t>
            </a:r>
            <a:endParaRPr lang="en-US" sz="1800" dirty="0"/>
          </a:p>
        </p:txBody>
      </p:sp>
      <p:sp>
        <p:nvSpPr>
          <p:cNvPr id="17" name="Text 15"/>
          <p:cNvSpPr txBox="1"/>
          <p:nvPr/>
        </p:nvSpPr>
        <p:spPr>
          <a:xfrm>
            <a:off x="4892040" y="1828800"/>
            <a:ext cx="182880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100 °C, 1.60 V</a:t>
            </a:r>
            <a:endParaRPr lang="en-US" sz="1400" dirty="0"/>
          </a:p>
        </p:txBody>
      </p:sp>
      <p:sp>
        <p:nvSpPr>
          <p:cNvPr id="18" name="Text 16"/>
          <p:cNvSpPr txBox="1"/>
          <p:nvPr/>
        </p:nvSpPr>
        <p:spPr>
          <a:xfrm>
            <a:off x="6537960" y="1444752"/>
            <a:ext cx="1965960" cy="658368"/>
          </a:xfrm>
          <a:prstGeom prst="rect">
            <a:avLst/>
          </a:prstGeom>
          <a:noFill/>
          <a:ln/>
        </p:spPr>
        <p:txBody>
          <a:bodyPr wrap="square" lIns="0" tIns="0" rIns="0" bIns="0" rtlCol="0" anchor="ctr"/>
          <a:lstStyle/>
          <a:p>
            <a:pPr algn="r" indent="0" marL="0">
              <a:buNone/>
            </a:pPr>
            <a:r>
              <a:rPr lang="en-US" sz="2400" b="1" dirty="0">
                <a:solidFill>
                  <a:srgbClr val="008F7A"/>
                </a:solidFill>
                <a:latin typeface="Arial" pitchFamily="34" charset="0"/>
                <a:ea typeface="Arial" pitchFamily="34" charset="-122"/>
                <a:cs typeface="Arial" pitchFamily="34" charset="-120"/>
              </a:rPr>
              <a:t>+11.62 ns</a:t>
            </a:r>
            <a:endParaRPr lang="en-US" sz="2400" dirty="0"/>
          </a:p>
        </p:txBody>
      </p:sp>
      <p:sp>
        <p:nvSpPr>
          <p:cNvPr id="19" name="card"/>
          <p:cNvSpPr/>
          <p:nvPr/>
        </p:nvSpPr>
        <p:spPr>
          <a:xfrm>
            <a:off x="4709160" y="2258568"/>
            <a:ext cx="3977640" cy="804672"/>
          </a:xfrm>
          <a:prstGeom prst="roundRect">
            <a:avLst>
              <a:gd name="adj" fmla="val 9091"/>
            </a:avLst>
          </a:prstGeom>
          <a:solidFill>
            <a:srgbClr val="FFFFFF"/>
          </a:solidFill>
          <a:ln w="9525">
            <a:solidFill>
              <a:srgbClr val="D5D9DC"/>
            </a:solidFill>
            <a:prstDash val="solid"/>
          </a:ln>
        </p:spPr>
      </p:sp>
      <p:sp>
        <p:nvSpPr>
          <p:cNvPr id="20" name="Text 18"/>
          <p:cNvSpPr txBox="1"/>
          <p:nvPr/>
        </p:nvSpPr>
        <p:spPr>
          <a:xfrm>
            <a:off x="4892040" y="2331720"/>
            <a:ext cx="182880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typical</a:t>
            </a:r>
            <a:endParaRPr lang="en-US" sz="1800" dirty="0"/>
          </a:p>
        </p:txBody>
      </p:sp>
      <p:sp>
        <p:nvSpPr>
          <p:cNvPr id="21" name="Text 19"/>
          <p:cNvSpPr txBox="1"/>
          <p:nvPr/>
        </p:nvSpPr>
        <p:spPr>
          <a:xfrm>
            <a:off x="4892040" y="2715768"/>
            <a:ext cx="182880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25 °C, 1.80 V</a:t>
            </a:r>
            <a:endParaRPr lang="en-US" sz="1400" dirty="0"/>
          </a:p>
        </p:txBody>
      </p:sp>
      <p:sp>
        <p:nvSpPr>
          <p:cNvPr id="22" name="Text 20"/>
          <p:cNvSpPr txBox="1"/>
          <p:nvPr/>
        </p:nvSpPr>
        <p:spPr>
          <a:xfrm>
            <a:off x="6537960" y="2331720"/>
            <a:ext cx="1965960" cy="658368"/>
          </a:xfrm>
          <a:prstGeom prst="rect">
            <a:avLst/>
          </a:prstGeom>
          <a:noFill/>
          <a:ln/>
        </p:spPr>
        <p:txBody>
          <a:bodyPr wrap="square" lIns="0" tIns="0" rIns="0" bIns="0" rtlCol="0" anchor="ctr"/>
          <a:lstStyle/>
          <a:p>
            <a:pPr algn="r" indent="0" marL="0">
              <a:buNone/>
            </a:pPr>
            <a:r>
              <a:rPr lang="en-US" sz="2400" b="1" dirty="0">
                <a:solidFill>
                  <a:srgbClr val="008F7A"/>
                </a:solidFill>
                <a:latin typeface="Arial" pitchFamily="34" charset="0"/>
                <a:ea typeface="Arial" pitchFamily="34" charset="-122"/>
                <a:cs typeface="Arial" pitchFamily="34" charset="-120"/>
              </a:rPr>
              <a:t>+16.41 ns</a:t>
            </a:r>
            <a:endParaRPr lang="en-US" sz="2400" dirty="0"/>
          </a:p>
        </p:txBody>
      </p:sp>
      <p:sp>
        <p:nvSpPr>
          <p:cNvPr id="23" name="card"/>
          <p:cNvSpPr/>
          <p:nvPr/>
        </p:nvSpPr>
        <p:spPr>
          <a:xfrm>
            <a:off x="4709160" y="3145536"/>
            <a:ext cx="3977640" cy="804672"/>
          </a:xfrm>
          <a:prstGeom prst="roundRect">
            <a:avLst>
              <a:gd name="adj" fmla="val 9091"/>
            </a:avLst>
          </a:prstGeom>
          <a:solidFill>
            <a:srgbClr val="FFFFFF"/>
          </a:solidFill>
          <a:ln w="9525">
            <a:solidFill>
              <a:srgbClr val="D5D9DC"/>
            </a:solidFill>
            <a:prstDash val="solid"/>
          </a:ln>
        </p:spPr>
      </p:sp>
      <p:sp>
        <p:nvSpPr>
          <p:cNvPr id="24" name="Text 22"/>
          <p:cNvSpPr txBox="1"/>
          <p:nvPr/>
        </p:nvSpPr>
        <p:spPr>
          <a:xfrm>
            <a:off x="4892040" y="3218688"/>
            <a:ext cx="182880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fast corner</a:t>
            </a:r>
            <a:endParaRPr lang="en-US" sz="1800" dirty="0"/>
          </a:p>
        </p:txBody>
      </p:sp>
      <p:sp>
        <p:nvSpPr>
          <p:cNvPr id="25" name="Text 23"/>
          <p:cNvSpPr txBox="1"/>
          <p:nvPr/>
        </p:nvSpPr>
        <p:spPr>
          <a:xfrm>
            <a:off x="4892040" y="3602736"/>
            <a:ext cx="182880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−40 °C, 1.95 V</a:t>
            </a:r>
            <a:endParaRPr lang="en-US" sz="1400" dirty="0"/>
          </a:p>
        </p:txBody>
      </p:sp>
      <p:sp>
        <p:nvSpPr>
          <p:cNvPr id="26" name="Text 24"/>
          <p:cNvSpPr txBox="1"/>
          <p:nvPr/>
        </p:nvSpPr>
        <p:spPr>
          <a:xfrm>
            <a:off x="6537960" y="3218688"/>
            <a:ext cx="1965960" cy="658368"/>
          </a:xfrm>
          <a:prstGeom prst="rect">
            <a:avLst/>
          </a:prstGeom>
          <a:noFill/>
          <a:ln/>
        </p:spPr>
        <p:txBody>
          <a:bodyPr wrap="square" lIns="0" tIns="0" rIns="0" bIns="0" rtlCol="0" anchor="ctr"/>
          <a:lstStyle/>
          <a:p>
            <a:pPr algn="r" indent="0" marL="0">
              <a:buNone/>
            </a:pPr>
            <a:r>
              <a:rPr lang="en-US" sz="2400" b="1" dirty="0">
                <a:solidFill>
                  <a:srgbClr val="008F7A"/>
                </a:solidFill>
                <a:latin typeface="Arial" pitchFamily="34" charset="0"/>
                <a:ea typeface="Arial" pitchFamily="34" charset="-122"/>
                <a:cs typeface="Arial" pitchFamily="34" charset="-120"/>
              </a:rPr>
              <a:t>+17.70 ns</a:t>
            </a:r>
            <a:endParaRPr lang="en-US" sz="24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Verification asks: is the layout legal and correct?</a:t>
            </a:r>
            <a:endParaRPr lang="en-US" sz="2800" dirty="0"/>
          </a:p>
        </p:txBody>
      </p:sp>
      <p:sp>
        <p:nvSpPr>
          <p:cNvPr id="3" name="pill IN"/>
          <p:cNvSpPr/>
          <p:nvPr/>
        </p:nvSpPr>
        <p:spPr>
          <a:xfrm>
            <a:off x="457200" y="1408176"/>
            <a:ext cx="77724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408176"/>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IN</a:t>
            </a:r>
            <a:endParaRPr lang="en-US" sz="1200" dirty="0"/>
          </a:p>
        </p:txBody>
      </p:sp>
      <p:sp>
        <p:nvSpPr>
          <p:cNvPr id="5" name="Text 3"/>
          <p:cNvSpPr txBox="1"/>
          <p:nvPr/>
        </p:nvSpPr>
        <p:spPr>
          <a:xfrm>
            <a:off x="1371600" y="1371600"/>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The finished layout.</a:t>
            </a:r>
            <a:endParaRPr lang="en-US" sz="1800" dirty="0"/>
          </a:p>
        </p:txBody>
      </p:sp>
      <p:sp>
        <p:nvSpPr>
          <p:cNvPr id="6" name="pill OUT"/>
          <p:cNvSpPr/>
          <p:nvPr/>
        </p:nvSpPr>
        <p:spPr>
          <a:xfrm>
            <a:off x="457200" y="2176272"/>
            <a:ext cx="777240" cy="310896"/>
          </a:xfrm>
          <a:prstGeom prst="roundRect">
            <a:avLst>
              <a:gd name="adj" fmla="val 50000"/>
            </a:avLst>
          </a:prstGeom>
          <a:solidFill>
            <a:srgbClr val="E1F0ED"/>
          </a:solidFill>
          <a:ln w="6350">
            <a:solidFill>
              <a:srgbClr val="E1F0ED"/>
            </a:solidFill>
            <a:prstDash val="solid"/>
          </a:ln>
        </p:spPr>
      </p:sp>
      <p:sp>
        <p:nvSpPr>
          <p:cNvPr id="7" name="Text 5"/>
          <p:cNvSpPr txBox="1"/>
          <p:nvPr/>
        </p:nvSpPr>
        <p:spPr>
          <a:xfrm>
            <a:off x="457200" y="2176272"/>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OUT</a:t>
            </a:r>
            <a:endParaRPr lang="en-US" sz="1200" dirty="0"/>
          </a:p>
        </p:txBody>
      </p:sp>
      <p:sp>
        <p:nvSpPr>
          <p:cNvPr id="8" name="Text 6"/>
          <p:cNvSpPr txBox="1"/>
          <p:nvPr/>
        </p:nvSpPr>
        <p:spPr>
          <a:xfrm>
            <a:off x="1371600" y="2139696"/>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Reports with zero errors.</a:t>
            </a:r>
            <a:endParaRPr lang="en-US" sz="1800" dirty="0"/>
          </a:p>
        </p:txBody>
      </p:sp>
      <p:sp>
        <p:nvSpPr>
          <p:cNvPr id="9" name="pill TOOL"/>
          <p:cNvSpPr/>
          <p:nvPr/>
        </p:nvSpPr>
        <p:spPr>
          <a:xfrm>
            <a:off x="457200" y="2944368"/>
            <a:ext cx="777240" cy="310896"/>
          </a:xfrm>
          <a:prstGeom prst="roundRect">
            <a:avLst>
              <a:gd name="adj" fmla="val 50000"/>
            </a:avLst>
          </a:prstGeom>
          <a:solidFill>
            <a:srgbClr val="FF4D2E"/>
          </a:solidFill>
          <a:ln w="6350">
            <a:solidFill>
              <a:srgbClr val="FF4D2E"/>
            </a:solidFill>
            <a:prstDash val="solid"/>
          </a:ln>
        </p:spPr>
      </p:sp>
      <p:sp>
        <p:nvSpPr>
          <p:cNvPr id="10" name="Text 8"/>
          <p:cNvSpPr txBox="1"/>
          <p:nvPr/>
        </p:nvSpPr>
        <p:spPr>
          <a:xfrm>
            <a:off x="457200" y="2944368"/>
            <a:ext cx="777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TOOL</a:t>
            </a:r>
            <a:endParaRPr lang="en-US" sz="1200" dirty="0"/>
          </a:p>
        </p:txBody>
      </p:sp>
      <p:sp>
        <p:nvSpPr>
          <p:cNvPr id="11" name="Text 9"/>
          <p:cNvSpPr txBox="1"/>
          <p:nvPr/>
        </p:nvSpPr>
        <p:spPr>
          <a:xfrm>
            <a:off x="1371600" y="2907792"/>
            <a:ext cx="3154680" cy="73152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Magic and KLayout (DRC), Netgen (LVS).</a:t>
            </a:r>
            <a:endParaRPr lang="en-US" sz="1800" dirty="0"/>
          </a:p>
        </p:txBody>
      </p:sp>
      <p:sp>
        <p:nvSpPr>
          <p:cNvPr id="12" name="pill TIME"/>
          <p:cNvSpPr/>
          <p:nvPr/>
        </p:nvSpPr>
        <p:spPr>
          <a:xfrm>
            <a:off x="457200" y="3712464"/>
            <a:ext cx="777240" cy="310896"/>
          </a:xfrm>
          <a:prstGeom prst="roundRect">
            <a:avLst>
              <a:gd name="adj" fmla="val 50000"/>
            </a:avLst>
          </a:prstGeom>
          <a:solidFill>
            <a:srgbClr val="E6E9ED"/>
          </a:solidFill>
          <a:ln w="6350">
            <a:solidFill>
              <a:srgbClr val="E6E9ED"/>
            </a:solidFill>
            <a:prstDash val="solid"/>
          </a:ln>
        </p:spPr>
      </p:sp>
      <p:sp>
        <p:nvSpPr>
          <p:cNvPr id="13" name="Text 11"/>
          <p:cNvSpPr txBox="1"/>
          <p:nvPr/>
        </p:nvSpPr>
        <p:spPr>
          <a:xfrm>
            <a:off x="457200" y="3712464"/>
            <a:ext cx="777240"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TIME</a:t>
            </a:r>
            <a:endParaRPr lang="en-US" sz="1200" dirty="0"/>
          </a:p>
        </p:txBody>
      </p:sp>
      <p:sp>
        <p:nvSpPr>
          <p:cNvPr id="14" name="Text 12"/>
          <p:cNvSpPr txBox="1"/>
          <p:nvPr/>
        </p:nvSpPr>
        <p:spPr>
          <a:xfrm>
            <a:off x="1371600" y="3675888"/>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Magic 47.4 s, KLayout 30.8 s, Netgen 1.4 s</a:t>
            </a:r>
            <a:endParaRPr lang="en-US" sz="1800" dirty="0"/>
          </a:p>
        </p:txBody>
      </p:sp>
      <p:sp>
        <p:nvSpPr>
          <p:cNvPr id="15" name="card"/>
          <p:cNvSpPr/>
          <p:nvPr/>
        </p:nvSpPr>
        <p:spPr>
          <a:xfrm>
            <a:off x="4709160" y="1371600"/>
            <a:ext cx="3977640" cy="585216"/>
          </a:xfrm>
          <a:prstGeom prst="roundRect">
            <a:avLst>
              <a:gd name="adj" fmla="val 12500"/>
            </a:avLst>
          </a:prstGeom>
          <a:solidFill>
            <a:srgbClr val="FFFFFF"/>
          </a:solidFill>
          <a:ln w="9525">
            <a:solidFill>
              <a:srgbClr val="D5D9DC"/>
            </a:solidFill>
            <a:prstDash val="solid"/>
          </a:ln>
        </p:spPr>
      </p:sp>
      <p:sp>
        <p:nvSpPr>
          <p:cNvPr id="16" name="Text 14"/>
          <p:cNvSpPr txBox="1"/>
          <p:nvPr/>
        </p:nvSpPr>
        <p:spPr>
          <a:xfrm>
            <a:off x="4892040" y="1371600"/>
            <a:ext cx="1828800" cy="585216"/>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Magic DRC</a:t>
            </a:r>
            <a:endParaRPr lang="en-US" sz="1800" dirty="0"/>
          </a:p>
        </p:txBody>
      </p:sp>
      <p:sp>
        <p:nvSpPr>
          <p:cNvPr id="17" name="Text 15"/>
          <p:cNvSpPr txBox="1"/>
          <p:nvPr/>
        </p:nvSpPr>
        <p:spPr>
          <a:xfrm>
            <a:off x="6720840" y="1371600"/>
            <a:ext cx="1828800" cy="585216"/>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design rules</a:t>
            </a:r>
            <a:endParaRPr lang="en-US" sz="1600" dirty="0"/>
          </a:p>
        </p:txBody>
      </p:sp>
      <p:sp>
        <p:nvSpPr>
          <p:cNvPr id="18" name="card"/>
          <p:cNvSpPr/>
          <p:nvPr/>
        </p:nvSpPr>
        <p:spPr>
          <a:xfrm>
            <a:off x="4709160" y="2029968"/>
            <a:ext cx="3977640" cy="585216"/>
          </a:xfrm>
          <a:prstGeom prst="roundRect">
            <a:avLst>
              <a:gd name="adj" fmla="val 12500"/>
            </a:avLst>
          </a:prstGeom>
          <a:solidFill>
            <a:srgbClr val="FFFFFF"/>
          </a:solidFill>
          <a:ln w="9525">
            <a:solidFill>
              <a:srgbClr val="D5D9DC"/>
            </a:solidFill>
            <a:prstDash val="solid"/>
          </a:ln>
        </p:spPr>
      </p:sp>
      <p:sp>
        <p:nvSpPr>
          <p:cNvPr id="19" name="Text 17"/>
          <p:cNvSpPr txBox="1"/>
          <p:nvPr/>
        </p:nvSpPr>
        <p:spPr>
          <a:xfrm>
            <a:off x="4892040" y="2029968"/>
            <a:ext cx="1828800" cy="585216"/>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KLayout DRC</a:t>
            </a:r>
            <a:endParaRPr lang="en-US" sz="1800" dirty="0"/>
          </a:p>
        </p:txBody>
      </p:sp>
      <p:sp>
        <p:nvSpPr>
          <p:cNvPr id="20" name="Text 18"/>
          <p:cNvSpPr txBox="1"/>
          <p:nvPr/>
        </p:nvSpPr>
        <p:spPr>
          <a:xfrm>
            <a:off x="6720840" y="2029968"/>
            <a:ext cx="1828800" cy="585216"/>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design rules</a:t>
            </a:r>
            <a:endParaRPr lang="en-US" sz="1600" dirty="0"/>
          </a:p>
        </p:txBody>
      </p:sp>
      <p:sp>
        <p:nvSpPr>
          <p:cNvPr id="21" name="card"/>
          <p:cNvSpPr/>
          <p:nvPr/>
        </p:nvSpPr>
        <p:spPr>
          <a:xfrm>
            <a:off x="4709160" y="2688336"/>
            <a:ext cx="3977640" cy="585216"/>
          </a:xfrm>
          <a:prstGeom prst="roundRect">
            <a:avLst>
              <a:gd name="adj" fmla="val 12500"/>
            </a:avLst>
          </a:prstGeom>
          <a:solidFill>
            <a:srgbClr val="FFFFFF"/>
          </a:solidFill>
          <a:ln w="9525">
            <a:solidFill>
              <a:srgbClr val="D5D9DC"/>
            </a:solidFill>
            <a:prstDash val="solid"/>
          </a:ln>
        </p:spPr>
      </p:sp>
      <p:sp>
        <p:nvSpPr>
          <p:cNvPr id="22" name="Text 20"/>
          <p:cNvSpPr txBox="1"/>
          <p:nvPr/>
        </p:nvSpPr>
        <p:spPr>
          <a:xfrm>
            <a:off x="4892040" y="2688336"/>
            <a:ext cx="1828800" cy="585216"/>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Netgen LVS</a:t>
            </a:r>
            <a:endParaRPr lang="en-US" sz="1800" dirty="0"/>
          </a:p>
        </p:txBody>
      </p:sp>
      <p:sp>
        <p:nvSpPr>
          <p:cNvPr id="23" name="Text 21"/>
          <p:cNvSpPr txBox="1"/>
          <p:nvPr/>
        </p:nvSpPr>
        <p:spPr>
          <a:xfrm>
            <a:off x="6720840" y="2688336"/>
            <a:ext cx="1828800" cy="585216"/>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layout = netlist</a:t>
            </a:r>
            <a:endParaRPr lang="en-US" sz="1600" dirty="0"/>
          </a:p>
        </p:txBody>
      </p:sp>
      <p:sp>
        <p:nvSpPr>
          <p:cNvPr id="24" name="card"/>
          <p:cNvSpPr/>
          <p:nvPr/>
        </p:nvSpPr>
        <p:spPr>
          <a:xfrm>
            <a:off x="4709160" y="3346704"/>
            <a:ext cx="3977640" cy="585216"/>
          </a:xfrm>
          <a:prstGeom prst="roundRect">
            <a:avLst>
              <a:gd name="adj" fmla="val 12500"/>
            </a:avLst>
          </a:prstGeom>
          <a:solidFill>
            <a:srgbClr val="FFFFFF"/>
          </a:solidFill>
          <a:ln w="9525">
            <a:solidFill>
              <a:srgbClr val="D5D9DC"/>
            </a:solidFill>
            <a:prstDash val="solid"/>
          </a:ln>
        </p:spPr>
      </p:sp>
      <p:sp>
        <p:nvSpPr>
          <p:cNvPr id="25" name="Text 23"/>
          <p:cNvSpPr txBox="1"/>
          <p:nvPr/>
        </p:nvSpPr>
        <p:spPr>
          <a:xfrm>
            <a:off x="4892040" y="3346704"/>
            <a:ext cx="1828800" cy="585216"/>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KLayout XOR</a:t>
            </a:r>
            <a:endParaRPr lang="en-US" sz="1800" dirty="0"/>
          </a:p>
        </p:txBody>
      </p:sp>
      <p:sp>
        <p:nvSpPr>
          <p:cNvPr id="26" name="Text 24"/>
          <p:cNvSpPr txBox="1"/>
          <p:nvPr/>
        </p:nvSpPr>
        <p:spPr>
          <a:xfrm>
            <a:off x="6720840" y="3346704"/>
            <a:ext cx="1828800" cy="585216"/>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two outputs agree</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Last, the layout is written out as GDSII</a:t>
            </a:r>
            <a:endParaRPr lang="en-US" sz="2800" dirty="0"/>
          </a:p>
        </p:txBody>
      </p:sp>
      <p:sp>
        <p:nvSpPr>
          <p:cNvPr id="3" name="pill IN"/>
          <p:cNvSpPr/>
          <p:nvPr/>
        </p:nvSpPr>
        <p:spPr>
          <a:xfrm>
            <a:off x="457200" y="1408176"/>
            <a:ext cx="77724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408176"/>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IN</a:t>
            </a:r>
            <a:endParaRPr lang="en-US" sz="1200" dirty="0"/>
          </a:p>
        </p:txBody>
      </p:sp>
      <p:sp>
        <p:nvSpPr>
          <p:cNvPr id="5" name="Text 3"/>
          <p:cNvSpPr txBox="1"/>
          <p:nvPr/>
        </p:nvSpPr>
        <p:spPr>
          <a:xfrm>
            <a:off x="1371600" y="1371600"/>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The routed, checked design.</a:t>
            </a:r>
            <a:endParaRPr lang="en-US" sz="1800" dirty="0"/>
          </a:p>
        </p:txBody>
      </p:sp>
      <p:sp>
        <p:nvSpPr>
          <p:cNvPr id="6" name="pill OUT"/>
          <p:cNvSpPr/>
          <p:nvPr/>
        </p:nvSpPr>
        <p:spPr>
          <a:xfrm>
            <a:off x="457200" y="2176272"/>
            <a:ext cx="777240" cy="310896"/>
          </a:xfrm>
          <a:prstGeom prst="roundRect">
            <a:avLst>
              <a:gd name="adj" fmla="val 50000"/>
            </a:avLst>
          </a:prstGeom>
          <a:solidFill>
            <a:srgbClr val="E1F0ED"/>
          </a:solidFill>
          <a:ln w="6350">
            <a:solidFill>
              <a:srgbClr val="E1F0ED"/>
            </a:solidFill>
            <a:prstDash val="solid"/>
          </a:ln>
        </p:spPr>
      </p:sp>
      <p:sp>
        <p:nvSpPr>
          <p:cNvPr id="7" name="Text 5"/>
          <p:cNvSpPr txBox="1"/>
          <p:nvPr/>
        </p:nvSpPr>
        <p:spPr>
          <a:xfrm>
            <a:off x="457200" y="2176272"/>
            <a:ext cx="77724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OUT</a:t>
            </a:r>
            <a:endParaRPr lang="en-US" sz="1200" dirty="0"/>
          </a:p>
        </p:txBody>
      </p:sp>
      <p:sp>
        <p:nvSpPr>
          <p:cNvPr id="8" name="Text 6"/>
          <p:cNvSpPr txBox="1"/>
          <p:nvPr/>
        </p:nvSpPr>
        <p:spPr>
          <a:xfrm>
            <a:off x="1371600" y="2139696"/>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GDSII file for the foundry.</a:t>
            </a:r>
            <a:endParaRPr lang="en-US" sz="1800" dirty="0"/>
          </a:p>
        </p:txBody>
      </p:sp>
      <p:sp>
        <p:nvSpPr>
          <p:cNvPr id="9" name="pill TOOL"/>
          <p:cNvSpPr/>
          <p:nvPr/>
        </p:nvSpPr>
        <p:spPr>
          <a:xfrm>
            <a:off x="457200" y="2944368"/>
            <a:ext cx="777240" cy="310896"/>
          </a:xfrm>
          <a:prstGeom prst="roundRect">
            <a:avLst>
              <a:gd name="adj" fmla="val 50000"/>
            </a:avLst>
          </a:prstGeom>
          <a:solidFill>
            <a:srgbClr val="FF4D2E"/>
          </a:solidFill>
          <a:ln w="6350">
            <a:solidFill>
              <a:srgbClr val="FF4D2E"/>
            </a:solidFill>
            <a:prstDash val="solid"/>
          </a:ln>
        </p:spPr>
      </p:sp>
      <p:sp>
        <p:nvSpPr>
          <p:cNvPr id="10" name="Text 8"/>
          <p:cNvSpPr txBox="1"/>
          <p:nvPr/>
        </p:nvSpPr>
        <p:spPr>
          <a:xfrm>
            <a:off x="457200" y="2944368"/>
            <a:ext cx="777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TOOL</a:t>
            </a:r>
            <a:endParaRPr lang="en-US" sz="1200" dirty="0"/>
          </a:p>
        </p:txBody>
      </p:sp>
      <p:sp>
        <p:nvSpPr>
          <p:cNvPr id="11" name="Text 9"/>
          <p:cNvSpPr txBox="1"/>
          <p:nvPr/>
        </p:nvSpPr>
        <p:spPr>
          <a:xfrm>
            <a:off x="1371600" y="2907792"/>
            <a:ext cx="3154680" cy="73152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Magic and KLayout write the stream.</a:t>
            </a:r>
            <a:endParaRPr lang="en-US" sz="1800" dirty="0"/>
          </a:p>
        </p:txBody>
      </p:sp>
      <p:sp>
        <p:nvSpPr>
          <p:cNvPr id="12" name="pill TIME"/>
          <p:cNvSpPr/>
          <p:nvPr/>
        </p:nvSpPr>
        <p:spPr>
          <a:xfrm>
            <a:off x="457200" y="3712464"/>
            <a:ext cx="777240" cy="310896"/>
          </a:xfrm>
          <a:prstGeom prst="roundRect">
            <a:avLst>
              <a:gd name="adj" fmla="val 50000"/>
            </a:avLst>
          </a:prstGeom>
          <a:solidFill>
            <a:srgbClr val="E6E9ED"/>
          </a:solidFill>
          <a:ln w="6350">
            <a:solidFill>
              <a:srgbClr val="E6E9ED"/>
            </a:solidFill>
            <a:prstDash val="solid"/>
          </a:ln>
        </p:spPr>
      </p:sp>
      <p:sp>
        <p:nvSpPr>
          <p:cNvPr id="13" name="Text 11"/>
          <p:cNvSpPr txBox="1"/>
          <p:nvPr/>
        </p:nvSpPr>
        <p:spPr>
          <a:xfrm>
            <a:off x="457200" y="3712464"/>
            <a:ext cx="777240"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Arial" pitchFamily="34" charset="0"/>
                <a:ea typeface="Arial" pitchFamily="34" charset="-122"/>
                <a:cs typeface="Arial" pitchFamily="34" charset="-120"/>
              </a:rPr>
              <a:t>TIME</a:t>
            </a:r>
            <a:endParaRPr lang="en-US" sz="1200" dirty="0"/>
          </a:p>
        </p:txBody>
      </p:sp>
      <p:sp>
        <p:nvSpPr>
          <p:cNvPr id="14" name="Text 12"/>
          <p:cNvSpPr txBox="1"/>
          <p:nvPr/>
        </p:nvSpPr>
        <p:spPr>
          <a:xfrm>
            <a:off x="1371600" y="3675888"/>
            <a:ext cx="315468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Stream-out: 3.3 s</a:t>
            </a:r>
            <a:endParaRPr lang="en-US" sz="1800" dirty="0"/>
          </a:p>
        </p:txBody>
      </p:sp>
      <p:sp>
        <p:nvSpPr>
          <p:cNvPr id="15" name="Shape 13"/>
          <p:cNvSpPr/>
          <p:nvPr/>
        </p:nvSpPr>
        <p:spPr>
          <a:xfrm>
            <a:off x="4709160" y="1371600"/>
            <a:ext cx="1943100" cy="2606040"/>
          </a:xfrm>
          <a:prstGeom prst="rect">
            <a:avLst/>
          </a:prstGeom>
          <a:solidFill>
            <a:srgbClr val="FFFFFF"/>
          </a:solidFill>
          <a:ln w="9525">
            <a:solidFill>
              <a:srgbClr val="D5D9DC"/>
            </a:solidFill>
            <a:prstDash val="solid"/>
          </a:ln>
        </p:spPr>
      </p:sp>
      <p:pic>
        <p:nvPicPr>
          <p:cNvPr id="16" name="Image 0" descr="Last, the layout is written out as GDSII">    </p:cNvPr>
          <p:cNvPicPr>
            <a:picLocks noChangeAspect="1"/>
          </p:cNvPicPr>
          <p:nvPr/>
        </p:nvPicPr>
        <p:blipFill>
          <a:blip r:embed="rId1"/>
          <a:stretch>
            <a:fillRect/>
          </a:stretch>
        </p:blipFill>
        <p:spPr>
          <a:xfrm>
            <a:off x="4754880" y="1748790"/>
            <a:ext cx="1851660" cy="1851660"/>
          </a:xfrm>
          <a:prstGeom prst="rect">
            <a:avLst/>
          </a:prstGeom>
        </p:spPr>
      </p:pic>
      <p:sp>
        <p:nvSpPr>
          <p:cNvPr id="17" name="Shape 14"/>
          <p:cNvSpPr/>
          <p:nvPr/>
        </p:nvSpPr>
        <p:spPr>
          <a:xfrm>
            <a:off x="6743700" y="1371600"/>
            <a:ext cx="1943100" cy="2606040"/>
          </a:xfrm>
          <a:prstGeom prst="rect">
            <a:avLst/>
          </a:prstGeom>
          <a:solidFill>
            <a:srgbClr val="FFFFFF"/>
          </a:solidFill>
          <a:ln w="9525">
            <a:solidFill>
              <a:srgbClr val="D5D9DC"/>
            </a:solidFill>
            <a:prstDash val="solid"/>
          </a:ln>
        </p:spPr>
      </p:sp>
      <p:pic>
        <p:nvPicPr>
          <p:cNvPr id="18" name="Image 1" descr="Last, the layout is written out as GDSII">    </p:cNvPr>
          <p:cNvPicPr>
            <a:picLocks noChangeAspect="1"/>
          </p:cNvPicPr>
          <p:nvPr/>
        </p:nvPicPr>
        <p:blipFill>
          <a:blip r:embed="rId2"/>
          <a:stretch>
            <a:fillRect/>
          </a:stretch>
        </p:blipFill>
        <p:spPr>
          <a:xfrm>
            <a:off x="6789420" y="2057400"/>
            <a:ext cx="1851660" cy="1234440"/>
          </a:xfrm>
          <a:prstGeom prst="rect">
            <a:avLst/>
          </a:prstGeom>
        </p:spPr>
      </p:pic>
      <p:sp>
        <p:nvSpPr>
          <p:cNvPr id="19" name="Text 15"/>
          <p:cNvSpPr txBox="1"/>
          <p:nvPr/>
        </p:nvSpPr>
        <p:spPr>
          <a:xfrm>
            <a:off x="4709160" y="4050792"/>
            <a:ext cx="3977640" cy="64008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The real thing: every layer, transistors included. Right: a 60 × 40 µm zoom.</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LibreLane runs all of it, step by step</a:t>
            </a:r>
            <a:endParaRPr lang="en-US" sz="2800" dirty="0"/>
          </a:p>
        </p:txBody>
      </p:sp>
      <p:sp>
        <p:nvSpPr>
          <p:cNvPr id="3" name="card"/>
          <p:cNvSpPr/>
          <p:nvPr/>
        </p:nvSpPr>
        <p:spPr>
          <a:xfrm>
            <a:off x="457200" y="1463040"/>
            <a:ext cx="2743200" cy="2560320"/>
          </a:xfrm>
          <a:prstGeom prst="roundRect">
            <a:avLst>
              <a:gd name="adj" fmla="val 2857"/>
            </a:avLst>
          </a:prstGeom>
          <a:solidFill>
            <a:srgbClr val="071A36"/>
          </a:solidFill>
          <a:ln w="9525">
            <a:solidFill>
              <a:srgbClr val="071A36"/>
            </a:solidFill>
            <a:prstDash val="solid"/>
          </a:ln>
        </p:spPr>
      </p:sp>
      <p:sp>
        <p:nvSpPr>
          <p:cNvPr id="4" name="Text 2"/>
          <p:cNvSpPr txBox="1"/>
          <p:nvPr/>
        </p:nvSpPr>
        <p:spPr>
          <a:xfrm>
            <a:off x="457200" y="1737360"/>
            <a:ext cx="2743200" cy="1097280"/>
          </a:xfrm>
          <a:prstGeom prst="rect">
            <a:avLst/>
          </a:prstGeom>
          <a:noFill/>
          <a:ln/>
        </p:spPr>
        <p:txBody>
          <a:bodyPr wrap="square" lIns="0" tIns="0" rIns="0" bIns="0" rtlCol="0" anchor="ctr"/>
          <a:lstStyle/>
          <a:p>
            <a:pPr algn="ctr" indent="0" marL="0">
              <a:buNone/>
            </a:pPr>
            <a:r>
              <a:rPr lang="en-US" sz="7200" b="1" dirty="0">
                <a:solidFill>
                  <a:srgbClr val="FFFFFF"/>
                </a:solidFill>
                <a:latin typeface="Arial" pitchFamily="34" charset="0"/>
                <a:ea typeface="Arial" pitchFamily="34" charset="-122"/>
                <a:cs typeface="Arial" pitchFamily="34" charset="-120"/>
              </a:rPr>
              <a:t>77</a:t>
            </a:r>
            <a:endParaRPr lang="en-US" sz="7200" dirty="0"/>
          </a:p>
        </p:txBody>
      </p:sp>
      <p:sp>
        <p:nvSpPr>
          <p:cNvPr id="5" name="Text 3"/>
          <p:cNvSpPr txBox="1"/>
          <p:nvPr/>
        </p:nvSpPr>
        <p:spPr>
          <a:xfrm>
            <a:off x="457200" y="2926080"/>
            <a:ext cx="2743200" cy="457200"/>
          </a:xfrm>
          <a:prstGeom prst="rect">
            <a:avLst/>
          </a:prstGeom>
          <a:noFill/>
          <a:ln/>
        </p:spPr>
        <p:txBody>
          <a:bodyPr wrap="square" lIns="0" tIns="0" rIns="0" bIns="0" rtlCol="0" anchor="t"/>
          <a:lstStyle/>
          <a:p>
            <a:pPr algn="ctr" indent="0" marL="0">
              <a:buNone/>
            </a:pPr>
            <a:r>
              <a:rPr lang="en-US" sz="2000" dirty="0">
                <a:solidFill>
                  <a:srgbClr val="D6DCE6"/>
                </a:solidFill>
                <a:latin typeface="Arial" pitchFamily="34" charset="0"/>
                <a:ea typeface="Arial" pitchFamily="34" charset="-122"/>
                <a:cs typeface="Arial" pitchFamily="34" charset="-120"/>
              </a:rPr>
              <a:t>steps in one run</a:t>
            </a:r>
            <a:endParaRPr lang="en-US" sz="2000" dirty="0"/>
          </a:p>
        </p:txBody>
      </p:sp>
      <p:sp>
        <p:nvSpPr>
          <p:cNvPr id="6" name="Shape 4"/>
          <p:cNvSpPr/>
          <p:nvPr/>
        </p:nvSpPr>
        <p:spPr>
          <a:xfrm>
            <a:off x="3657600" y="1645920"/>
            <a:ext cx="182880" cy="182880"/>
          </a:xfrm>
          <a:prstGeom prst="ellipse">
            <a:avLst/>
          </a:prstGeom>
          <a:solidFill>
            <a:srgbClr val="FF4D2E"/>
          </a:solidFill>
          <a:ln w="12700">
            <a:solidFill>
              <a:srgbClr val="FF4D2E"/>
            </a:solidFill>
            <a:prstDash val="solid"/>
          </a:ln>
        </p:spPr>
      </p:sp>
      <p:sp>
        <p:nvSpPr>
          <p:cNvPr id="7" name="Text 5"/>
          <p:cNvSpPr txBox="1"/>
          <p:nvPr/>
        </p:nvSpPr>
        <p:spPr>
          <a:xfrm>
            <a:off x="4023360" y="1554480"/>
            <a:ext cx="4663440" cy="77724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Runs Yosys, OpenROAD, Magic, KLayout and Netgen in order.</a:t>
            </a:r>
            <a:endParaRPr lang="en-US" sz="1800" dirty="0"/>
          </a:p>
        </p:txBody>
      </p:sp>
      <p:sp>
        <p:nvSpPr>
          <p:cNvPr id="8" name="Shape 6"/>
          <p:cNvSpPr/>
          <p:nvPr/>
        </p:nvSpPr>
        <p:spPr>
          <a:xfrm>
            <a:off x="3657600" y="2514600"/>
            <a:ext cx="182880" cy="182880"/>
          </a:xfrm>
          <a:prstGeom prst="ellipse">
            <a:avLst/>
          </a:prstGeom>
          <a:solidFill>
            <a:srgbClr val="FF4D2E"/>
          </a:solidFill>
          <a:ln w="12700">
            <a:solidFill>
              <a:srgbClr val="FF4D2E"/>
            </a:solidFill>
            <a:prstDash val="solid"/>
          </a:ln>
        </p:spPr>
      </p:sp>
      <p:sp>
        <p:nvSpPr>
          <p:cNvPr id="9" name="Text 7"/>
          <p:cNvSpPr txBox="1"/>
          <p:nvPr/>
        </p:nvSpPr>
        <p:spPr>
          <a:xfrm>
            <a:off x="4023360" y="2423160"/>
            <a:ext cx="4663440" cy="77724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Records metrics for every run.</a:t>
            </a:r>
            <a:endParaRPr lang="en-US" sz="1800" dirty="0"/>
          </a:p>
        </p:txBody>
      </p:sp>
      <p:sp>
        <p:nvSpPr>
          <p:cNvPr id="10" name="Shape 8"/>
          <p:cNvSpPr/>
          <p:nvPr/>
        </p:nvSpPr>
        <p:spPr>
          <a:xfrm>
            <a:off x="3657600" y="3383280"/>
            <a:ext cx="182880" cy="182880"/>
          </a:xfrm>
          <a:prstGeom prst="ellipse">
            <a:avLst/>
          </a:prstGeom>
          <a:solidFill>
            <a:srgbClr val="FF4D2E"/>
          </a:solidFill>
          <a:ln w="12700">
            <a:solidFill>
              <a:srgbClr val="FF4D2E"/>
            </a:solidFill>
            <a:prstDash val="solid"/>
          </a:ln>
        </p:spPr>
      </p:sp>
      <p:sp>
        <p:nvSpPr>
          <p:cNvPr id="11" name="Text 9"/>
          <p:cNvSpPr txBox="1"/>
          <p:nvPr/>
        </p:nvSpPr>
        <p:spPr>
          <a:xfrm>
            <a:off x="4023360" y="3291840"/>
            <a:ext cx="4663440" cy="77724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One config.json per design.</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The sky130 open PDK is what makes it possible</a:t>
            </a:r>
            <a:endParaRPr lang="en-US" sz="2800" dirty="0"/>
          </a:p>
        </p:txBody>
      </p:sp>
      <p:sp>
        <p:nvSpPr>
          <p:cNvPr id="3" name="card"/>
          <p:cNvSpPr/>
          <p:nvPr/>
        </p:nvSpPr>
        <p:spPr>
          <a:xfrm>
            <a:off x="457200" y="1554480"/>
            <a:ext cx="2651760" cy="2103120"/>
          </a:xfrm>
          <a:prstGeom prst="roundRect">
            <a:avLst>
              <a:gd name="adj" fmla="val 3478"/>
            </a:avLst>
          </a:prstGeom>
          <a:solidFill>
            <a:srgbClr val="FFFFFF"/>
          </a:solidFill>
          <a:ln w="9525">
            <a:solidFill>
              <a:srgbClr val="D5D9DC"/>
            </a:solidFill>
            <a:prstDash val="solid"/>
          </a:ln>
        </p:spPr>
      </p:sp>
      <p:sp>
        <p:nvSpPr>
          <p:cNvPr id="4" name="Text 2"/>
          <p:cNvSpPr txBox="1"/>
          <p:nvPr/>
        </p:nvSpPr>
        <p:spPr>
          <a:xfrm>
            <a:off x="457200" y="1920240"/>
            <a:ext cx="26517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130 nm</a:t>
            </a:r>
            <a:endParaRPr lang="en-US" sz="4400" dirty="0"/>
          </a:p>
        </p:txBody>
      </p:sp>
      <p:sp>
        <p:nvSpPr>
          <p:cNvPr id="5" name="Text 3"/>
          <p:cNvSpPr txBox="1"/>
          <p:nvPr/>
        </p:nvSpPr>
        <p:spPr>
          <a:xfrm>
            <a:off x="457200" y="2880360"/>
            <a:ext cx="2651760" cy="457200"/>
          </a:xfrm>
          <a:prstGeom prst="rect">
            <a:avLst/>
          </a:prstGeom>
          <a:noFill/>
          <a:ln/>
        </p:spPr>
        <p:txBody>
          <a:bodyPr wrap="square" lIns="0" tIns="0" rIns="0" bIns="0" rtlCol="0" anchor="t"/>
          <a:lstStyle/>
          <a:p>
            <a:pPr algn="ctr" indent="0" marL="0">
              <a:buNone/>
            </a:pPr>
            <a:r>
              <a:rPr lang="en-US" sz="2000" dirty="0">
                <a:solidFill>
                  <a:srgbClr val="5C6573"/>
                </a:solidFill>
                <a:latin typeface="Arial" pitchFamily="34" charset="0"/>
                <a:ea typeface="Arial" pitchFamily="34" charset="-122"/>
                <a:cs typeface="Arial" pitchFamily="34" charset="-120"/>
              </a:rPr>
              <a:t>process node</a:t>
            </a:r>
            <a:endParaRPr lang="en-US" sz="2000" dirty="0"/>
          </a:p>
        </p:txBody>
      </p:sp>
      <p:sp>
        <p:nvSpPr>
          <p:cNvPr id="6" name="card"/>
          <p:cNvSpPr/>
          <p:nvPr/>
        </p:nvSpPr>
        <p:spPr>
          <a:xfrm>
            <a:off x="3246120" y="1554480"/>
            <a:ext cx="2651760" cy="2103120"/>
          </a:xfrm>
          <a:prstGeom prst="roundRect">
            <a:avLst>
              <a:gd name="adj" fmla="val 3478"/>
            </a:avLst>
          </a:prstGeom>
          <a:solidFill>
            <a:srgbClr val="FFFFFF"/>
          </a:solidFill>
          <a:ln w="9525">
            <a:solidFill>
              <a:srgbClr val="D5D9DC"/>
            </a:solidFill>
            <a:prstDash val="solid"/>
          </a:ln>
        </p:spPr>
      </p:sp>
      <p:sp>
        <p:nvSpPr>
          <p:cNvPr id="7" name="Text 5"/>
          <p:cNvSpPr txBox="1"/>
          <p:nvPr/>
        </p:nvSpPr>
        <p:spPr>
          <a:xfrm>
            <a:off x="3246120" y="1920240"/>
            <a:ext cx="26517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open</a:t>
            </a:r>
            <a:endParaRPr lang="en-US" sz="4400" dirty="0"/>
          </a:p>
        </p:txBody>
      </p:sp>
      <p:sp>
        <p:nvSpPr>
          <p:cNvPr id="8" name="Text 6"/>
          <p:cNvSpPr txBox="1"/>
          <p:nvPr/>
        </p:nvSpPr>
        <p:spPr>
          <a:xfrm>
            <a:off x="3246120" y="2880360"/>
            <a:ext cx="2651760" cy="457200"/>
          </a:xfrm>
          <a:prstGeom prst="rect">
            <a:avLst/>
          </a:prstGeom>
          <a:noFill/>
          <a:ln/>
        </p:spPr>
        <p:txBody>
          <a:bodyPr wrap="square" lIns="0" tIns="0" rIns="0" bIns="0" rtlCol="0" anchor="t"/>
          <a:lstStyle/>
          <a:p>
            <a:pPr algn="ctr" indent="0" marL="0">
              <a:buNone/>
            </a:pPr>
            <a:r>
              <a:rPr lang="en-US" sz="2000" dirty="0">
                <a:solidFill>
                  <a:srgbClr val="5C6573"/>
                </a:solidFill>
                <a:latin typeface="Arial" pitchFamily="34" charset="0"/>
                <a:ea typeface="Arial" pitchFamily="34" charset="-122"/>
                <a:cs typeface="Arial" pitchFamily="34" charset="-120"/>
              </a:rPr>
              <a:t>standard cells</a:t>
            </a:r>
            <a:endParaRPr lang="en-US" sz="2000" dirty="0"/>
          </a:p>
        </p:txBody>
      </p:sp>
      <p:sp>
        <p:nvSpPr>
          <p:cNvPr id="9" name="card"/>
          <p:cNvSpPr/>
          <p:nvPr/>
        </p:nvSpPr>
        <p:spPr>
          <a:xfrm>
            <a:off x="6035040" y="1554480"/>
            <a:ext cx="2651760" cy="2103120"/>
          </a:xfrm>
          <a:prstGeom prst="roundRect">
            <a:avLst>
              <a:gd name="adj" fmla="val 3478"/>
            </a:avLst>
          </a:prstGeom>
          <a:solidFill>
            <a:srgbClr val="FFFFFF"/>
          </a:solidFill>
          <a:ln w="9525">
            <a:solidFill>
              <a:srgbClr val="D5D9DC"/>
            </a:solidFill>
            <a:prstDash val="solid"/>
          </a:ln>
        </p:spPr>
      </p:sp>
      <p:sp>
        <p:nvSpPr>
          <p:cNvPr id="10" name="Text 8"/>
          <p:cNvSpPr txBox="1"/>
          <p:nvPr/>
        </p:nvSpPr>
        <p:spPr>
          <a:xfrm>
            <a:off x="6035040" y="1920240"/>
            <a:ext cx="26517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5</a:t>
            </a:r>
            <a:endParaRPr lang="en-US" sz="4400" dirty="0"/>
          </a:p>
        </p:txBody>
      </p:sp>
      <p:sp>
        <p:nvSpPr>
          <p:cNvPr id="11" name="Text 9"/>
          <p:cNvSpPr txBox="1"/>
          <p:nvPr/>
        </p:nvSpPr>
        <p:spPr>
          <a:xfrm>
            <a:off x="6035040" y="2880360"/>
            <a:ext cx="2651760" cy="457200"/>
          </a:xfrm>
          <a:prstGeom prst="rect">
            <a:avLst/>
          </a:prstGeom>
          <a:noFill/>
          <a:ln/>
        </p:spPr>
        <p:txBody>
          <a:bodyPr wrap="square" lIns="0" tIns="0" rIns="0" bIns="0" rtlCol="0" anchor="t"/>
          <a:lstStyle/>
          <a:p>
            <a:pPr algn="ctr" indent="0" marL="0">
              <a:buNone/>
            </a:pPr>
            <a:r>
              <a:rPr lang="en-US" sz="2000" dirty="0">
                <a:solidFill>
                  <a:srgbClr val="5C6573"/>
                </a:solidFill>
                <a:latin typeface="Arial" pitchFamily="34" charset="0"/>
                <a:ea typeface="Arial" pitchFamily="34" charset="-122"/>
                <a:cs typeface="Arial" pitchFamily="34" charset="-120"/>
              </a:rPr>
              <a:t>metal layers</a:t>
            </a:r>
            <a:endParaRPr lang="en-US" sz="2000" dirty="0"/>
          </a:p>
        </p:txBody>
      </p:sp>
      <p:sp>
        <p:nvSpPr>
          <p:cNvPr id="12" name="Text 10"/>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Published by SkyWater, so anyone can design for it.</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Routing takes 68% of the build time</a:t>
            </a:r>
            <a:endParaRPr lang="en-US" sz="2800" dirty="0"/>
          </a:p>
        </p:txBody>
      </p:sp>
      <p:sp>
        <p:nvSpPr>
          <p:cNvPr id="3" name="phase lint"/>
          <p:cNvSpPr/>
          <p:nvPr/>
        </p:nvSpPr>
        <p:spPr>
          <a:xfrm>
            <a:off x="457200" y="1554480"/>
            <a:ext cx="36576" cy="914400"/>
          </a:xfrm>
          <a:prstGeom prst="rect">
            <a:avLst/>
          </a:prstGeom>
          <a:solidFill>
            <a:srgbClr val="008F7A"/>
          </a:solidFill>
          <a:ln w="9525">
            <a:solidFill>
              <a:srgbClr val="FFFFFF"/>
            </a:solidFill>
            <a:prstDash val="solid"/>
          </a:ln>
        </p:spPr>
      </p:sp>
      <p:sp>
        <p:nvSpPr>
          <p:cNvPr id="4" name="phase synthesis"/>
          <p:cNvSpPr/>
          <p:nvPr/>
        </p:nvSpPr>
        <p:spPr>
          <a:xfrm>
            <a:off x="493776" y="1554480"/>
            <a:ext cx="143684" cy="914400"/>
          </a:xfrm>
          <a:prstGeom prst="rect">
            <a:avLst/>
          </a:prstGeom>
          <a:solidFill>
            <a:srgbClr val="2F5AAE"/>
          </a:solidFill>
          <a:ln w="9525">
            <a:solidFill>
              <a:srgbClr val="FFFFFF"/>
            </a:solidFill>
            <a:prstDash val="solid"/>
          </a:ln>
        </p:spPr>
      </p:sp>
      <p:sp>
        <p:nvSpPr>
          <p:cNvPr id="5" name="phase floorplan"/>
          <p:cNvSpPr/>
          <p:nvPr/>
        </p:nvSpPr>
        <p:spPr>
          <a:xfrm>
            <a:off x="637460" y="1554480"/>
            <a:ext cx="100459" cy="914400"/>
          </a:xfrm>
          <a:prstGeom prst="rect">
            <a:avLst/>
          </a:prstGeom>
          <a:solidFill>
            <a:srgbClr val="FF4D2E"/>
          </a:solidFill>
          <a:ln w="9525">
            <a:solidFill>
              <a:srgbClr val="FFFFFF"/>
            </a:solidFill>
            <a:prstDash val="solid"/>
          </a:ln>
        </p:spPr>
      </p:sp>
      <p:sp>
        <p:nvSpPr>
          <p:cNvPr id="6" name="phase placement"/>
          <p:cNvSpPr/>
          <p:nvPr/>
        </p:nvSpPr>
        <p:spPr>
          <a:xfrm>
            <a:off x="737918" y="1554480"/>
            <a:ext cx="181706" cy="914400"/>
          </a:xfrm>
          <a:prstGeom prst="rect">
            <a:avLst/>
          </a:prstGeom>
          <a:solidFill>
            <a:srgbClr val="9463AE"/>
          </a:solidFill>
          <a:ln w="9525">
            <a:solidFill>
              <a:srgbClr val="FFFFFF"/>
            </a:solidFill>
            <a:prstDash val="solid"/>
          </a:ln>
        </p:spPr>
      </p:sp>
      <p:sp>
        <p:nvSpPr>
          <p:cNvPr id="7" name="phase CTS"/>
          <p:cNvSpPr/>
          <p:nvPr/>
        </p:nvSpPr>
        <p:spPr>
          <a:xfrm>
            <a:off x="919624" y="1554480"/>
            <a:ext cx="299575" cy="914400"/>
          </a:xfrm>
          <a:prstGeom prst="rect">
            <a:avLst/>
          </a:prstGeom>
          <a:solidFill>
            <a:srgbClr val="BE574B"/>
          </a:solidFill>
          <a:ln w="9525">
            <a:solidFill>
              <a:srgbClr val="FFFFFF"/>
            </a:solidFill>
            <a:prstDash val="solid"/>
          </a:ln>
        </p:spPr>
      </p:sp>
      <p:sp>
        <p:nvSpPr>
          <p:cNvPr id="8" name="phase routing"/>
          <p:cNvSpPr/>
          <p:nvPr/>
        </p:nvSpPr>
        <p:spPr>
          <a:xfrm>
            <a:off x="1219199" y="1554480"/>
            <a:ext cx="5585058" cy="914400"/>
          </a:xfrm>
          <a:prstGeom prst="rect">
            <a:avLst/>
          </a:prstGeom>
          <a:solidFill>
            <a:srgbClr val="071A36"/>
          </a:solidFill>
          <a:ln w="9525">
            <a:solidFill>
              <a:srgbClr val="FFFFFF"/>
            </a:solidFill>
            <a:prstDash val="solid"/>
          </a:ln>
        </p:spPr>
      </p:sp>
      <p:sp>
        <p:nvSpPr>
          <p:cNvPr id="9" name="phase signoff"/>
          <p:cNvSpPr/>
          <p:nvPr/>
        </p:nvSpPr>
        <p:spPr>
          <a:xfrm>
            <a:off x="6804257" y="1554480"/>
            <a:ext cx="1902510" cy="914400"/>
          </a:xfrm>
          <a:prstGeom prst="rect">
            <a:avLst/>
          </a:prstGeom>
          <a:solidFill>
            <a:srgbClr val="5C6573"/>
          </a:solidFill>
          <a:ln w="9525">
            <a:solidFill>
              <a:srgbClr val="FFFFFF"/>
            </a:solidFill>
            <a:prstDash val="solid"/>
          </a:ln>
        </p:spPr>
      </p:sp>
      <p:sp>
        <p:nvSpPr>
          <p:cNvPr id="10" name="Text 8"/>
          <p:cNvSpPr txBox="1"/>
          <p:nvPr/>
        </p:nvSpPr>
        <p:spPr>
          <a:xfrm>
            <a:off x="457200" y="2560320"/>
            <a:ext cx="8229600" cy="36576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6.9 min in total (cnn_lite, 2 CPUs, 8 GB)</a:t>
            </a:r>
            <a:endParaRPr lang="en-US" sz="1600" dirty="0"/>
          </a:p>
        </p:txBody>
      </p:sp>
      <p:sp>
        <p:nvSpPr>
          <p:cNvPr id="11" name="Shape 9"/>
          <p:cNvSpPr/>
          <p:nvPr/>
        </p:nvSpPr>
        <p:spPr>
          <a:xfrm>
            <a:off x="457200" y="3291840"/>
            <a:ext cx="274320" cy="274320"/>
          </a:xfrm>
          <a:prstGeom prst="rect">
            <a:avLst/>
          </a:prstGeom>
          <a:solidFill>
            <a:srgbClr val="071A36"/>
          </a:solidFill>
          <a:ln w="12700">
            <a:solidFill>
              <a:srgbClr val="071A36"/>
            </a:solidFill>
            <a:prstDash val="solid"/>
          </a:ln>
        </p:spPr>
      </p:sp>
      <p:sp>
        <p:nvSpPr>
          <p:cNvPr id="12" name="Text 10"/>
          <p:cNvSpPr txBox="1"/>
          <p:nvPr/>
        </p:nvSpPr>
        <p:spPr>
          <a:xfrm>
            <a:off x="822960" y="3218688"/>
            <a:ext cx="2286000" cy="365760"/>
          </a:xfrm>
          <a:prstGeom prst="rect">
            <a:avLst/>
          </a:prstGeom>
          <a:noFill/>
          <a:ln/>
        </p:spPr>
        <p:txBody>
          <a:bodyPr wrap="square" lIns="0" tIns="0" rIns="0" bIns="0" rtlCol="0" anchor="t"/>
          <a:lstStyle/>
          <a:p>
            <a:pPr indent="0" marL="0">
              <a:buNone/>
            </a:pPr>
            <a:r>
              <a:rPr lang="en-US" sz="2000" b="1" dirty="0">
                <a:solidFill>
                  <a:srgbClr val="12151C"/>
                </a:solidFill>
                <a:latin typeface="Arial" pitchFamily="34" charset="0"/>
                <a:ea typeface="Arial" pitchFamily="34" charset="-122"/>
                <a:cs typeface="Arial" pitchFamily="34" charset="-120"/>
              </a:rPr>
              <a:t>routing</a:t>
            </a:r>
            <a:endParaRPr lang="en-US" sz="2000" dirty="0"/>
          </a:p>
        </p:txBody>
      </p:sp>
      <p:sp>
        <p:nvSpPr>
          <p:cNvPr id="13" name="Text 11"/>
          <p:cNvSpPr txBox="1"/>
          <p:nvPr/>
        </p:nvSpPr>
        <p:spPr>
          <a:xfrm>
            <a:off x="822960" y="3611880"/>
            <a:ext cx="2286000" cy="365760"/>
          </a:xfrm>
          <a:prstGeom prst="rect">
            <a:avLst/>
          </a:prstGeom>
          <a:noFill/>
          <a:ln/>
        </p:spPr>
        <p:txBody>
          <a:bodyPr wrap="square" lIns="0" tIns="0" rIns="0" bIns="0" rtlCol="0" anchor="t"/>
          <a:lstStyle/>
          <a:p>
            <a:pPr indent="0" marL="0">
              <a:buNone/>
            </a:pPr>
            <a:r>
              <a:rPr lang="en-US" sz="2000" dirty="0">
                <a:solidFill>
                  <a:srgbClr val="5C6573"/>
                </a:solidFill>
                <a:latin typeface="Arial" pitchFamily="34" charset="0"/>
                <a:ea typeface="Arial" pitchFamily="34" charset="-122"/>
                <a:cs typeface="Arial" pitchFamily="34" charset="-120"/>
              </a:rPr>
              <a:t>279 s</a:t>
            </a:r>
            <a:endParaRPr lang="en-US" sz="2000" dirty="0"/>
          </a:p>
        </p:txBody>
      </p:sp>
      <p:sp>
        <p:nvSpPr>
          <p:cNvPr id="14" name="Shape 12"/>
          <p:cNvSpPr/>
          <p:nvPr/>
        </p:nvSpPr>
        <p:spPr>
          <a:xfrm>
            <a:off x="3246120" y="3291840"/>
            <a:ext cx="274320" cy="274320"/>
          </a:xfrm>
          <a:prstGeom prst="rect">
            <a:avLst/>
          </a:prstGeom>
          <a:solidFill>
            <a:srgbClr val="5C6573"/>
          </a:solidFill>
          <a:ln w="12700">
            <a:solidFill>
              <a:srgbClr val="5C6573"/>
            </a:solidFill>
            <a:prstDash val="solid"/>
          </a:ln>
        </p:spPr>
      </p:sp>
      <p:sp>
        <p:nvSpPr>
          <p:cNvPr id="15" name="Text 13"/>
          <p:cNvSpPr txBox="1"/>
          <p:nvPr/>
        </p:nvSpPr>
        <p:spPr>
          <a:xfrm>
            <a:off x="3611880" y="3218688"/>
            <a:ext cx="2286000" cy="365760"/>
          </a:xfrm>
          <a:prstGeom prst="rect">
            <a:avLst/>
          </a:prstGeom>
          <a:noFill/>
          <a:ln/>
        </p:spPr>
        <p:txBody>
          <a:bodyPr wrap="square" lIns="0" tIns="0" rIns="0" bIns="0" rtlCol="0" anchor="t"/>
          <a:lstStyle/>
          <a:p>
            <a:pPr indent="0" marL="0">
              <a:buNone/>
            </a:pPr>
            <a:r>
              <a:rPr lang="en-US" sz="2000" b="1" dirty="0">
                <a:solidFill>
                  <a:srgbClr val="12151C"/>
                </a:solidFill>
                <a:latin typeface="Arial" pitchFamily="34" charset="0"/>
                <a:ea typeface="Arial" pitchFamily="34" charset="-122"/>
                <a:cs typeface="Arial" pitchFamily="34" charset="-120"/>
              </a:rPr>
              <a:t>signoff</a:t>
            </a:r>
            <a:endParaRPr lang="en-US" sz="2000" dirty="0"/>
          </a:p>
        </p:txBody>
      </p:sp>
      <p:sp>
        <p:nvSpPr>
          <p:cNvPr id="16" name="Text 14"/>
          <p:cNvSpPr txBox="1"/>
          <p:nvPr/>
        </p:nvSpPr>
        <p:spPr>
          <a:xfrm>
            <a:off x="3611880" y="3611880"/>
            <a:ext cx="2286000" cy="365760"/>
          </a:xfrm>
          <a:prstGeom prst="rect">
            <a:avLst/>
          </a:prstGeom>
          <a:noFill/>
          <a:ln/>
        </p:spPr>
        <p:txBody>
          <a:bodyPr wrap="square" lIns="0" tIns="0" rIns="0" bIns="0" rtlCol="0" anchor="t"/>
          <a:lstStyle/>
          <a:p>
            <a:pPr indent="0" marL="0">
              <a:buNone/>
            </a:pPr>
            <a:r>
              <a:rPr lang="en-US" sz="2000" dirty="0">
                <a:solidFill>
                  <a:srgbClr val="5C6573"/>
                </a:solidFill>
                <a:latin typeface="Arial" pitchFamily="34" charset="0"/>
                <a:ea typeface="Arial" pitchFamily="34" charset="-122"/>
                <a:cs typeface="Arial" pitchFamily="34" charset="-120"/>
              </a:rPr>
              <a:t>95 s</a:t>
            </a:r>
            <a:endParaRPr lang="en-US" sz="2000" dirty="0"/>
          </a:p>
        </p:txBody>
      </p:sp>
      <p:sp>
        <p:nvSpPr>
          <p:cNvPr id="17" name="Shape 15"/>
          <p:cNvSpPr/>
          <p:nvPr/>
        </p:nvSpPr>
        <p:spPr>
          <a:xfrm>
            <a:off x="6035040" y="3291840"/>
            <a:ext cx="274320" cy="274320"/>
          </a:xfrm>
          <a:prstGeom prst="rect">
            <a:avLst/>
          </a:prstGeom>
          <a:solidFill>
            <a:srgbClr val="BE574B"/>
          </a:solidFill>
          <a:ln w="12700">
            <a:solidFill>
              <a:srgbClr val="BE574B"/>
            </a:solidFill>
            <a:prstDash val="solid"/>
          </a:ln>
        </p:spPr>
      </p:sp>
      <p:sp>
        <p:nvSpPr>
          <p:cNvPr id="18" name="Text 16"/>
          <p:cNvSpPr txBox="1"/>
          <p:nvPr/>
        </p:nvSpPr>
        <p:spPr>
          <a:xfrm>
            <a:off x="6400800" y="3218688"/>
            <a:ext cx="2286000" cy="365760"/>
          </a:xfrm>
          <a:prstGeom prst="rect">
            <a:avLst/>
          </a:prstGeom>
          <a:noFill/>
          <a:ln/>
        </p:spPr>
        <p:txBody>
          <a:bodyPr wrap="square" lIns="0" tIns="0" rIns="0" bIns="0" rtlCol="0" anchor="t"/>
          <a:lstStyle/>
          <a:p>
            <a:pPr indent="0" marL="0">
              <a:buNone/>
            </a:pPr>
            <a:r>
              <a:rPr lang="en-US" sz="2000" b="1" dirty="0">
                <a:solidFill>
                  <a:srgbClr val="12151C"/>
                </a:solidFill>
                <a:latin typeface="Arial" pitchFamily="34" charset="0"/>
                <a:ea typeface="Arial" pitchFamily="34" charset="-122"/>
                <a:cs typeface="Arial" pitchFamily="34" charset="-120"/>
              </a:rPr>
              <a:t>CTS</a:t>
            </a:r>
            <a:endParaRPr lang="en-US" sz="2000" dirty="0"/>
          </a:p>
        </p:txBody>
      </p:sp>
      <p:sp>
        <p:nvSpPr>
          <p:cNvPr id="19" name="Text 17"/>
          <p:cNvSpPr txBox="1"/>
          <p:nvPr/>
        </p:nvSpPr>
        <p:spPr>
          <a:xfrm>
            <a:off x="6400800" y="3611880"/>
            <a:ext cx="2286000" cy="365760"/>
          </a:xfrm>
          <a:prstGeom prst="rect">
            <a:avLst/>
          </a:prstGeom>
          <a:noFill/>
          <a:ln/>
        </p:spPr>
        <p:txBody>
          <a:bodyPr wrap="square" lIns="0" tIns="0" rIns="0" bIns="0" rtlCol="0" anchor="t"/>
          <a:lstStyle/>
          <a:p>
            <a:pPr indent="0" marL="0">
              <a:buNone/>
            </a:pPr>
            <a:r>
              <a:rPr lang="en-US" sz="2000" dirty="0">
                <a:solidFill>
                  <a:srgbClr val="5C6573"/>
                </a:solidFill>
                <a:latin typeface="Arial" pitchFamily="34" charset="0"/>
                <a:ea typeface="Arial" pitchFamily="34" charset="-122"/>
                <a:cs typeface="Arial" pitchFamily="34" charset="-120"/>
              </a:rPr>
              <a:t>15 s</a:t>
            </a:r>
            <a:endParaRPr lang="en-US" sz="20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Five automatic checks must all come back clean</a:t>
            </a:r>
            <a:endParaRPr lang="en-US" sz="2800" dirty="0"/>
          </a:p>
        </p:txBody>
      </p:sp>
      <p:sp>
        <p:nvSpPr>
          <p:cNvPr id="3" name="card"/>
          <p:cNvSpPr/>
          <p:nvPr/>
        </p:nvSpPr>
        <p:spPr>
          <a:xfrm>
            <a:off x="457200" y="1554480"/>
            <a:ext cx="1508760" cy="1737360"/>
          </a:xfrm>
          <a:prstGeom prst="roundRect">
            <a:avLst>
              <a:gd name="adj" fmla="val 4848"/>
            </a:avLst>
          </a:prstGeom>
          <a:solidFill>
            <a:srgbClr val="E1F0ED"/>
          </a:solidFill>
          <a:ln w="9525">
            <a:solidFill>
              <a:srgbClr val="008F7A"/>
            </a:solidFill>
            <a:prstDash val="solid"/>
          </a:ln>
        </p:spPr>
      </p:sp>
      <p:sp>
        <p:nvSpPr>
          <p:cNvPr id="4" name="Text 2"/>
          <p:cNvSpPr txBox="1"/>
          <p:nvPr/>
        </p:nvSpPr>
        <p:spPr>
          <a:xfrm>
            <a:off x="457200" y="1691640"/>
            <a:ext cx="15087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0</a:t>
            </a:r>
            <a:endParaRPr lang="en-US" sz="4400" dirty="0"/>
          </a:p>
        </p:txBody>
      </p:sp>
      <p:sp>
        <p:nvSpPr>
          <p:cNvPr id="5" name="Text 3"/>
          <p:cNvSpPr txBox="1"/>
          <p:nvPr/>
        </p:nvSpPr>
        <p:spPr>
          <a:xfrm>
            <a:off x="457200" y="2606040"/>
            <a:ext cx="1508760" cy="457200"/>
          </a:xfrm>
          <a:prstGeom prst="rect">
            <a:avLst/>
          </a:prstGeom>
          <a:noFill/>
          <a:ln/>
        </p:spPr>
        <p:txBody>
          <a:bodyPr wrap="square" lIns="0" tIns="0" rIns="0" bIns="0" rtlCol="0" anchor="t"/>
          <a:lstStyle/>
          <a:p>
            <a:pPr algn="ctr" indent="0" marL="0">
              <a:buNone/>
            </a:pPr>
            <a:r>
              <a:rPr lang="en-US" sz="1600" b="1" dirty="0">
                <a:solidFill>
                  <a:srgbClr val="12151C"/>
                </a:solidFill>
                <a:latin typeface="Arial" pitchFamily="34" charset="0"/>
                <a:ea typeface="Arial" pitchFamily="34" charset="-122"/>
                <a:cs typeface="Arial" pitchFamily="34" charset="-120"/>
              </a:rPr>
              <a:t>Magic DRC</a:t>
            </a:r>
            <a:endParaRPr lang="en-US" sz="1600" dirty="0"/>
          </a:p>
        </p:txBody>
      </p:sp>
      <p:sp>
        <p:nvSpPr>
          <p:cNvPr id="6" name="card"/>
          <p:cNvSpPr/>
          <p:nvPr/>
        </p:nvSpPr>
        <p:spPr>
          <a:xfrm>
            <a:off x="2103120" y="1554480"/>
            <a:ext cx="1508760" cy="1737360"/>
          </a:xfrm>
          <a:prstGeom prst="roundRect">
            <a:avLst>
              <a:gd name="adj" fmla="val 4848"/>
            </a:avLst>
          </a:prstGeom>
          <a:solidFill>
            <a:srgbClr val="E1F0ED"/>
          </a:solidFill>
          <a:ln w="9525">
            <a:solidFill>
              <a:srgbClr val="008F7A"/>
            </a:solidFill>
            <a:prstDash val="solid"/>
          </a:ln>
        </p:spPr>
      </p:sp>
      <p:sp>
        <p:nvSpPr>
          <p:cNvPr id="7" name="Text 5"/>
          <p:cNvSpPr txBox="1"/>
          <p:nvPr/>
        </p:nvSpPr>
        <p:spPr>
          <a:xfrm>
            <a:off x="2103120" y="1691640"/>
            <a:ext cx="15087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0</a:t>
            </a:r>
            <a:endParaRPr lang="en-US" sz="4400" dirty="0"/>
          </a:p>
        </p:txBody>
      </p:sp>
      <p:sp>
        <p:nvSpPr>
          <p:cNvPr id="8" name="Text 6"/>
          <p:cNvSpPr txBox="1"/>
          <p:nvPr/>
        </p:nvSpPr>
        <p:spPr>
          <a:xfrm>
            <a:off x="2103120" y="2606040"/>
            <a:ext cx="1508760" cy="457200"/>
          </a:xfrm>
          <a:prstGeom prst="rect">
            <a:avLst/>
          </a:prstGeom>
          <a:noFill/>
          <a:ln/>
        </p:spPr>
        <p:txBody>
          <a:bodyPr wrap="square" lIns="0" tIns="0" rIns="0" bIns="0" rtlCol="0" anchor="t"/>
          <a:lstStyle/>
          <a:p>
            <a:pPr algn="ctr" indent="0" marL="0">
              <a:buNone/>
            </a:pPr>
            <a:r>
              <a:rPr lang="en-US" sz="1600" b="1" dirty="0">
                <a:solidFill>
                  <a:srgbClr val="12151C"/>
                </a:solidFill>
                <a:latin typeface="Arial" pitchFamily="34" charset="0"/>
                <a:ea typeface="Arial" pitchFamily="34" charset="-122"/>
                <a:cs typeface="Arial" pitchFamily="34" charset="-120"/>
              </a:rPr>
              <a:t>KLayout DRC</a:t>
            </a:r>
            <a:endParaRPr lang="en-US" sz="1600" dirty="0"/>
          </a:p>
        </p:txBody>
      </p:sp>
      <p:sp>
        <p:nvSpPr>
          <p:cNvPr id="9" name="card"/>
          <p:cNvSpPr/>
          <p:nvPr/>
        </p:nvSpPr>
        <p:spPr>
          <a:xfrm>
            <a:off x="3749040" y="1554480"/>
            <a:ext cx="1508760" cy="1737360"/>
          </a:xfrm>
          <a:prstGeom prst="roundRect">
            <a:avLst>
              <a:gd name="adj" fmla="val 4848"/>
            </a:avLst>
          </a:prstGeom>
          <a:solidFill>
            <a:srgbClr val="E1F0ED"/>
          </a:solidFill>
          <a:ln w="9525">
            <a:solidFill>
              <a:srgbClr val="008F7A"/>
            </a:solidFill>
            <a:prstDash val="solid"/>
          </a:ln>
        </p:spPr>
      </p:sp>
      <p:sp>
        <p:nvSpPr>
          <p:cNvPr id="10" name="Text 8"/>
          <p:cNvSpPr txBox="1"/>
          <p:nvPr/>
        </p:nvSpPr>
        <p:spPr>
          <a:xfrm>
            <a:off x="3749040" y="1691640"/>
            <a:ext cx="15087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0</a:t>
            </a:r>
            <a:endParaRPr lang="en-US" sz="4400" dirty="0"/>
          </a:p>
        </p:txBody>
      </p:sp>
      <p:sp>
        <p:nvSpPr>
          <p:cNvPr id="11" name="Text 9"/>
          <p:cNvSpPr txBox="1"/>
          <p:nvPr/>
        </p:nvSpPr>
        <p:spPr>
          <a:xfrm>
            <a:off x="3749040" y="2606040"/>
            <a:ext cx="1508760" cy="457200"/>
          </a:xfrm>
          <a:prstGeom prst="rect">
            <a:avLst/>
          </a:prstGeom>
          <a:noFill/>
          <a:ln/>
        </p:spPr>
        <p:txBody>
          <a:bodyPr wrap="square" lIns="0" tIns="0" rIns="0" bIns="0" rtlCol="0" anchor="t"/>
          <a:lstStyle/>
          <a:p>
            <a:pPr algn="ctr" indent="0" marL="0">
              <a:buNone/>
            </a:pPr>
            <a:r>
              <a:rPr lang="en-US" sz="1600" b="1" dirty="0">
                <a:solidFill>
                  <a:srgbClr val="12151C"/>
                </a:solidFill>
                <a:latin typeface="Arial" pitchFamily="34" charset="0"/>
                <a:ea typeface="Arial" pitchFamily="34" charset="-122"/>
                <a:cs typeface="Arial" pitchFamily="34" charset="-120"/>
              </a:rPr>
              <a:t>LVS</a:t>
            </a:r>
            <a:endParaRPr lang="en-US" sz="1600" dirty="0"/>
          </a:p>
        </p:txBody>
      </p:sp>
      <p:sp>
        <p:nvSpPr>
          <p:cNvPr id="12" name="card"/>
          <p:cNvSpPr/>
          <p:nvPr/>
        </p:nvSpPr>
        <p:spPr>
          <a:xfrm>
            <a:off x="5394960" y="1554480"/>
            <a:ext cx="1508760" cy="1737360"/>
          </a:xfrm>
          <a:prstGeom prst="roundRect">
            <a:avLst>
              <a:gd name="adj" fmla="val 4848"/>
            </a:avLst>
          </a:prstGeom>
          <a:solidFill>
            <a:srgbClr val="E1F0ED"/>
          </a:solidFill>
          <a:ln w="9525">
            <a:solidFill>
              <a:srgbClr val="008F7A"/>
            </a:solidFill>
            <a:prstDash val="solid"/>
          </a:ln>
        </p:spPr>
      </p:sp>
      <p:sp>
        <p:nvSpPr>
          <p:cNvPr id="13" name="Text 11"/>
          <p:cNvSpPr txBox="1"/>
          <p:nvPr/>
        </p:nvSpPr>
        <p:spPr>
          <a:xfrm>
            <a:off x="5394960" y="1691640"/>
            <a:ext cx="15087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0</a:t>
            </a:r>
            <a:endParaRPr lang="en-US" sz="4400" dirty="0"/>
          </a:p>
        </p:txBody>
      </p:sp>
      <p:sp>
        <p:nvSpPr>
          <p:cNvPr id="14" name="Text 12"/>
          <p:cNvSpPr txBox="1"/>
          <p:nvPr/>
        </p:nvSpPr>
        <p:spPr>
          <a:xfrm>
            <a:off x="5394960" y="2606040"/>
            <a:ext cx="1508760" cy="457200"/>
          </a:xfrm>
          <a:prstGeom prst="rect">
            <a:avLst/>
          </a:prstGeom>
          <a:noFill/>
          <a:ln/>
        </p:spPr>
        <p:txBody>
          <a:bodyPr wrap="square" lIns="0" tIns="0" rIns="0" bIns="0" rtlCol="0" anchor="t"/>
          <a:lstStyle/>
          <a:p>
            <a:pPr algn="ctr" indent="0" marL="0">
              <a:buNone/>
            </a:pPr>
            <a:r>
              <a:rPr lang="en-US" sz="1600" b="1" dirty="0">
                <a:solidFill>
                  <a:srgbClr val="12151C"/>
                </a:solidFill>
                <a:latin typeface="Arial" pitchFamily="34" charset="0"/>
                <a:ea typeface="Arial" pitchFamily="34" charset="-122"/>
                <a:cs typeface="Arial" pitchFamily="34" charset="-120"/>
              </a:rPr>
              <a:t>Antenna</a:t>
            </a:r>
            <a:endParaRPr lang="en-US" sz="1600" dirty="0"/>
          </a:p>
        </p:txBody>
      </p:sp>
      <p:sp>
        <p:nvSpPr>
          <p:cNvPr id="15" name="card"/>
          <p:cNvSpPr/>
          <p:nvPr/>
        </p:nvSpPr>
        <p:spPr>
          <a:xfrm>
            <a:off x="7040880" y="1554480"/>
            <a:ext cx="1508760" cy="1737360"/>
          </a:xfrm>
          <a:prstGeom prst="roundRect">
            <a:avLst>
              <a:gd name="adj" fmla="val 4848"/>
            </a:avLst>
          </a:prstGeom>
          <a:solidFill>
            <a:srgbClr val="E1F0ED"/>
          </a:solidFill>
          <a:ln w="9525">
            <a:solidFill>
              <a:srgbClr val="008F7A"/>
            </a:solidFill>
            <a:prstDash val="solid"/>
          </a:ln>
        </p:spPr>
      </p:sp>
      <p:sp>
        <p:nvSpPr>
          <p:cNvPr id="16" name="Text 14"/>
          <p:cNvSpPr txBox="1"/>
          <p:nvPr/>
        </p:nvSpPr>
        <p:spPr>
          <a:xfrm>
            <a:off x="7040880" y="1691640"/>
            <a:ext cx="15087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0</a:t>
            </a:r>
            <a:endParaRPr lang="en-US" sz="4400" dirty="0"/>
          </a:p>
        </p:txBody>
      </p:sp>
      <p:sp>
        <p:nvSpPr>
          <p:cNvPr id="17" name="Text 15"/>
          <p:cNvSpPr txBox="1"/>
          <p:nvPr/>
        </p:nvSpPr>
        <p:spPr>
          <a:xfrm>
            <a:off x="7040880" y="2606040"/>
            <a:ext cx="1508760" cy="457200"/>
          </a:xfrm>
          <a:prstGeom prst="rect">
            <a:avLst/>
          </a:prstGeom>
          <a:noFill/>
          <a:ln/>
        </p:spPr>
        <p:txBody>
          <a:bodyPr wrap="square" lIns="0" tIns="0" rIns="0" bIns="0" rtlCol="0" anchor="t"/>
          <a:lstStyle/>
          <a:p>
            <a:pPr algn="ctr" indent="0" marL="0">
              <a:buNone/>
            </a:pPr>
            <a:r>
              <a:rPr lang="en-US" sz="1600" b="1" dirty="0">
                <a:solidFill>
                  <a:srgbClr val="12151C"/>
                </a:solidFill>
                <a:latin typeface="Arial" pitchFamily="34" charset="0"/>
                <a:ea typeface="Arial" pitchFamily="34" charset="-122"/>
                <a:cs typeface="Arial" pitchFamily="34" charset="-120"/>
              </a:rPr>
              <a:t>XOR</a:t>
            </a:r>
            <a:endParaRPr lang="en-US" sz="1600" dirty="0"/>
          </a:p>
        </p:txBody>
      </p:sp>
      <p:sp>
        <p:nvSpPr>
          <p:cNvPr id="18" name="Text 16"/>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Errors found, summed over 12 designs.</a:t>
            </a:r>
            <a:endParaRPr lang="en-US" sz="1800" dirty="0"/>
          </a:p>
        </p:txBody>
      </p:sp>
      <p:sp>
        <p:nvSpPr>
          <p:cNvPr id="19" name="Text 17"/>
          <p:cNvSpPr txBox="1"/>
          <p:nvPr/>
        </p:nvSpPr>
        <p:spPr>
          <a:xfrm>
            <a:off x="457200" y="3977640"/>
            <a:ext cx="8229600" cy="36576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Timing too: 11 of 12 designs meet setup and hold (not cnn_fp16).</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640080" y="914400"/>
            <a:ext cx="768096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Lab block 1</a:t>
            </a:r>
            <a:endParaRPr lang="en-US" sz="3600" dirty="0"/>
          </a:p>
        </p:txBody>
      </p:sp>
      <p:sp>
        <p:nvSpPr>
          <p:cNvPr id="3" name="Text 1"/>
          <p:cNvSpPr txBox="1"/>
          <p:nvPr/>
        </p:nvSpPr>
        <p:spPr>
          <a:xfrm>
            <a:off x="640080" y="2148840"/>
            <a:ext cx="7498080" cy="822960"/>
          </a:xfrm>
          <a:prstGeom prst="rect">
            <a:avLst/>
          </a:prstGeom>
          <a:noFill/>
          <a:ln/>
        </p:spPr>
        <p:txBody>
          <a:bodyPr wrap="square" lIns="0" tIns="0" rIns="0" bIns="0" rtlCol="0" anchor="t"/>
          <a:lstStyle/>
          <a:p>
            <a:pPr indent="0" marL="0">
              <a:buNone/>
            </a:pPr>
            <a:r>
              <a:rPr lang="en-US" sz="2000" dirty="0">
                <a:solidFill>
                  <a:srgbClr val="D6DCE6"/>
                </a:solidFill>
                <a:latin typeface="Arial" pitchFamily="34" charset="0"/>
                <a:ea typeface="Arial" pitchFamily="34" charset="-122"/>
                <a:cs typeface="Arial" pitchFamily="34" charset="-120"/>
              </a:rPr>
              <a:t>Setup, then labs 1 to 3. The labs use uart (small, so each stage takes seconds); numbers differ from the cnn_lite pictures.</a:t>
            </a:r>
            <a:endParaRPr lang="en-US" sz="2000" dirty="0"/>
          </a:p>
        </p:txBody>
      </p:sp>
      <p:sp>
        <p:nvSpPr>
          <p:cNvPr id="4" name="progress A"/>
          <p:cNvSpPr/>
          <p:nvPr/>
        </p:nvSpPr>
        <p:spPr>
          <a:xfrm>
            <a:off x="640080" y="3840480"/>
            <a:ext cx="484632" cy="201168"/>
          </a:xfrm>
          <a:prstGeom prst="rect">
            <a:avLst/>
          </a:prstGeom>
          <a:solidFill>
            <a:srgbClr val="2C3E5C"/>
          </a:solidFill>
          <a:ln w="12700">
            <a:solidFill>
              <a:srgbClr val="2C3E5C"/>
            </a:solidFill>
            <a:prstDash val="solid"/>
          </a:ln>
        </p:spPr>
      </p:sp>
      <p:sp>
        <p:nvSpPr>
          <p:cNvPr id="5" name="progress B"/>
          <p:cNvSpPr/>
          <p:nvPr/>
        </p:nvSpPr>
        <p:spPr>
          <a:xfrm>
            <a:off x="1152144" y="3840480"/>
            <a:ext cx="1508760" cy="201168"/>
          </a:xfrm>
          <a:prstGeom prst="rect">
            <a:avLst/>
          </a:prstGeom>
          <a:solidFill>
            <a:srgbClr val="2C3E5C"/>
          </a:solidFill>
          <a:ln w="12700">
            <a:solidFill>
              <a:srgbClr val="2C3E5C"/>
            </a:solidFill>
            <a:prstDash val="solid"/>
          </a:ln>
        </p:spPr>
      </p:sp>
      <p:sp>
        <p:nvSpPr>
          <p:cNvPr id="6" name="progress C"/>
          <p:cNvSpPr/>
          <p:nvPr/>
        </p:nvSpPr>
        <p:spPr>
          <a:xfrm>
            <a:off x="2688336" y="3840480"/>
            <a:ext cx="996696" cy="201168"/>
          </a:xfrm>
          <a:prstGeom prst="rect">
            <a:avLst/>
          </a:prstGeom>
          <a:solidFill>
            <a:srgbClr val="FF4D2E"/>
          </a:solidFill>
          <a:ln w="12700">
            <a:solidFill>
              <a:srgbClr val="FF4D2E"/>
            </a:solidFill>
            <a:prstDash val="solid"/>
          </a:ln>
        </p:spPr>
      </p:sp>
      <p:sp>
        <p:nvSpPr>
          <p:cNvPr id="7" name="progress D"/>
          <p:cNvSpPr/>
          <p:nvPr/>
        </p:nvSpPr>
        <p:spPr>
          <a:xfrm>
            <a:off x="3712464" y="3840480"/>
            <a:ext cx="1252728" cy="201168"/>
          </a:xfrm>
          <a:prstGeom prst="rect">
            <a:avLst/>
          </a:prstGeom>
          <a:solidFill>
            <a:srgbClr val="2C3E5C"/>
          </a:solidFill>
          <a:ln w="12700">
            <a:solidFill>
              <a:srgbClr val="2C3E5C"/>
            </a:solidFill>
            <a:prstDash val="solid"/>
          </a:ln>
        </p:spPr>
      </p:sp>
      <p:sp>
        <p:nvSpPr>
          <p:cNvPr id="8" name="progress E"/>
          <p:cNvSpPr/>
          <p:nvPr/>
        </p:nvSpPr>
        <p:spPr>
          <a:xfrm>
            <a:off x="4992624" y="3840480"/>
            <a:ext cx="996696" cy="201168"/>
          </a:xfrm>
          <a:prstGeom prst="rect">
            <a:avLst/>
          </a:prstGeom>
          <a:solidFill>
            <a:srgbClr val="2C3E5C"/>
          </a:solidFill>
          <a:ln w="12700">
            <a:solidFill>
              <a:srgbClr val="2C3E5C"/>
            </a:solidFill>
            <a:prstDash val="solid"/>
          </a:ln>
        </p:spPr>
      </p:sp>
      <p:sp>
        <p:nvSpPr>
          <p:cNvPr id="9" name="progress F"/>
          <p:cNvSpPr/>
          <p:nvPr/>
        </p:nvSpPr>
        <p:spPr>
          <a:xfrm>
            <a:off x="6016752" y="3840480"/>
            <a:ext cx="996696" cy="201168"/>
          </a:xfrm>
          <a:prstGeom prst="rect">
            <a:avLst/>
          </a:prstGeom>
          <a:solidFill>
            <a:srgbClr val="2C3E5C"/>
          </a:solidFill>
          <a:ln w="12700">
            <a:solidFill>
              <a:srgbClr val="2C3E5C"/>
            </a:solidFill>
            <a:prstDash val="solid"/>
          </a:ln>
        </p:spPr>
      </p:sp>
      <p:sp>
        <p:nvSpPr>
          <p:cNvPr id="10" name="progress G"/>
          <p:cNvSpPr/>
          <p:nvPr/>
        </p:nvSpPr>
        <p:spPr>
          <a:xfrm>
            <a:off x="7040880" y="3840480"/>
            <a:ext cx="740664" cy="201168"/>
          </a:xfrm>
          <a:prstGeom prst="rect">
            <a:avLst/>
          </a:prstGeom>
          <a:solidFill>
            <a:srgbClr val="2C3E5C"/>
          </a:solidFill>
          <a:ln w="12700">
            <a:solidFill>
              <a:srgbClr val="2C3E5C"/>
            </a:solidFill>
            <a:prstDash val="solid"/>
          </a:ln>
        </p:spPr>
      </p:sp>
      <p:sp>
        <p:nvSpPr>
          <p:cNvPr id="11" name="progress H"/>
          <p:cNvSpPr/>
          <p:nvPr/>
        </p:nvSpPr>
        <p:spPr>
          <a:xfrm>
            <a:off x="7808976" y="3840480"/>
            <a:ext cx="484632" cy="201168"/>
          </a:xfrm>
          <a:prstGeom prst="rect">
            <a:avLst/>
          </a:prstGeom>
          <a:solidFill>
            <a:srgbClr val="2C3E5C"/>
          </a:solidFill>
          <a:ln w="12700">
            <a:solidFill>
              <a:srgbClr val="2C3E5C"/>
            </a:solidFill>
            <a:prstDash val="solid"/>
          </a:ln>
        </p:spPr>
      </p:sp>
      <p:sp>
        <p:nvSpPr>
          <p:cNvPr id="12" name="Text 10"/>
          <p:cNvSpPr txBox="1"/>
          <p:nvPr/>
        </p:nvSpPr>
        <p:spPr>
          <a:xfrm>
            <a:off x="640080" y="4114800"/>
            <a:ext cx="768096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Minutes 40–60 of 150</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One setup, then six small labs</a:t>
            </a:r>
            <a:endParaRPr lang="en-US" sz="2800" dirty="0"/>
          </a:p>
        </p:txBody>
      </p:sp>
      <p:sp>
        <p:nvSpPr>
          <p:cNvPr id="3" name="pill RUN"/>
          <p:cNvSpPr/>
          <p:nvPr/>
        </p:nvSpPr>
        <p:spPr>
          <a:xfrm>
            <a:off x="457200" y="1371600"/>
            <a:ext cx="822960" cy="329184"/>
          </a:xfrm>
          <a:prstGeom prst="roundRect">
            <a:avLst>
              <a:gd name="adj" fmla="val 50000"/>
            </a:avLst>
          </a:prstGeom>
          <a:solidFill>
            <a:srgbClr val="FF4D2E"/>
          </a:solidFill>
          <a:ln w="6350">
            <a:solidFill>
              <a:srgbClr val="FF4D2E"/>
            </a:solidFill>
            <a:prstDash val="solid"/>
          </a:ln>
        </p:spPr>
      </p:sp>
      <p:sp>
        <p:nvSpPr>
          <p:cNvPr id="4" name="Text 2"/>
          <p:cNvSpPr txBox="1"/>
          <p:nvPr/>
        </p:nvSpPr>
        <p:spPr>
          <a:xfrm>
            <a:off x="457200" y="1371600"/>
            <a:ext cx="8229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RUN</a:t>
            </a:r>
            <a:endParaRPr lang="en-US" sz="1200" dirty="0"/>
          </a:p>
        </p:txBody>
      </p:sp>
      <p:sp>
        <p:nvSpPr>
          <p:cNvPr id="5" name="command"/>
          <p:cNvSpPr/>
          <p:nvPr/>
        </p:nvSpPr>
        <p:spPr>
          <a:xfrm>
            <a:off x="1417320" y="1298448"/>
            <a:ext cx="3657600" cy="475488"/>
          </a:xfrm>
          <a:prstGeom prst="roundRect">
            <a:avLst>
              <a:gd name="adj" fmla="val 11538"/>
            </a:avLst>
          </a:prstGeom>
          <a:solidFill>
            <a:srgbClr val="071A36"/>
          </a:solidFill>
          <a:ln w="12700">
            <a:solidFill>
              <a:srgbClr val="071A36"/>
            </a:solidFill>
            <a:prstDash val="solid"/>
          </a:ln>
        </p:spPr>
      </p:sp>
      <p:sp>
        <p:nvSpPr>
          <p:cNvPr id="6" name="Text 4"/>
          <p:cNvSpPr txBox="1"/>
          <p:nvPr/>
        </p:nvSpPr>
        <p:spPr>
          <a:xfrm>
            <a:off x="1527048" y="1298448"/>
            <a:ext cx="3474720" cy="475488"/>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lab-setup</a:t>
            </a:r>
            <a:endParaRPr lang="en-US" sz="1800" dirty="0"/>
          </a:p>
        </p:txBody>
      </p:sp>
      <p:sp>
        <p:nvSpPr>
          <p:cNvPr id="7" name="Text 5"/>
          <p:cNvSpPr txBox="1"/>
          <p:nvPr/>
        </p:nvSpPr>
        <p:spPr>
          <a:xfrm>
            <a:off x="5303520" y="1298448"/>
            <a:ext cx="3383280" cy="475488"/>
          </a:xfrm>
          <a:prstGeom prst="rect">
            <a:avLst/>
          </a:prstGeom>
          <a:noFill/>
          <a:ln/>
        </p:spPr>
        <p:txBody>
          <a:bodyPr wrap="square" lIns="0" tIns="0" rIns="0" bIns="0" rtlCol="0" anchor="ctr"/>
          <a:lstStyle/>
          <a:p>
            <a:pPr indent="0" marL="0">
              <a:buNone/>
            </a:pPr>
            <a:r>
              <a:rPr lang="en-US" sz="1800" dirty="0">
                <a:solidFill>
                  <a:srgbClr val="5C6573"/>
                </a:solidFill>
                <a:latin typeface="Arial" pitchFamily="34" charset="0"/>
                <a:ea typeface="Arial" pitchFamily="34" charset="-122"/>
                <a:cs typeface="Arial" pitchFamily="34" charset="-120"/>
              </a:rPr>
              <a:t>about 2 minutes, once</a:t>
            </a:r>
            <a:endParaRPr lang="en-US" sz="1800" dirty="0"/>
          </a:p>
        </p:txBody>
      </p:sp>
      <p:sp>
        <p:nvSpPr>
          <p:cNvPr id="8" name="lab 1"/>
          <p:cNvSpPr/>
          <p:nvPr/>
        </p:nvSpPr>
        <p:spPr>
          <a:xfrm>
            <a:off x="457200" y="2240280"/>
            <a:ext cx="1280160" cy="1371600"/>
          </a:xfrm>
          <a:prstGeom prst="roundRect">
            <a:avLst>
              <a:gd name="adj" fmla="val 5714"/>
            </a:avLst>
          </a:prstGeom>
          <a:solidFill>
            <a:srgbClr val="E1F0ED"/>
          </a:solidFill>
          <a:ln w="12700">
            <a:solidFill>
              <a:srgbClr val="008F7A"/>
            </a:solidFill>
            <a:prstDash val="solid"/>
          </a:ln>
        </p:spPr>
      </p:sp>
      <p:sp>
        <p:nvSpPr>
          <p:cNvPr id="9" name="Text 7"/>
          <p:cNvSpPr txBox="1"/>
          <p:nvPr/>
        </p:nvSpPr>
        <p:spPr>
          <a:xfrm>
            <a:off x="457200" y="2331720"/>
            <a:ext cx="1280160" cy="320040"/>
          </a:xfrm>
          <a:prstGeom prst="rect">
            <a:avLst/>
          </a:prstGeom>
          <a:noFill/>
          <a:ln/>
        </p:spPr>
        <p:txBody>
          <a:bodyPr wrap="square" lIns="0" tIns="0" rIns="0" bIns="0" rtlCol="0" anchor="t"/>
          <a:lstStyle/>
          <a:p>
            <a:pPr algn="ctr" indent="0" marL="0">
              <a:buNone/>
            </a:pPr>
            <a:r>
              <a:rPr lang="en-US" sz="1800" b="1" dirty="0">
                <a:solidFill>
                  <a:srgbClr val="12151C"/>
                </a:solidFill>
                <a:latin typeface="Arial" pitchFamily="34" charset="0"/>
                <a:ea typeface="Arial" pitchFamily="34" charset="-122"/>
                <a:cs typeface="Arial" pitchFamily="34" charset="-120"/>
              </a:rPr>
              <a:t>Lab 1</a:t>
            </a:r>
            <a:endParaRPr lang="en-US" sz="1800" dirty="0"/>
          </a:p>
        </p:txBody>
      </p:sp>
      <p:sp>
        <p:nvSpPr>
          <p:cNvPr id="10" name="Text 8"/>
          <p:cNvSpPr txBox="1"/>
          <p:nvPr/>
        </p:nvSpPr>
        <p:spPr>
          <a:xfrm>
            <a:off x="457200" y="2697480"/>
            <a:ext cx="1280160" cy="320040"/>
          </a:xfrm>
          <a:prstGeom prst="rect">
            <a:avLst/>
          </a:prstGeom>
          <a:noFill/>
          <a:ln/>
        </p:spPr>
        <p:txBody>
          <a:bodyPr wrap="square" lIns="0" tIns="0" rIns="0" bIns="0" rtlCol="0" anchor="t"/>
          <a:lstStyle/>
          <a:p>
            <a:pPr algn="ctr" indent="0" marL="0">
              <a:buNone/>
            </a:pPr>
            <a:r>
              <a:rPr lang="en-US" sz="1800" dirty="0">
                <a:solidFill>
                  <a:srgbClr val="12151C"/>
                </a:solidFill>
                <a:latin typeface="Arial" pitchFamily="34" charset="0"/>
                <a:ea typeface="Arial" pitchFamily="34" charset="-122"/>
                <a:cs typeface="Arial" pitchFamily="34" charset="-120"/>
              </a:rPr>
              <a:t>synth</a:t>
            </a:r>
            <a:endParaRPr lang="en-US" sz="1800" dirty="0"/>
          </a:p>
        </p:txBody>
      </p:sp>
      <p:sp>
        <p:nvSpPr>
          <p:cNvPr id="11" name="Text 9"/>
          <p:cNvSpPr txBox="1"/>
          <p:nvPr/>
        </p:nvSpPr>
        <p:spPr>
          <a:xfrm>
            <a:off x="457200" y="3108960"/>
            <a:ext cx="1280160" cy="365760"/>
          </a:xfrm>
          <a:prstGeom prst="rect">
            <a:avLst/>
          </a:prstGeom>
          <a:noFill/>
          <a:ln/>
        </p:spPr>
        <p:txBody>
          <a:bodyPr wrap="square" lIns="0" tIns="0" rIns="0" bIns="0" rtlCol="0" anchor="t"/>
          <a:lstStyle/>
          <a:p>
            <a:pPr algn="ctr" indent="0" marL="0">
              <a:buNone/>
            </a:pPr>
            <a:r>
              <a:rPr lang="en-US" sz="2000" b="1" dirty="0">
                <a:solidFill>
                  <a:srgbClr val="008F7A"/>
                </a:solidFill>
                <a:latin typeface="Arial" pitchFamily="34" charset="0"/>
                <a:ea typeface="Arial" pitchFamily="34" charset="-122"/>
                <a:cs typeface="Arial" pitchFamily="34" charset="-120"/>
              </a:rPr>
              <a:t>3 s</a:t>
            </a:r>
            <a:endParaRPr lang="en-US" sz="2000" dirty="0"/>
          </a:p>
        </p:txBody>
      </p:sp>
      <p:sp>
        <p:nvSpPr>
          <p:cNvPr id="12" name="lab 2"/>
          <p:cNvSpPr/>
          <p:nvPr/>
        </p:nvSpPr>
        <p:spPr>
          <a:xfrm>
            <a:off x="1847088" y="2240280"/>
            <a:ext cx="1280160" cy="1371600"/>
          </a:xfrm>
          <a:prstGeom prst="roundRect">
            <a:avLst>
              <a:gd name="adj" fmla="val 5714"/>
            </a:avLst>
          </a:prstGeom>
          <a:solidFill>
            <a:srgbClr val="E1F0ED"/>
          </a:solidFill>
          <a:ln w="12700">
            <a:solidFill>
              <a:srgbClr val="008F7A"/>
            </a:solidFill>
            <a:prstDash val="solid"/>
          </a:ln>
        </p:spPr>
      </p:sp>
      <p:sp>
        <p:nvSpPr>
          <p:cNvPr id="13" name="Text 11"/>
          <p:cNvSpPr txBox="1"/>
          <p:nvPr/>
        </p:nvSpPr>
        <p:spPr>
          <a:xfrm>
            <a:off x="1847088" y="2331720"/>
            <a:ext cx="1280160" cy="320040"/>
          </a:xfrm>
          <a:prstGeom prst="rect">
            <a:avLst/>
          </a:prstGeom>
          <a:noFill/>
          <a:ln/>
        </p:spPr>
        <p:txBody>
          <a:bodyPr wrap="square" lIns="0" tIns="0" rIns="0" bIns="0" rtlCol="0" anchor="t"/>
          <a:lstStyle/>
          <a:p>
            <a:pPr algn="ctr" indent="0" marL="0">
              <a:buNone/>
            </a:pPr>
            <a:r>
              <a:rPr lang="en-US" sz="1800" b="1" dirty="0">
                <a:solidFill>
                  <a:srgbClr val="12151C"/>
                </a:solidFill>
                <a:latin typeface="Arial" pitchFamily="34" charset="0"/>
                <a:ea typeface="Arial" pitchFamily="34" charset="-122"/>
                <a:cs typeface="Arial" pitchFamily="34" charset="-120"/>
              </a:rPr>
              <a:t>Lab 2</a:t>
            </a:r>
            <a:endParaRPr lang="en-US" sz="1800" dirty="0"/>
          </a:p>
        </p:txBody>
      </p:sp>
      <p:sp>
        <p:nvSpPr>
          <p:cNvPr id="14" name="Text 12"/>
          <p:cNvSpPr txBox="1"/>
          <p:nvPr/>
        </p:nvSpPr>
        <p:spPr>
          <a:xfrm>
            <a:off x="1847088" y="2697480"/>
            <a:ext cx="1280160" cy="320040"/>
          </a:xfrm>
          <a:prstGeom prst="rect">
            <a:avLst/>
          </a:prstGeom>
          <a:noFill/>
          <a:ln/>
        </p:spPr>
        <p:txBody>
          <a:bodyPr wrap="square" lIns="0" tIns="0" rIns="0" bIns="0" rtlCol="0" anchor="t"/>
          <a:lstStyle/>
          <a:p>
            <a:pPr algn="ctr" indent="0" marL="0">
              <a:buNone/>
            </a:pPr>
            <a:r>
              <a:rPr lang="en-US" sz="1800" dirty="0">
                <a:solidFill>
                  <a:srgbClr val="12151C"/>
                </a:solidFill>
                <a:latin typeface="Arial" pitchFamily="34" charset="0"/>
                <a:ea typeface="Arial" pitchFamily="34" charset="-122"/>
                <a:cs typeface="Arial" pitchFamily="34" charset="-120"/>
              </a:rPr>
              <a:t>floorplan</a:t>
            </a:r>
            <a:endParaRPr lang="en-US" sz="1800" dirty="0"/>
          </a:p>
        </p:txBody>
      </p:sp>
      <p:sp>
        <p:nvSpPr>
          <p:cNvPr id="15" name="Text 13"/>
          <p:cNvSpPr txBox="1"/>
          <p:nvPr/>
        </p:nvSpPr>
        <p:spPr>
          <a:xfrm>
            <a:off x="1847088" y="3108960"/>
            <a:ext cx="1280160" cy="365760"/>
          </a:xfrm>
          <a:prstGeom prst="rect">
            <a:avLst/>
          </a:prstGeom>
          <a:noFill/>
          <a:ln/>
        </p:spPr>
        <p:txBody>
          <a:bodyPr wrap="square" lIns="0" tIns="0" rIns="0" bIns="0" rtlCol="0" anchor="t"/>
          <a:lstStyle/>
          <a:p>
            <a:pPr algn="ctr" indent="0" marL="0">
              <a:buNone/>
            </a:pPr>
            <a:r>
              <a:rPr lang="en-US" sz="2000" b="1" dirty="0">
                <a:solidFill>
                  <a:srgbClr val="008F7A"/>
                </a:solidFill>
                <a:latin typeface="Arial" pitchFamily="34" charset="0"/>
                <a:ea typeface="Arial" pitchFamily="34" charset="-122"/>
                <a:cs typeface="Arial" pitchFamily="34" charset="-120"/>
              </a:rPr>
              <a:t>6 s</a:t>
            </a:r>
            <a:endParaRPr lang="en-US" sz="2000" dirty="0"/>
          </a:p>
        </p:txBody>
      </p:sp>
      <p:sp>
        <p:nvSpPr>
          <p:cNvPr id="16" name="lab 3"/>
          <p:cNvSpPr/>
          <p:nvPr/>
        </p:nvSpPr>
        <p:spPr>
          <a:xfrm>
            <a:off x="3236976" y="2240280"/>
            <a:ext cx="1280160" cy="1371600"/>
          </a:xfrm>
          <a:prstGeom prst="roundRect">
            <a:avLst>
              <a:gd name="adj" fmla="val 5714"/>
            </a:avLst>
          </a:prstGeom>
          <a:solidFill>
            <a:srgbClr val="E1F0ED"/>
          </a:solidFill>
          <a:ln w="12700">
            <a:solidFill>
              <a:srgbClr val="008F7A"/>
            </a:solidFill>
            <a:prstDash val="solid"/>
          </a:ln>
        </p:spPr>
      </p:sp>
      <p:sp>
        <p:nvSpPr>
          <p:cNvPr id="17" name="Text 15"/>
          <p:cNvSpPr txBox="1"/>
          <p:nvPr/>
        </p:nvSpPr>
        <p:spPr>
          <a:xfrm>
            <a:off x="3236976" y="2331720"/>
            <a:ext cx="1280160" cy="320040"/>
          </a:xfrm>
          <a:prstGeom prst="rect">
            <a:avLst/>
          </a:prstGeom>
          <a:noFill/>
          <a:ln/>
        </p:spPr>
        <p:txBody>
          <a:bodyPr wrap="square" lIns="0" tIns="0" rIns="0" bIns="0" rtlCol="0" anchor="t"/>
          <a:lstStyle/>
          <a:p>
            <a:pPr algn="ctr" indent="0" marL="0">
              <a:buNone/>
            </a:pPr>
            <a:r>
              <a:rPr lang="en-US" sz="1800" b="1" dirty="0">
                <a:solidFill>
                  <a:srgbClr val="12151C"/>
                </a:solidFill>
                <a:latin typeface="Arial" pitchFamily="34" charset="0"/>
                <a:ea typeface="Arial" pitchFamily="34" charset="-122"/>
                <a:cs typeface="Arial" pitchFamily="34" charset="-120"/>
              </a:rPr>
              <a:t>Lab 3</a:t>
            </a:r>
            <a:endParaRPr lang="en-US" sz="1800" dirty="0"/>
          </a:p>
        </p:txBody>
      </p:sp>
      <p:sp>
        <p:nvSpPr>
          <p:cNvPr id="18" name="Text 16"/>
          <p:cNvSpPr txBox="1"/>
          <p:nvPr/>
        </p:nvSpPr>
        <p:spPr>
          <a:xfrm>
            <a:off x="3236976" y="2697480"/>
            <a:ext cx="1280160" cy="320040"/>
          </a:xfrm>
          <a:prstGeom prst="rect">
            <a:avLst/>
          </a:prstGeom>
          <a:noFill/>
          <a:ln/>
        </p:spPr>
        <p:txBody>
          <a:bodyPr wrap="square" lIns="0" tIns="0" rIns="0" bIns="0" rtlCol="0" anchor="t"/>
          <a:lstStyle/>
          <a:p>
            <a:pPr algn="ctr" indent="0" marL="0">
              <a:buNone/>
            </a:pPr>
            <a:r>
              <a:rPr lang="en-US" sz="1800" dirty="0">
                <a:solidFill>
                  <a:srgbClr val="12151C"/>
                </a:solidFill>
                <a:latin typeface="Arial" pitchFamily="34" charset="0"/>
                <a:ea typeface="Arial" pitchFamily="34" charset="-122"/>
                <a:cs typeface="Arial" pitchFamily="34" charset="-120"/>
              </a:rPr>
              <a:t>place</a:t>
            </a:r>
            <a:endParaRPr lang="en-US" sz="1800" dirty="0"/>
          </a:p>
        </p:txBody>
      </p:sp>
      <p:sp>
        <p:nvSpPr>
          <p:cNvPr id="19" name="Text 17"/>
          <p:cNvSpPr txBox="1"/>
          <p:nvPr/>
        </p:nvSpPr>
        <p:spPr>
          <a:xfrm>
            <a:off x="3236976" y="3108960"/>
            <a:ext cx="1280160" cy="365760"/>
          </a:xfrm>
          <a:prstGeom prst="rect">
            <a:avLst/>
          </a:prstGeom>
          <a:noFill/>
          <a:ln/>
        </p:spPr>
        <p:txBody>
          <a:bodyPr wrap="square" lIns="0" tIns="0" rIns="0" bIns="0" rtlCol="0" anchor="t"/>
          <a:lstStyle/>
          <a:p>
            <a:pPr algn="ctr" indent="0" marL="0">
              <a:buNone/>
            </a:pPr>
            <a:r>
              <a:rPr lang="en-US" sz="2000" b="1" dirty="0">
                <a:solidFill>
                  <a:srgbClr val="008F7A"/>
                </a:solidFill>
                <a:latin typeface="Arial" pitchFamily="34" charset="0"/>
                <a:ea typeface="Arial" pitchFamily="34" charset="-122"/>
                <a:cs typeface="Arial" pitchFamily="34" charset="-120"/>
              </a:rPr>
              <a:t>9 s</a:t>
            </a:r>
            <a:endParaRPr lang="en-US" sz="2000" dirty="0"/>
          </a:p>
        </p:txBody>
      </p:sp>
      <p:sp>
        <p:nvSpPr>
          <p:cNvPr id="20" name="lab 4"/>
          <p:cNvSpPr/>
          <p:nvPr/>
        </p:nvSpPr>
        <p:spPr>
          <a:xfrm>
            <a:off x="4626864" y="2240280"/>
            <a:ext cx="1280160" cy="1371600"/>
          </a:xfrm>
          <a:prstGeom prst="roundRect">
            <a:avLst>
              <a:gd name="adj" fmla="val 5714"/>
            </a:avLst>
          </a:prstGeom>
          <a:solidFill>
            <a:srgbClr val="FFFFFF"/>
          </a:solidFill>
          <a:ln w="12700">
            <a:solidFill>
              <a:srgbClr val="008F7A"/>
            </a:solidFill>
            <a:prstDash val="solid"/>
          </a:ln>
        </p:spPr>
      </p:sp>
      <p:sp>
        <p:nvSpPr>
          <p:cNvPr id="21" name="Text 19"/>
          <p:cNvSpPr txBox="1"/>
          <p:nvPr/>
        </p:nvSpPr>
        <p:spPr>
          <a:xfrm>
            <a:off x="4626864" y="2331720"/>
            <a:ext cx="1280160" cy="320040"/>
          </a:xfrm>
          <a:prstGeom prst="rect">
            <a:avLst/>
          </a:prstGeom>
          <a:noFill/>
          <a:ln/>
        </p:spPr>
        <p:txBody>
          <a:bodyPr wrap="square" lIns="0" tIns="0" rIns="0" bIns="0" rtlCol="0" anchor="t"/>
          <a:lstStyle/>
          <a:p>
            <a:pPr algn="ctr" indent="0" marL="0">
              <a:buNone/>
            </a:pPr>
            <a:r>
              <a:rPr lang="en-US" sz="1800" b="1" dirty="0">
                <a:solidFill>
                  <a:srgbClr val="12151C"/>
                </a:solidFill>
                <a:latin typeface="Arial" pitchFamily="34" charset="0"/>
                <a:ea typeface="Arial" pitchFamily="34" charset="-122"/>
                <a:cs typeface="Arial" pitchFamily="34" charset="-120"/>
              </a:rPr>
              <a:t>Lab 4</a:t>
            </a:r>
            <a:endParaRPr lang="en-US" sz="1800" dirty="0"/>
          </a:p>
        </p:txBody>
      </p:sp>
      <p:sp>
        <p:nvSpPr>
          <p:cNvPr id="22" name="Text 20"/>
          <p:cNvSpPr txBox="1"/>
          <p:nvPr/>
        </p:nvSpPr>
        <p:spPr>
          <a:xfrm>
            <a:off x="4626864" y="2697480"/>
            <a:ext cx="1280160" cy="320040"/>
          </a:xfrm>
          <a:prstGeom prst="rect">
            <a:avLst/>
          </a:prstGeom>
          <a:noFill/>
          <a:ln/>
        </p:spPr>
        <p:txBody>
          <a:bodyPr wrap="square" lIns="0" tIns="0" rIns="0" bIns="0" rtlCol="0" anchor="t"/>
          <a:lstStyle/>
          <a:p>
            <a:pPr algn="ctr" indent="0" marL="0">
              <a:buNone/>
            </a:pPr>
            <a:r>
              <a:rPr lang="en-US" sz="1800" dirty="0">
                <a:solidFill>
                  <a:srgbClr val="12151C"/>
                </a:solidFill>
                <a:latin typeface="Arial" pitchFamily="34" charset="0"/>
                <a:ea typeface="Arial" pitchFamily="34" charset="-122"/>
                <a:cs typeface="Arial" pitchFamily="34" charset="-120"/>
              </a:rPr>
              <a:t>clock</a:t>
            </a:r>
            <a:endParaRPr lang="en-US" sz="1800" dirty="0"/>
          </a:p>
        </p:txBody>
      </p:sp>
      <p:sp>
        <p:nvSpPr>
          <p:cNvPr id="23" name="Text 21"/>
          <p:cNvSpPr txBox="1"/>
          <p:nvPr/>
        </p:nvSpPr>
        <p:spPr>
          <a:xfrm>
            <a:off x="4626864" y="3108960"/>
            <a:ext cx="1280160" cy="365760"/>
          </a:xfrm>
          <a:prstGeom prst="rect">
            <a:avLst/>
          </a:prstGeom>
          <a:noFill/>
          <a:ln/>
        </p:spPr>
        <p:txBody>
          <a:bodyPr wrap="square" lIns="0" tIns="0" rIns="0" bIns="0" rtlCol="0" anchor="t"/>
          <a:lstStyle/>
          <a:p>
            <a:pPr algn="ctr" indent="0" marL="0">
              <a:buNone/>
            </a:pPr>
            <a:r>
              <a:rPr lang="en-US" sz="2000" b="1" dirty="0">
                <a:solidFill>
                  <a:srgbClr val="008F7A"/>
                </a:solidFill>
                <a:latin typeface="Arial" pitchFamily="34" charset="0"/>
                <a:ea typeface="Arial" pitchFamily="34" charset="-122"/>
                <a:cs typeface="Arial" pitchFamily="34" charset="-120"/>
              </a:rPr>
              <a:t>12 s</a:t>
            </a:r>
            <a:endParaRPr lang="en-US" sz="2000" dirty="0"/>
          </a:p>
        </p:txBody>
      </p:sp>
      <p:sp>
        <p:nvSpPr>
          <p:cNvPr id="24" name="lab 5"/>
          <p:cNvSpPr/>
          <p:nvPr/>
        </p:nvSpPr>
        <p:spPr>
          <a:xfrm>
            <a:off x="6016752" y="2240280"/>
            <a:ext cx="1280160" cy="1371600"/>
          </a:xfrm>
          <a:prstGeom prst="roundRect">
            <a:avLst>
              <a:gd name="adj" fmla="val 5714"/>
            </a:avLst>
          </a:prstGeom>
          <a:solidFill>
            <a:srgbClr val="FFFFFF"/>
          </a:solidFill>
          <a:ln w="12700">
            <a:solidFill>
              <a:srgbClr val="008F7A"/>
            </a:solidFill>
            <a:prstDash val="solid"/>
          </a:ln>
        </p:spPr>
      </p:sp>
      <p:sp>
        <p:nvSpPr>
          <p:cNvPr id="25" name="Text 23"/>
          <p:cNvSpPr txBox="1"/>
          <p:nvPr/>
        </p:nvSpPr>
        <p:spPr>
          <a:xfrm>
            <a:off x="6016752" y="2331720"/>
            <a:ext cx="1280160" cy="320040"/>
          </a:xfrm>
          <a:prstGeom prst="rect">
            <a:avLst/>
          </a:prstGeom>
          <a:noFill/>
          <a:ln/>
        </p:spPr>
        <p:txBody>
          <a:bodyPr wrap="square" lIns="0" tIns="0" rIns="0" bIns="0" rtlCol="0" anchor="t"/>
          <a:lstStyle/>
          <a:p>
            <a:pPr algn="ctr" indent="0" marL="0">
              <a:buNone/>
            </a:pPr>
            <a:r>
              <a:rPr lang="en-US" sz="1800" b="1" dirty="0">
                <a:solidFill>
                  <a:srgbClr val="12151C"/>
                </a:solidFill>
                <a:latin typeface="Arial" pitchFamily="34" charset="0"/>
                <a:ea typeface="Arial" pitchFamily="34" charset="-122"/>
                <a:cs typeface="Arial" pitchFamily="34" charset="-120"/>
              </a:rPr>
              <a:t>Lab 5</a:t>
            </a:r>
            <a:endParaRPr lang="en-US" sz="1800" dirty="0"/>
          </a:p>
        </p:txBody>
      </p:sp>
      <p:sp>
        <p:nvSpPr>
          <p:cNvPr id="26" name="Text 24"/>
          <p:cNvSpPr txBox="1"/>
          <p:nvPr/>
        </p:nvSpPr>
        <p:spPr>
          <a:xfrm>
            <a:off x="6016752" y="2697480"/>
            <a:ext cx="1280160" cy="320040"/>
          </a:xfrm>
          <a:prstGeom prst="rect">
            <a:avLst/>
          </a:prstGeom>
          <a:noFill/>
          <a:ln/>
        </p:spPr>
        <p:txBody>
          <a:bodyPr wrap="square" lIns="0" tIns="0" rIns="0" bIns="0" rtlCol="0" anchor="t"/>
          <a:lstStyle/>
          <a:p>
            <a:pPr algn="ctr" indent="0" marL="0">
              <a:buNone/>
            </a:pPr>
            <a:r>
              <a:rPr lang="en-US" sz="1800" dirty="0">
                <a:solidFill>
                  <a:srgbClr val="12151C"/>
                </a:solidFill>
                <a:latin typeface="Arial" pitchFamily="34" charset="0"/>
                <a:ea typeface="Arial" pitchFamily="34" charset="-122"/>
                <a:cs typeface="Arial" pitchFamily="34" charset="-120"/>
              </a:rPr>
              <a:t>route</a:t>
            </a:r>
            <a:endParaRPr lang="en-US" sz="1800" dirty="0"/>
          </a:p>
        </p:txBody>
      </p:sp>
      <p:sp>
        <p:nvSpPr>
          <p:cNvPr id="27" name="Text 25"/>
          <p:cNvSpPr txBox="1"/>
          <p:nvPr/>
        </p:nvSpPr>
        <p:spPr>
          <a:xfrm>
            <a:off x="6016752" y="3108960"/>
            <a:ext cx="1280160" cy="365760"/>
          </a:xfrm>
          <a:prstGeom prst="rect">
            <a:avLst/>
          </a:prstGeom>
          <a:noFill/>
          <a:ln/>
        </p:spPr>
        <p:txBody>
          <a:bodyPr wrap="square" lIns="0" tIns="0" rIns="0" bIns="0" rtlCol="0" anchor="t"/>
          <a:lstStyle/>
          <a:p>
            <a:pPr algn="ctr" indent="0" marL="0">
              <a:buNone/>
            </a:pPr>
            <a:r>
              <a:rPr lang="en-US" sz="2000" b="1" dirty="0">
                <a:solidFill>
                  <a:srgbClr val="008F7A"/>
                </a:solidFill>
                <a:latin typeface="Arial" pitchFamily="34" charset="0"/>
                <a:ea typeface="Arial" pitchFamily="34" charset="-122"/>
                <a:cs typeface="Arial" pitchFamily="34" charset="-120"/>
              </a:rPr>
              <a:t>32 s</a:t>
            </a:r>
            <a:endParaRPr lang="en-US" sz="2000" dirty="0"/>
          </a:p>
        </p:txBody>
      </p:sp>
      <p:sp>
        <p:nvSpPr>
          <p:cNvPr id="28" name="lab 6"/>
          <p:cNvSpPr/>
          <p:nvPr/>
        </p:nvSpPr>
        <p:spPr>
          <a:xfrm>
            <a:off x="7406640" y="2240280"/>
            <a:ext cx="1280160" cy="1371600"/>
          </a:xfrm>
          <a:prstGeom prst="roundRect">
            <a:avLst>
              <a:gd name="adj" fmla="val 5714"/>
            </a:avLst>
          </a:prstGeom>
          <a:solidFill>
            <a:srgbClr val="FFFFFF"/>
          </a:solidFill>
          <a:ln w="12700">
            <a:solidFill>
              <a:srgbClr val="008F7A"/>
            </a:solidFill>
            <a:prstDash val="solid"/>
          </a:ln>
        </p:spPr>
      </p:sp>
      <p:sp>
        <p:nvSpPr>
          <p:cNvPr id="29" name="Text 27"/>
          <p:cNvSpPr txBox="1"/>
          <p:nvPr/>
        </p:nvSpPr>
        <p:spPr>
          <a:xfrm>
            <a:off x="7406640" y="2331720"/>
            <a:ext cx="1280160" cy="320040"/>
          </a:xfrm>
          <a:prstGeom prst="rect">
            <a:avLst/>
          </a:prstGeom>
          <a:noFill/>
          <a:ln/>
        </p:spPr>
        <p:txBody>
          <a:bodyPr wrap="square" lIns="0" tIns="0" rIns="0" bIns="0" rtlCol="0" anchor="t"/>
          <a:lstStyle/>
          <a:p>
            <a:pPr algn="ctr" indent="0" marL="0">
              <a:buNone/>
            </a:pPr>
            <a:r>
              <a:rPr lang="en-US" sz="1800" b="1" dirty="0">
                <a:solidFill>
                  <a:srgbClr val="12151C"/>
                </a:solidFill>
                <a:latin typeface="Arial" pitchFamily="34" charset="0"/>
                <a:ea typeface="Arial" pitchFamily="34" charset="-122"/>
                <a:cs typeface="Arial" pitchFamily="34" charset="-120"/>
              </a:rPr>
              <a:t>Lab 6</a:t>
            </a:r>
            <a:endParaRPr lang="en-US" sz="1800" dirty="0"/>
          </a:p>
        </p:txBody>
      </p:sp>
      <p:sp>
        <p:nvSpPr>
          <p:cNvPr id="30" name="Text 28"/>
          <p:cNvSpPr txBox="1"/>
          <p:nvPr/>
        </p:nvSpPr>
        <p:spPr>
          <a:xfrm>
            <a:off x="7406640" y="2697480"/>
            <a:ext cx="1280160" cy="320040"/>
          </a:xfrm>
          <a:prstGeom prst="rect">
            <a:avLst/>
          </a:prstGeom>
          <a:noFill/>
          <a:ln/>
        </p:spPr>
        <p:txBody>
          <a:bodyPr wrap="square" lIns="0" tIns="0" rIns="0" bIns="0" rtlCol="0" anchor="t"/>
          <a:lstStyle/>
          <a:p>
            <a:pPr algn="ctr" indent="0" marL="0">
              <a:buNone/>
            </a:pPr>
            <a:r>
              <a:rPr lang="en-US" sz="1800" dirty="0">
                <a:solidFill>
                  <a:srgbClr val="12151C"/>
                </a:solidFill>
                <a:latin typeface="Arial" pitchFamily="34" charset="0"/>
                <a:ea typeface="Arial" pitchFamily="34" charset="-122"/>
                <a:cs typeface="Arial" pitchFamily="34" charset="-120"/>
              </a:rPr>
              <a:t>signoff</a:t>
            </a:r>
            <a:endParaRPr lang="en-US" sz="1800" dirty="0"/>
          </a:p>
        </p:txBody>
      </p:sp>
      <p:sp>
        <p:nvSpPr>
          <p:cNvPr id="31" name="Text 29"/>
          <p:cNvSpPr txBox="1"/>
          <p:nvPr/>
        </p:nvSpPr>
        <p:spPr>
          <a:xfrm>
            <a:off x="7406640" y="3108960"/>
            <a:ext cx="1280160" cy="365760"/>
          </a:xfrm>
          <a:prstGeom prst="rect">
            <a:avLst/>
          </a:prstGeom>
          <a:noFill/>
          <a:ln/>
        </p:spPr>
        <p:txBody>
          <a:bodyPr wrap="square" lIns="0" tIns="0" rIns="0" bIns="0" rtlCol="0" anchor="t"/>
          <a:lstStyle/>
          <a:p>
            <a:pPr algn="ctr" indent="0" marL="0">
              <a:buNone/>
            </a:pPr>
            <a:r>
              <a:rPr lang="en-US" sz="2000" b="1" dirty="0">
                <a:solidFill>
                  <a:srgbClr val="008F7A"/>
                </a:solidFill>
                <a:latin typeface="Arial" pitchFamily="34" charset="0"/>
                <a:ea typeface="Arial" pitchFamily="34" charset="-122"/>
                <a:cs typeface="Arial" pitchFamily="34" charset="-120"/>
              </a:rPr>
              <a:t>65 s</a:t>
            </a:r>
            <a:endParaRPr lang="en-US" sz="2000" dirty="0"/>
          </a:p>
        </p:txBody>
      </p:sp>
      <p:sp>
        <p:nvSpPr>
          <p:cNvPr id="32" name="Text 30"/>
          <p:cNvSpPr txBox="1"/>
          <p:nvPr/>
        </p:nvSpPr>
        <p:spPr>
          <a:xfrm>
            <a:off x="457200" y="3840480"/>
            <a:ext cx="822960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Each lab starts from its own checkpoint.</a:t>
            </a:r>
            <a:endParaRPr lang="en-US" sz="1800" dirty="0"/>
          </a:p>
        </p:txBody>
      </p:sp>
      <p:sp>
        <p:nvSpPr>
          <p:cNvPr id="33" name="Text 31"/>
          <p:cNvSpPr txBox="1"/>
          <p:nvPr/>
        </p:nvSpPr>
        <p:spPr>
          <a:xfrm>
            <a:off x="457200" y="4297680"/>
            <a:ext cx="8229600" cy="32004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Run on this Mac's Linux VM (2 CPUs, 8 GB). Codespaces and Colab: not verified.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While setup runs, it executes all 76 steps once</a:t>
            </a:r>
            <a:endParaRPr lang="en-US" sz="2800" dirty="0"/>
          </a:p>
        </p:txBody>
      </p:sp>
      <p:sp>
        <p:nvSpPr>
          <p:cNvPr id="3" name="phase lint, synth"/>
          <p:cNvSpPr/>
          <p:nvPr/>
        </p:nvSpPr>
        <p:spPr>
          <a:xfrm>
            <a:off x="457200" y="1554480"/>
            <a:ext cx="142683" cy="914400"/>
          </a:xfrm>
          <a:prstGeom prst="rect">
            <a:avLst/>
          </a:prstGeom>
          <a:solidFill>
            <a:srgbClr val="008F7A"/>
          </a:solidFill>
          <a:ln w="9525">
            <a:solidFill>
              <a:srgbClr val="FFFFFF"/>
            </a:solidFill>
            <a:prstDash val="solid"/>
          </a:ln>
        </p:spPr>
      </p:sp>
      <p:sp>
        <p:nvSpPr>
          <p:cNvPr id="4" name="phase floorplan"/>
          <p:cNvSpPr/>
          <p:nvPr/>
        </p:nvSpPr>
        <p:spPr>
          <a:xfrm>
            <a:off x="599883" y="1554480"/>
            <a:ext cx="361560" cy="914400"/>
          </a:xfrm>
          <a:prstGeom prst="rect">
            <a:avLst/>
          </a:prstGeom>
          <a:solidFill>
            <a:srgbClr val="2F5AAE"/>
          </a:solidFill>
          <a:ln w="9525">
            <a:solidFill>
              <a:srgbClr val="FFFFFF"/>
            </a:solidFill>
            <a:prstDash val="solid"/>
          </a:ln>
        </p:spPr>
      </p:sp>
      <p:sp>
        <p:nvSpPr>
          <p:cNvPr id="5" name="phase placement"/>
          <p:cNvSpPr/>
          <p:nvPr/>
        </p:nvSpPr>
        <p:spPr>
          <a:xfrm>
            <a:off x="961443" y="1554480"/>
            <a:ext cx="348950" cy="914400"/>
          </a:xfrm>
          <a:prstGeom prst="rect">
            <a:avLst/>
          </a:prstGeom>
          <a:solidFill>
            <a:srgbClr val="FF4D2E"/>
          </a:solidFill>
          <a:ln w="9525">
            <a:solidFill>
              <a:srgbClr val="FFFFFF"/>
            </a:solidFill>
            <a:prstDash val="solid"/>
          </a:ln>
        </p:spPr>
      </p:sp>
      <p:sp>
        <p:nvSpPr>
          <p:cNvPr id="6" name="phase clock tree"/>
          <p:cNvSpPr/>
          <p:nvPr/>
        </p:nvSpPr>
        <p:spPr>
          <a:xfrm>
            <a:off x="1310393" y="1554480"/>
            <a:ext cx="634469" cy="914400"/>
          </a:xfrm>
          <a:prstGeom prst="rect">
            <a:avLst/>
          </a:prstGeom>
          <a:solidFill>
            <a:srgbClr val="9463AE"/>
          </a:solidFill>
          <a:ln w="9525">
            <a:solidFill>
              <a:srgbClr val="FFFFFF"/>
            </a:solidFill>
            <a:prstDash val="solid"/>
          </a:ln>
        </p:spPr>
      </p:sp>
      <p:sp>
        <p:nvSpPr>
          <p:cNvPr id="7" name="phase routing"/>
          <p:cNvSpPr/>
          <p:nvPr/>
        </p:nvSpPr>
        <p:spPr>
          <a:xfrm>
            <a:off x="1944862" y="1554480"/>
            <a:ext cx="2193128" cy="914400"/>
          </a:xfrm>
          <a:prstGeom prst="rect">
            <a:avLst/>
          </a:prstGeom>
          <a:solidFill>
            <a:srgbClr val="BE574B"/>
          </a:solidFill>
          <a:ln w="9525">
            <a:solidFill>
              <a:srgbClr val="FFFFFF"/>
            </a:solidFill>
            <a:prstDash val="solid"/>
          </a:ln>
        </p:spPr>
      </p:sp>
      <p:sp>
        <p:nvSpPr>
          <p:cNvPr id="8" name="phase signoff"/>
          <p:cNvSpPr/>
          <p:nvPr/>
        </p:nvSpPr>
        <p:spPr>
          <a:xfrm>
            <a:off x="4137990" y="1554480"/>
            <a:ext cx="4548810" cy="914400"/>
          </a:xfrm>
          <a:prstGeom prst="rect">
            <a:avLst/>
          </a:prstGeom>
          <a:solidFill>
            <a:srgbClr val="071A36"/>
          </a:solidFill>
          <a:ln w="9525">
            <a:solidFill>
              <a:srgbClr val="FFFFFF"/>
            </a:solidFill>
            <a:prstDash val="solid"/>
          </a:ln>
        </p:spPr>
      </p:sp>
      <p:sp>
        <p:nvSpPr>
          <p:cNvPr id="9" name="Text 7"/>
          <p:cNvSpPr txBox="1"/>
          <p:nvPr/>
        </p:nvSpPr>
        <p:spPr>
          <a:xfrm>
            <a:off x="457200" y="2606040"/>
            <a:ext cx="8229600" cy="36576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The reference run of uart, step by step</a:t>
            </a:r>
            <a:endParaRPr lang="en-US" sz="1800" dirty="0"/>
          </a:p>
        </p:txBody>
      </p:sp>
      <p:sp>
        <p:nvSpPr>
          <p:cNvPr id="10" name="card"/>
          <p:cNvSpPr/>
          <p:nvPr/>
        </p:nvSpPr>
        <p:spPr>
          <a:xfrm>
            <a:off x="457200" y="3154680"/>
            <a:ext cx="2651760" cy="1097280"/>
          </a:xfrm>
          <a:prstGeom prst="roundRect">
            <a:avLst>
              <a:gd name="adj" fmla="val 6667"/>
            </a:avLst>
          </a:prstGeom>
          <a:solidFill>
            <a:srgbClr val="FFFFFF"/>
          </a:solidFill>
          <a:ln w="9525">
            <a:solidFill>
              <a:srgbClr val="D5D9DC"/>
            </a:solidFill>
            <a:prstDash val="solid"/>
          </a:ln>
        </p:spPr>
      </p:sp>
      <p:sp>
        <p:nvSpPr>
          <p:cNvPr id="11" name="Text 9"/>
          <p:cNvSpPr txBox="1"/>
          <p:nvPr/>
        </p:nvSpPr>
        <p:spPr>
          <a:xfrm>
            <a:off x="594360" y="3246120"/>
            <a:ext cx="237744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Reference run</a:t>
            </a:r>
            <a:endParaRPr lang="en-US" sz="1800" dirty="0"/>
          </a:p>
        </p:txBody>
      </p:sp>
      <p:sp>
        <p:nvSpPr>
          <p:cNvPr id="12" name="Text 10"/>
          <p:cNvSpPr txBox="1"/>
          <p:nvPr/>
        </p:nvSpPr>
        <p:spPr>
          <a:xfrm>
            <a:off x="594360" y="3657600"/>
            <a:ext cx="2423160" cy="5029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all 76 steps</a:t>
            </a:r>
            <a:endParaRPr lang="en-US" sz="1600" dirty="0"/>
          </a:p>
        </p:txBody>
      </p:sp>
      <p:sp>
        <p:nvSpPr>
          <p:cNvPr id="13" name="card"/>
          <p:cNvSpPr/>
          <p:nvPr/>
        </p:nvSpPr>
        <p:spPr>
          <a:xfrm>
            <a:off x="3246120" y="3154680"/>
            <a:ext cx="2651760" cy="1097280"/>
          </a:xfrm>
          <a:prstGeom prst="roundRect">
            <a:avLst>
              <a:gd name="adj" fmla="val 6667"/>
            </a:avLst>
          </a:prstGeom>
          <a:solidFill>
            <a:srgbClr val="FFFFFF"/>
          </a:solidFill>
          <a:ln w="9525">
            <a:solidFill>
              <a:srgbClr val="D5D9DC"/>
            </a:solidFill>
            <a:prstDash val="solid"/>
          </a:ln>
        </p:spPr>
      </p:sp>
      <p:sp>
        <p:nvSpPr>
          <p:cNvPr id="14" name="Text 12"/>
          <p:cNvSpPr txBox="1"/>
          <p:nvPr/>
        </p:nvSpPr>
        <p:spPr>
          <a:xfrm>
            <a:off x="3383280" y="3246120"/>
            <a:ext cx="237744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Checkpoints</a:t>
            </a:r>
            <a:endParaRPr lang="en-US" sz="1800" dirty="0"/>
          </a:p>
        </p:txBody>
      </p:sp>
      <p:sp>
        <p:nvSpPr>
          <p:cNvPr id="15" name="Text 13"/>
          <p:cNvSpPr txBox="1"/>
          <p:nvPr/>
        </p:nvSpPr>
        <p:spPr>
          <a:xfrm>
            <a:off x="3383280" y="3657600"/>
            <a:ext cx="2423160" cy="5029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saved before each lab</a:t>
            </a:r>
            <a:endParaRPr lang="en-US" sz="1600" dirty="0"/>
          </a:p>
        </p:txBody>
      </p:sp>
      <p:sp>
        <p:nvSpPr>
          <p:cNvPr id="16" name="card"/>
          <p:cNvSpPr/>
          <p:nvPr/>
        </p:nvSpPr>
        <p:spPr>
          <a:xfrm>
            <a:off x="6035040" y="3154680"/>
            <a:ext cx="2651760" cy="1097280"/>
          </a:xfrm>
          <a:prstGeom prst="roundRect">
            <a:avLst>
              <a:gd name="adj" fmla="val 6667"/>
            </a:avLst>
          </a:prstGeom>
          <a:solidFill>
            <a:srgbClr val="FFFFFF"/>
          </a:solidFill>
          <a:ln w="9525">
            <a:solidFill>
              <a:srgbClr val="D5D9DC"/>
            </a:solidFill>
            <a:prstDash val="solid"/>
          </a:ln>
        </p:spPr>
      </p:sp>
      <p:sp>
        <p:nvSpPr>
          <p:cNvPr id="17" name="Text 15"/>
          <p:cNvSpPr txBox="1"/>
          <p:nvPr/>
        </p:nvSpPr>
        <p:spPr>
          <a:xfrm>
            <a:off x="6172200" y="3246120"/>
            <a:ext cx="237744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Your results</a:t>
            </a:r>
            <a:endParaRPr lang="en-US" sz="1800" dirty="0"/>
          </a:p>
        </p:txBody>
      </p:sp>
      <p:sp>
        <p:nvSpPr>
          <p:cNvPr id="18" name="Text 16"/>
          <p:cNvSpPr txBox="1"/>
          <p:nvPr/>
        </p:nvSpPr>
        <p:spPr>
          <a:xfrm>
            <a:off x="6172200" y="3657600"/>
            <a:ext cx="2423160" cy="5029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build/labs/uart/mine</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Lab 1: how many cells does Verilog become?</a:t>
            </a:r>
            <a:endParaRPr lang="en-US" sz="2800" dirty="0"/>
          </a:p>
        </p:txBody>
      </p:sp>
      <p:sp>
        <p:nvSpPr>
          <p:cNvPr id="3" name="pill PREDICT"/>
          <p:cNvSpPr/>
          <p:nvPr/>
        </p:nvSpPr>
        <p:spPr>
          <a:xfrm>
            <a:off x="457200" y="1271016"/>
            <a:ext cx="105156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27101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PREDICT</a:t>
            </a:r>
            <a:endParaRPr lang="en-US" sz="1200" dirty="0"/>
          </a:p>
        </p:txBody>
      </p:sp>
      <p:sp>
        <p:nvSpPr>
          <p:cNvPr id="5" name="Text 3"/>
          <p:cNvSpPr txBox="1"/>
          <p:nvPr/>
        </p:nvSpPr>
        <p:spPr>
          <a:xfrm>
            <a:off x="1645920" y="123444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3 small Verilog files become 50, 700 or 5,000 cells?</a:t>
            </a:r>
            <a:endParaRPr lang="en-US" sz="1800" dirty="0"/>
          </a:p>
        </p:txBody>
      </p:sp>
      <p:sp>
        <p:nvSpPr>
          <p:cNvPr id="6" name="pill RUN"/>
          <p:cNvSpPr/>
          <p:nvPr/>
        </p:nvSpPr>
        <p:spPr>
          <a:xfrm>
            <a:off x="457200" y="1956816"/>
            <a:ext cx="1051560" cy="310896"/>
          </a:xfrm>
          <a:prstGeom prst="roundRect">
            <a:avLst>
              <a:gd name="adj" fmla="val 50000"/>
            </a:avLst>
          </a:prstGeom>
          <a:solidFill>
            <a:srgbClr val="FF4D2E"/>
          </a:solidFill>
          <a:ln w="6350">
            <a:solidFill>
              <a:srgbClr val="FF4D2E"/>
            </a:solidFill>
            <a:prstDash val="solid"/>
          </a:ln>
        </p:spPr>
      </p:sp>
      <p:sp>
        <p:nvSpPr>
          <p:cNvPr id="7" name="Text 5"/>
          <p:cNvSpPr txBox="1"/>
          <p:nvPr/>
        </p:nvSpPr>
        <p:spPr>
          <a:xfrm>
            <a:off x="457200" y="1956816"/>
            <a:ext cx="10515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RUN</a:t>
            </a:r>
            <a:endParaRPr lang="en-US" sz="1200" dirty="0"/>
          </a:p>
        </p:txBody>
      </p:sp>
      <p:sp>
        <p:nvSpPr>
          <p:cNvPr id="8" name="pill LOOK AT"/>
          <p:cNvSpPr/>
          <p:nvPr/>
        </p:nvSpPr>
        <p:spPr>
          <a:xfrm>
            <a:off x="457200" y="2825496"/>
            <a:ext cx="1051560" cy="310896"/>
          </a:xfrm>
          <a:prstGeom prst="roundRect">
            <a:avLst>
              <a:gd name="adj" fmla="val 50000"/>
            </a:avLst>
          </a:prstGeom>
          <a:solidFill>
            <a:srgbClr val="E1F0ED"/>
          </a:solidFill>
          <a:ln w="6350">
            <a:solidFill>
              <a:srgbClr val="E1F0ED"/>
            </a:solidFill>
            <a:prstDash val="solid"/>
          </a:ln>
        </p:spPr>
      </p:sp>
      <p:sp>
        <p:nvSpPr>
          <p:cNvPr id="9" name="Text 7"/>
          <p:cNvSpPr txBox="1"/>
          <p:nvPr/>
        </p:nvSpPr>
        <p:spPr>
          <a:xfrm>
            <a:off x="457200" y="282549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LOOK AT</a:t>
            </a:r>
            <a:endParaRPr lang="en-US" sz="1200" dirty="0"/>
          </a:p>
        </p:txBody>
      </p:sp>
      <p:sp>
        <p:nvSpPr>
          <p:cNvPr id="10" name="Text 8"/>
          <p:cNvSpPr txBox="1"/>
          <p:nvPr/>
        </p:nvSpPr>
        <p:spPr>
          <a:xfrm>
            <a:off x="1645920" y="2788920"/>
            <a:ext cx="4069080" cy="5943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Cells, cell area, unmapped cells.</a:t>
            </a:r>
            <a:endParaRPr lang="en-US" sz="1800" dirty="0"/>
          </a:p>
        </p:txBody>
      </p:sp>
      <p:sp>
        <p:nvSpPr>
          <p:cNvPr id="11" name="pill REFERENCE"/>
          <p:cNvSpPr/>
          <p:nvPr/>
        </p:nvSpPr>
        <p:spPr>
          <a:xfrm>
            <a:off x="457200" y="3465576"/>
            <a:ext cx="1051560" cy="310896"/>
          </a:xfrm>
          <a:prstGeom prst="roundRect">
            <a:avLst>
              <a:gd name="adj" fmla="val 50000"/>
            </a:avLst>
          </a:prstGeom>
          <a:solidFill>
            <a:srgbClr val="E1F0ED"/>
          </a:solidFill>
          <a:ln w="6350">
            <a:solidFill>
              <a:srgbClr val="E1F0ED"/>
            </a:solidFill>
            <a:prstDash val="solid"/>
          </a:ln>
        </p:spPr>
      </p:sp>
      <p:sp>
        <p:nvSpPr>
          <p:cNvPr id="12" name="Text 10"/>
          <p:cNvSpPr txBox="1"/>
          <p:nvPr/>
        </p:nvSpPr>
        <p:spPr>
          <a:xfrm>
            <a:off x="457200" y="346557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REFERENCE</a:t>
            </a:r>
            <a:endParaRPr lang="en-US" sz="1200" dirty="0"/>
          </a:p>
        </p:txBody>
      </p:sp>
      <p:sp>
        <p:nvSpPr>
          <p:cNvPr id="13" name="Text 11"/>
          <p:cNvSpPr txBox="1"/>
          <p:nvPr/>
        </p:nvSpPr>
        <p:spPr>
          <a:xfrm>
            <a:off x="1645920" y="342900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674 cells, 6,147 µm², 0 unmapped, 0 latches.</a:t>
            </a:r>
            <a:endParaRPr lang="en-US" sz="1800" dirty="0"/>
          </a:p>
        </p:txBody>
      </p:sp>
      <p:sp>
        <p:nvSpPr>
          <p:cNvPr id="14" name="command"/>
          <p:cNvSpPr/>
          <p:nvPr/>
        </p:nvSpPr>
        <p:spPr>
          <a:xfrm>
            <a:off x="1645920" y="1920240"/>
            <a:ext cx="4069080" cy="777240"/>
          </a:xfrm>
          <a:prstGeom prst="roundRect">
            <a:avLst>
              <a:gd name="adj" fmla="val 7059"/>
            </a:avLst>
          </a:prstGeom>
          <a:solidFill>
            <a:srgbClr val="071A36"/>
          </a:solidFill>
          <a:ln w="12700">
            <a:solidFill>
              <a:srgbClr val="071A36"/>
            </a:solidFill>
            <a:prstDash val="solid"/>
          </a:ln>
        </p:spPr>
      </p:sp>
      <p:sp>
        <p:nvSpPr>
          <p:cNvPr id="15" name="Text 13"/>
          <p:cNvSpPr txBox="1"/>
          <p:nvPr/>
        </p:nvSpPr>
        <p:spPr>
          <a:xfrm>
            <a:off x="1755648" y="1920240"/>
            <a:ext cx="3886200" cy="77724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lab N=1</a:t>
            </a:r>
            <a:endParaRPr lang="en-US" sz="1800" dirty="0"/>
          </a:p>
          <a:p>
            <a:pPr indent="0" marL="0">
              <a:buNone/>
            </a:pPr>
            <a:r>
              <a:rPr lang="en-US" sz="1800" b="1" dirty="0">
                <a:solidFill>
                  <a:srgbClr val="FFFFFF"/>
                </a:solidFill>
                <a:latin typeface="Courier New" pitchFamily="34" charset="0"/>
                <a:ea typeface="Courier New" pitchFamily="34" charset="-122"/>
                <a:cs typeface="Courier New" pitchFamily="34" charset="-120"/>
              </a:rPr>
              <a:t>make lab-check N=1</a:t>
            </a:r>
            <a:endParaRPr lang="en-US" sz="1800" dirty="0"/>
          </a:p>
        </p:txBody>
      </p:sp>
      <p:sp>
        <p:nvSpPr>
          <p:cNvPr id="16" name="card"/>
          <p:cNvSpPr/>
          <p:nvPr/>
        </p:nvSpPr>
        <p:spPr>
          <a:xfrm>
            <a:off x="5897880" y="1234440"/>
            <a:ext cx="2788920" cy="2788920"/>
          </a:xfrm>
          <a:prstGeom prst="roundRect">
            <a:avLst>
              <a:gd name="adj" fmla="val 2623"/>
            </a:avLst>
          </a:prstGeom>
          <a:solidFill>
            <a:srgbClr val="E1F0ED"/>
          </a:solidFill>
          <a:ln w="9525">
            <a:solidFill>
              <a:srgbClr val="008F7A"/>
            </a:solidFill>
            <a:prstDash val="solid"/>
          </a:ln>
        </p:spPr>
      </p:sp>
      <p:sp>
        <p:nvSpPr>
          <p:cNvPr id="17" name="Text 15"/>
          <p:cNvSpPr txBox="1"/>
          <p:nvPr/>
        </p:nvSpPr>
        <p:spPr>
          <a:xfrm>
            <a:off x="5897880" y="1691640"/>
            <a:ext cx="2788920" cy="91440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674</a:t>
            </a:r>
            <a:endParaRPr lang="en-US" sz="4400" dirty="0"/>
          </a:p>
        </p:txBody>
      </p:sp>
      <p:sp>
        <p:nvSpPr>
          <p:cNvPr id="18" name="Text 16"/>
          <p:cNvSpPr txBox="1"/>
          <p:nvPr/>
        </p:nvSpPr>
        <p:spPr>
          <a:xfrm>
            <a:off x="5989320" y="2697480"/>
            <a:ext cx="2606040" cy="91440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cells after synthesis (uart)</a:t>
            </a:r>
            <a:endParaRPr lang="en-US" sz="1800" dirty="0"/>
          </a:p>
        </p:txBody>
      </p:sp>
      <p:sp>
        <p:nvSpPr>
          <p:cNvPr id="19" name="Text 17"/>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600" b="1" dirty="0">
                <a:solidFill>
                  <a:srgbClr val="12151C"/>
                </a:solidFill>
                <a:latin typeface="Arial" pitchFamily="34" charset="0"/>
                <a:ea typeface="Arial" pitchFamily="34" charset="-122"/>
                <a:cs typeface="Arial" pitchFamily="34" charset="-120"/>
              </a:rPr>
              <a:t>Labs use uart (2,026 cells, whole flow about 2 min): numbers differ from cnn_lite.</a:t>
            </a:r>
            <a:endParaRPr lang="en-US" sz="1600" dirty="0"/>
          </a:p>
        </p:txBody>
      </p:sp>
      <p:sp>
        <p:nvSpPr>
          <p:cNvPr id="20" name="Text 18"/>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Run on this Mac's Linux VM (2 CPUs, 8 GB). Codespaces and Colab: not verified.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Lab 2: a die with rows and a power grid</a:t>
            </a:r>
            <a:endParaRPr lang="en-US" sz="2800" dirty="0"/>
          </a:p>
        </p:txBody>
      </p:sp>
      <p:sp>
        <p:nvSpPr>
          <p:cNvPr id="3" name="pill PREDICT"/>
          <p:cNvSpPr/>
          <p:nvPr/>
        </p:nvSpPr>
        <p:spPr>
          <a:xfrm>
            <a:off x="457200" y="1271016"/>
            <a:ext cx="105156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27101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PREDICT</a:t>
            </a:r>
            <a:endParaRPr lang="en-US" sz="1200" dirty="0"/>
          </a:p>
        </p:txBody>
      </p:sp>
      <p:sp>
        <p:nvSpPr>
          <p:cNvPr id="5" name="Text 3"/>
          <p:cNvSpPr txBox="1"/>
          <p:nvPr/>
        </p:nvSpPr>
        <p:spPr>
          <a:xfrm>
            <a:off x="1645920" y="123444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The die is 300 × 300 µm. What fraction will cells fill?</a:t>
            </a:r>
            <a:endParaRPr lang="en-US" sz="1800" dirty="0"/>
          </a:p>
        </p:txBody>
      </p:sp>
      <p:sp>
        <p:nvSpPr>
          <p:cNvPr id="6" name="pill RUN"/>
          <p:cNvSpPr/>
          <p:nvPr/>
        </p:nvSpPr>
        <p:spPr>
          <a:xfrm>
            <a:off x="457200" y="1956816"/>
            <a:ext cx="1051560" cy="310896"/>
          </a:xfrm>
          <a:prstGeom prst="roundRect">
            <a:avLst>
              <a:gd name="adj" fmla="val 50000"/>
            </a:avLst>
          </a:prstGeom>
          <a:solidFill>
            <a:srgbClr val="FF4D2E"/>
          </a:solidFill>
          <a:ln w="6350">
            <a:solidFill>
              <a:srgbClr val="FF4D2E"/>
            </a:solidFill>
            <a:prstDash val="solid"/>
          </a:ln>
        </p:spPr>
      </p:sp>
      <p:sp>
        <p:nvSpPr>
          <p:cNvPr id="7" name="Text 5"/>
          <p:cNvSpPr txBox="1"/>
          <p:nvPr/>
        </p:nvSpPr>
        <p:spPr>
          <a:xfrm>
            <a:off x="457200" y="1956816"/>
            <a:ext cx="10515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RUN</a:t>
            </a:r>
            <a:endParaRPr lang="en-US" sz="1200" dirty="0"/>
          </a:p>
        </p:txBody>
      </p:sp>
      <p:sp>
        <p:nvSpPr>
          <p:cNvPr id="8" name="pill LOOK AT"/>
          <p:cNvSpPr/>
          <p:nvPr/>
        </p:nvSpPr>
        <p:spPr>
          <a:xfrm>
            <a:off x="457200" y="2825496"/>
            <a:ext cx="1051560" cy="310896"/>
          </a:xfrm>
          <a:prstGeom prst="roundRect">
            <a:avLst>
              <a:gd name="adj" fmla="val 50000"/>
            </a:avLst>
          </a:prstGeom>
          <a:solidFill>
            <a:srgbClr val="E1F0ED"/>
          </a:solidFill>
          <a:ln w="6350">
            <a:solidFill>
              <a:srgbClr val="E1F0ED"/>
            </a:solidFill>
            <a:prstDash val="solid"/>
          </a:ln>
        </p:spPr>
      </p:sp>
      <p:sp>
        <p:nvSpPr>
          <p:cNvPr id="9" name="Text 7"/>
          <p:cNvSpPr txBox="1"/>
          <p:nvPr/>
        </p:nvSpPr>
        <p:spPr>
          <a:xfrm>
            <a:off x="457200" y="282549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LOOK AT</a:t>
            </a:r>
            <a:endParaRPr lang="en-US" sz="1200" dirty="0"/>
          </a:p>
        </p:txBody>
      </p:sp>
      <p:sp>
        <p:nvSpPr>
          <p:cNvPr id="10" name="Text 8"/>
          <p:cNvSpPr txBox="1"/>
          <p:nvPr/>
        </p:nvSpPr>
        <p:spPr>
          <a:xfrm>
            <a:off x="1645920" y="2788920"/>
            <a:ext cx="4069080" cy="5943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Die, core, rows, power-grid violations.</a:t>
            </a:r>
            <a:endParaRPr lang="en-US" sz="1800" dirty="0"/>
          </a:p>
        </p:txBody>
      </p:sp>
      <p:sp>
        <p:nvSpPr>
          <p:cNvPr id="11" name="pill REFERENCE"/>
          <p:cNvSpPr/>
          <p:nvPr/>
        </p:nvSpPr>
        <p:spPr>
          <a:xfrm>
            <a:off x="457200" y="3465576"/>
            <a:ext cx="1051560" cy="310896"/>
          </a:xfrm>
          <a:prstGeom prst="roundRect">
            <a:avLst>
              <a:gd name="adj" fmla="val 50000"/>
            </a:avLst>
          </a:prstGeom>
          <a:solidFill>
            <a:srgbClr val="E1F0ED"/>
          </a:solidFill>
          <a:ln w="6350">
            <a:solidFill>
              <a:srgbClr val="E1F0ED"/>
            </a:solidFill>
            <a:prstDash val="solid"/>
          </a:ln>
        </p:spPr>
      </p:sp>
      <p:sp>
        <p:nvSpPr>
          <p:cNvPr id="12" name="Text 10"/>
          <p:cNvSpPr txBox="1"/>
          <p:nvPr/>
        </p:nvSpPr>
        <p:spPr>
          <a:xfrm>
            <a:off x="457200" y="346557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REFERENCE</a:t>
            </a:r>
            <a:endParaRPr lang="en-US" sz="1200" dirty="0"/>
          </a:p>
        </p:txBody>
      </p:sp>
      <p:sp>
        <p:nvSpPr>
          <p:cNvPr id="13" name="Text 11"/>
          <p:cNvSpPr txBox="1"/>
          <p:nvPr/>
        </p:nvSpPr>
        <p:spPr>
          <a:xfrm>
            <a:off x="1645920" y="342900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102 rows, 0 violations, utilization 0.095.</a:t>
            </a:r>
            <a:endParaRPr lang="en-US" sz="1800" dirty="0"/>
          </a:p>
        </p:txBody>
      </p:sp>
      <p:sp>
        <p:nvSpPr>
          <p:cNvPr id="14" name="command"/>
          <p:cNvSpPr/>
          <p:nvPr/>
        </p:nvSpPr>
        <p:spPr>
          <a:xfrm>
            <a:off x="1645920" y="1920240"/>
            <a:ext cx="4069080" cy="777240"/>
          </a:xfrm>
          <a:prstGeom prst="roundRect">
            <a:avLst>
              <a:gd name="adj" fmla="val 7059"/>
            </a:avLst>
          </a:prstGeom>
          <a:solidFill>
            <a:srgbClr val="071A36"/>
          </a:solidFill>
          <a:ln w="12700">
            <a:solidFill>
              <a:srgbClr val="071A36"/>
            </a:solidFill>
            <a:prstDash val="solid"/>
          </a:ln>
        </p:spPr>
      </p:sp>
      <p:sp>
        <p:nvSpPr>
          <p:cNvPr id="15" name="Text 13"/>
          <p:cNvSpPr txBox="1"/>
          <p:nvPr/>
        </p:nvSpPr>
        <p:spPr>
          <a:xfrm>
            <a:off x="1755648" y="1920240"/>
            <a:ext cx="3886200" cy="77724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lab N=2</a:t>
            </a:r>
            <a:endParaRPr lang="en-US" sz="1800" dirty="0"/>
          </a:p>
          <a:p>
            <a:pPr indent="0" marL="0">
              <a:buNone/>
            </a:pPr>
            <a:r>
              <a:rPr lang="en-US" sz="1800" b="1" dirty="0">
                <a:solidFill>
                  <a:srgbClr val="FFFFFF"/>
                </a:solidFill>
                <a:latin typeface="Courier New" pitchFamily="34" charset="0"/>
                <a:ea typeface="Courier New" pitchFamily="34" charset="-122"/>
                <a:cs typeface="Courier New" pitchFamily="34" charset="-120"/>
              </a:rPr>
              <a:t>make lab-check N=2</a:t>
            </a:r>
            <a:endParaRPr lang="en-US" sz="1800" dirty="0"/>
          </a:p>
        </p:txBody>
      </p:sp>
      <p:sp>
        <p:nvSpPr>
          <p:cNvPr id="16" name="Shape 14"/>
          <p:cNvSpPr/>
          <p:nvPr/>
        </p:nvSpPr>
        <p:spPr>
          <a:xfrm>
            <a:off x="5897880" y="1234440"/>
            <a:ext cx="2788920" cy="2788920"/>
          </a:xfrm>
          <a:prstGeom prst="rect">
            <a:avLst/>
          </a:prstGeom>
          <a:solidFill>
            <a:srgbClr val="FFFFFF"/>
          </a:solidFill>
          <a:ln w="9525">
            <a:solidFill>
              <a:srgbClr val="D5D9DC"/>
            </a:solidFill>
            <a:prstDash val="solid"/>
          </a:ln>
        </p:spPr>
      </p:sp>
      <p:pic>
        <p:nvPicPr>
          <p:cNvPr id="17" name="Image 0" descr="Reference picture of lab 2 (uart)">    </p:cNvPr>
          <p:cNvPicPr>
            <a:picLocks noChangeAspect="1"/>
          </p:cNvPicPr>
          <p:nvPr/>
        </p:nvPicPr>
        <p:blipFill>
          <a:blip r:embed="rId1"/>
          <a:stretch>
            <a:fillRect/>
          </a:stretch>
        </p:blipFill>
        <p:spPr>
          <a:xfrm>
            <a:off x="5943600" y="1280160"/>
            <a:ext cx="2697480" cy="2697480"/>
          </a:xfrm>
          <a:prstGeom prst="rect">
            <a:avLst/>
          </a:prstGeom>
        </p:spPr>
      </p:pic>
      <p:sp>
        <p:nvSpPr>
          <p:cNvPr id="18" name="Text 15"/>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600" b="1" dirty="0">
                <a:solidFill>
                  <a:srgbClr val="12151C"/>
                </a:solidFill>
                <a:latin typeface="Arial" pitchFamily="34" charset="0"/>
                <a:ea typeface="Arial" pitchFamily="34" charset="-122"/>
                <a:cs typeface="Arial" pitchFamily="34" charset="-120"/>
              </a:rPr>
              <a:t>Labs use uart (2,026 cells, whole flow about 2 min): numbers differ from cnn_lite.</a:t>
            </a:r>
            <a:endParaRPr lang="en-US" sz="1600" dirty="0"/>
          </a:p>
        </p:txBody>
      </p:sp>
      <p:sp>
        <p:nvSpPr>
          <p:cNvPr id="19" name="Text 16"/>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Run on this Mac's Linux VM (2 CPUs, 8 GB). Codespaces and Colab: not verified.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Lab 3: do cells spread out or cluster?</a:t>
            </a:r>
            <a:endParaRPr lang="en-US" sz="2800" dirty="0"/>
          </a:p>
        </p:txBody>
      </p:sp>
      <p:sp>
        <p:nvSpPr>
          <p:cNvPr id="3" name="pill PREDICT"/>
          <p:cNvSpPr/>
          <p:nvPr/>
        </p:nvSpPr>
        <p:spPr>
          <a:xfrm>
            <a:off x="457200" y="1271016"/>
            <a:ext cx="105156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27101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PREDICT</a:t>
            </a:r>
            <a:endParaRPr lang="en-US" sz="1200" dirty="0"/>
          </a:p>
        </p:txBody>
      </p:sp>
      <p:sp>
        <p:nvSpPr>
          <p:cNvPr id="5" name="Text 3"/>
          <p:cNvSpPr txBox="1"/>
          <p:nvPr/>
        </p:nvSpPr>
        <p:spPr>
          <a:xfrm>
            <a:off x="1645920" y="123444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Will cells spread over the die, or cluster?</a:t>
            </a:r>
            <a:endParaRPr lang="en-US" sz="1800" dirty="0"/>
          </a:p>
        </p:txBody>
      </p:sp>
      <p:sp>
        <p:nvSpPr>
          <p:cNvPr id="6" name="pill RUN"/>
          <p:cNvSpPr/>
          <p:nvPr/>
        </p:nvSpPr>
        <p:spPr>
          <a:xfrm>
            <a:off x="457200" y="1956816"/>
            <a:ext cx="1051560" cy="310896"/>
          </a:xfrm>
          <a:prstGeom prst="roundRect">
            <a:avLst>
              <a:gd name="adj" fmla="val 50000"/>
            </a:avLst>
          </a:prstGeom>
          <a:solidFill>
            <a:srgbClr val="FF4D2E"/>
          </a:solidFill>
          <a:ln w="6350">
            <a:solidFill>
              <a:srgbClr val="FF4D2E"/>
            </a:solidFill>
            <a:prstDash val="solid"/>
          </a:ln>
        </p:spPr>
      </p:sp>
      <p:sp>
        <p:nvSpPr>
          <p:cNvPr id="7" name="Text 5"/>
          <p:cNvSpPr txBox="1"/>
          <p:nvPr/>
        </p:nvSpPr>
        <p:spPr>
          <a:xfrm>
            <a:off x="457200" y="1956816"/>
            <a:ext cx="10515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RUN</a:t>
            </a:r>
            <a:endParaRPr lang="en-US" sz="1200" dirty="0"/>
          </a:p>
        </p:txBody>
      </p:sp>
      <p:sp>
        <p:nvSpPr>
          <p:cNvPr id="8" name="pill LOOK AT"/>
          <p:cNvSpPr/>
          <p:nvPr/>
        </p:nvSpPr>
        <p:spPr>
          <a:xfrm>
            <a:off x="457200" y="2825496"/>
            <a:ext cx="1051560" cy="310896"/>
          </a:xfrm>
          <a:prstGeom prst="roundRect">
            <a:avLst>
              <a:gd name="adj" fmla="val 50000"/>
            </a:avLst>
          </a:prstGeom>
          <a:solidFill>
            <a:srgbClr val="E1F0ED"/>
          </a:solidFill>
          <a:ln w="6350">
            <a:solidFill>
              <a:srgbClr val="E1F0ED"/>
            </a:solidFill>
            <a:prstDash val="solid"/>
          </a:ln>
        </p:spPr>
      </p:sp>
      <p:sp>
        <p:nvSpPr>
          <p:cNvPr id="9" name="Text 7"/>
          <p:cNvSpPr txBox="1"/>
          <p:nvPr/>
        </p:nvSpPr>
        <p:spPr>
          <a:xfrm>
            <a:off x="457200" y="282549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LOOK AT</a:t>
            </a:r>
            <a:endParaRPr lang="en-US" sz="1200" dirty="0"/>
          </a:p>
        </p:txBody>
      </p:sp>
      <p:sp>
        <p:nvSpPr>
          <p:cNvPr id="10" name="Text 8"/>
          <p:cNvSpPr txBox="1"/>
          <p:nvPr/>
        </p:nvSpPr>
        <p:spPr>
          <a:xfrm>
            <a:off x="1645920" y="2788920"/>
            <a:ext cx="4069080" cy="5943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Cells placed, wirelength, setup slack.</a:t>
            </a:r>
            <a:endParaRPr lang="en-US" sz="1800" dirty="0"/>
          </a:p>
        </p:txBody>
      </p:sp>
      <p:sp>
        <p:nvSpPr>
          <p:cNvPr id="11" name="pill REFERENCE"/>
          <p:cNvSpPr/>
          <p:nvPr/>
        </p:nvSpPr>
        <p:spPr>
          <a:xfrm>
            <a:off x="457200" y="3465576"/>
            <a:ext cx="1051560" cy="310896"/>
          </a:xfrm>
          <a:prstGeom prst="roundRect">
            <a:avLst>
              <a:gd name="adj" fmla="val 50000"/>
            </a:avLst>
          </a:prstGeom>
          <a:solidFill>
            <a:srgbClr val="E1F0ED"/>
          </a:solidFill>
          <a:ln w="6350">
            <a:solidFill>
              <a:srgbClr val="E1F0ED"/>
            </a:solidFill>
            <a:prstDash val="solid"/>
          </a:ln>
        </p:spPr>
      </p:sp>
      <p:sp>
        <p:nvSpPr>
          <p:cNvPr id="12" name="Text 10"/>
          <p:cNvSpPr txBox="1"/>
          <p:nvPr/>
        </p:nvSpPr>
        <p:spPr>
          <a:xfrm>
            <a:off x="457200" y="346557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REFERENCE</a:t>
            </a:r>
            <a:endParaRPr lang="en-US" sz="1200" dirty="0"/>
          </a:p>
        </p:txBody>
      </p:sp>
      <p:sp>
        <p:nvSpPr>
          <p:cNvPr id="13" name="Text 11"/>
          <p:cNvSpPr txBox="1"/>
          <p:nvPr/>
        </p:nvSpPr>
        <p:spPr>
          <a:xfrm>
            <a:off x="1645920" y="342900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1,912 cells, 15,404 µm wire, +17.908 ns.</a:t>
            </a:r>
            <a:endParaRPr lang="en-US" sz="1800" dirty="0"/>
          </a:p>
        </p:txBody>
      </p:sp>
      <p:sp>
        <p:nvSpPr>
          <p:cNvPr id="14" name="command"/>
          <p:cNvSpPr/>
          <p:nvPr/>
        </p:nvSpPr>
        <p:spPr>
          <a:xfrm>
            <a:off x="1645920" y="1920240"/>
            <a:ext cx="4069080" cy="777240"/>
          </a:xfrm>
          <a:prstGeom prst="roundRect">
            <a:avLst>
              <a:gd name="adj" fmla="val 7059"/>
            </a:avLst>
          </a:prstGeom>
          <a:solidFill>
            <a:srgbClr val="071A36"/>
          </a:solidFill>
          <a:ln w="12700">
            <a:solidFill>
              <a:srgbClr val="071A36"/>
            </a:solidFill>
            <a:prstDash val="solid"/>
          </a:ln>
        </p:spPr>
      </p:sp>
      <p:sp>
        <p:nvSpPr>
          <p:cNvPr id="15" name="Text 13"/>
          <p:cNvSpPr txBox="1"/>
          <p:nvPr/>
        </p:nvSpPr>
        <p:spPr>
          <a:xfrm>
            <a:off x="1755648" y="1920240"/>
            <a:ext cx="3886200" cy="77724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lab N=3</a:t>
            </a:r>
            <a:endParaRPr lang="en-US" sz="1800" dirty="0"/>
          </a:p>
          <a:p>
            <a:pPr indent="0" marL="0">
              <a:buNone/>
            </a:pPr>
            <a:r>
              <a:rPr lang="en-US" sz="1800" b="1" dirty="0">
                <a:solidFill>
                  <a:srgbClr val="FFFFFF"/>
                </a:solidFill>
                <a:latin typeface="Courier New" pitchFamily="34" charset="0"/>
                <a:ea typeface="Courier New" pitchFamily="34" charset="-122"/>
                <a:cs typeface="Courier New" pitchFamily="34" charset="-120"/>
              </a:rPr>
              <a:t>make lab-check N=3</a:t>
            </a:r>
            <a:endParaRPr lang="en-US" sz="1800" dirty="0"/>
          </a:p>
        </p:txBody>
      </p:sp>
      <p:sp>
        <p:nvSpPr>
          <p:cNvPr id="16" name="Shape 14"/>
          <p:cNvSpPr/>
          <p:nvPr/>
        </p:nvSpPr>
        <p:spPr>
          <a:xfrm>
            <a:off x="5897880" y="1234440"/>
            <a:ext cx="2788920" cy="2788920"/>
          </a:xfrm>
          <a:prstGeom prst="rect">
            <a:avLst/>
          </a:prstGeom>
          <a:solidFill>
            <a:srgbClr val="FFFFFF"/>
          </a:solidFill>
          <a:ln w="9525">
            <a:solidFill>
              <a:srgbClr val="D5D9DC"/>
            </a:solidFill>
            <a:prstDash val="solid"/>
          </a:ln>
        </p:spPr>
      </p:sp>
      <p:pic>
        <p:nvPicPr>
          <p:cNvPr id="17" name="Image 0" descr="Reference picture of lab 3 (uart)">    </p:cNvPr>
          <p:cNvPicPr>
            <a:picLocks noChangeAspect="1"/>
          </p:cNvPicPr>
          <p:nvPr/>
        </p:nvPicPr>
        <p:blipFill>
          <a:blip r:embed="rId1"/>
          <a:stretch>
            <a:fillRect/>
          </a:stretch>
        </p:blipFill>
        <p:spPr>
          <a:xfrm>
            <a:off x="5943600" y="1280160"/>
            <a:ext cx="2697480" cy="2697480"/>
          </a:xfrm>
          <a:prstGeom prst="rect">
            <a:avLst/>
          </a:prstGeom>
        </p:spPr>
      </p:pic>
      <p:sp>
        <p:nvSpPr>
          <p:cNvPr id="18" name="Text 15"/>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600" b="1" dirty="0">
                <a:solidFill>
                  <a:srgbClr val="12151C"/>
                </a:solidFill>
                <a:latin typeface="Arial" pitchFamily="34" charset="0"/>
                <a:ea typeface="Arial" pitchFamily="34" charset="-122"/>
                <a:cs typeface="Arial" pitchFamily="34" charset="-120"/>
              </a:rPr>
              <a:t>Labs use uart (2,026 cells, whole flow about 2 min): numbers differ from cnn_lite.</a:t>
            </a:r>
            <a:endParaRPr lang="en-US" sz="1600" dirty="0"/>
          </a:p>
        </p:txBody>
      </p:sp>
      <p:sp>
        <p:nvSpPr>
          <p:cNvPr id="19" name="Text 16"/>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Run on this Mac's Linux VM (2 CPUs, 8 GB). Codespaces and Colab: not verified.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640080" y="914400"/>
            <a:ext cx="768096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Tour of the designs</a:t>
            </a:r>
            <a:endParaRPr lang="en-US" sz="3600" dirty="0"/>
          </a:p>
        </p:txBody>
      </p:sp>
      <p:sp>
        <p:nvSpPr>
          <p:cNvPr id="3" name="Text 1"/>
          <p:cNvSpPr txBox="1"/>
          <p:nvPr/>
        </p:nvSpPr>
        <p:spPr>
          <a:xfrm>
            <a:off x="640080" y="2148840"/>
            <a:ext cx="7498080" cy="822960"/>
          </a:xfrm>
          <a:prstGeom prst="rect">
            <a:avLst/>
          </a:prstGeom>
          <a:noFill/>
          <a:ln/>
        </p:spPr>
        <p:txBody>
          <a:bodyPr wrap="square" lIns="0" tIns="0" rIns="0" bIns="0" rtlCol="0" anchor="t"/>
          <a:lstStyle/>
          <a:p>
            <a:pPr indent="0" marL="0">
              <a:buNone/>
            </a:pPr>
            <a:r>
              <a:rPr lang="en-US" sz="2000" dirty="0">
                <a:solidFill>
                  <a:srgbClr val="D6DCE6"/>
                </a:solidFill>
                <a:latin typeface="Arial" pitchFamily="34" charset="0"/>
                <a:ea typeface="Arial" pitchFamily="34" charset="-122"/>
                <a:cs typeface="Arial" pitchFamily="34" charset="-120"/>
              </a:rPr>
              <a:t>Small to large: two light slides each</a:t>
            </a:r>
            <a:endParaRPr lang="en-US" sz="2000" dirty="0"/>
          </a:p>
        </p:txBody>
      </p:sp>
      <p:sp>
        <p:nvSpPr>
          <p:cNvPr id="4" name="progress A"/>
          <p:cNvSpPr/>
          <p:nvPr/>
        </p:nvSpPr>
        <p:spPr>
          <a:xfrm>
            <a:off x="640080" y="3840480"/>
            <a:ext cx="484632" cy="201168"/>
          </a:xfrm>
          <a:prstGeom prst="rect">
            <a:avLst/>
          </a:prstGeom>
          <a:solidFill>
            <a:srgbClr val="2C3E5C"/>
          </a:solidFill>
          <a:ln w="12700">
            <a:solidFill>
              <a:srgbClr val="2C3E5C"/>
            </a:solidFill>
            <a:prstDash val="solid"/>
          </a:ln>
        </p:spPr>
      </p:sp>
      <p:sp>
        <p:nvSpPr>
          <p:cNvPr id="5" name="progress B"/>
          <p:cNvSpPr/>
          <p:nvPr/>
        </p:nvSpPr>
        <p:spPr>
          <a:xfrm>
            <a:off x="1152144" y="3840480"/>
            <a:ext cx="1508760" cy="201168"/>
          </a:xfrm>
          <a:prstGeom prst="rect">
            <a:avLst/>
          </a:prstGeom>
          <a:solidFill>
            <a:srgbClr val="2C3E5C"/>
          </a:solidFill>
          <a:ln w="12700">
            <a:solidFill>
              <a:srgbClr val="2C3E5C"/>
            </a:solidFill>
            <a:prstDash val="solid"/>
          </a:ln>
        </p:spPr>
      </p:sp>
      <p:sp>
        <p:nvSpPr>
          <p:cNvPr id="6" name="progress C"/>
          <p:cNvSpPr/>
          <p:nvPr/>
        </p:nvSpPr>
        <p:spPr>
          <a:xfrm>
            <a:off x="2688336" y="3840480"/>
            <a:ext cx="996696" cy="201168"/>
          </a:xfrm>
          <a:prstGeom prst="rect">
            <a:avLst/>
          </a:prstGeom>
          <a:solidFill>
            <a:srgbClr val="2C3E5C"/>
          </a:solidFill>
          <a:ln w="12700">
            <a:solidFill>
              <a:srgbClr val="2C3E5C"/>
            </a:solidFill>
            <a:prstDash val="solid"/>
          </a:ln>
        </p:spPr>
      </p:sp>
      <p:sp>
        <p:nvSpPr>
          <p:cNvPr id="7" name="progress D"/>
          <p:cNvSpPr/>
          <p:nvPr/>
        </p:nvSpPr>
        <p:spPr>
          <a:xfrm>
            <a:off x="3712464" y="3840480"/>
            <a:ext cx="1252728" cy="201168"/>
          </a:xfrm>
          <a:prstGeom prst="rect">
            <a:avLst/>
          </a:prstGeom>
          <a:solidFill>
            <a:srgbClr val="FF4D2E"/>
          </a:solidFill>
          <a:ln w="12700">
            <a:solidFill>
              <a:srgbClr val="FF4D2E"/>
            </a:solidFill>
            <a:prstDash val="solid"/>
          </a:ln>
        </p:spPr>
      </p:sp>
      <p:sp>
        <p:nvSpPr>
          <p:cNvPr id="8" name="progress E"/>
          <p:cNvSpPr/>
          <p:nvPr/>
        </p:nvSpPr>
        <p:spPr>
          <a:xfrm>
            <a:off x="4992624" y="3840480"/>
            <a:ext cx="996696" cy="201168"/>
          </a:xfrm>
          <a:prstGeom prst="rect">
            <a:avLst/>
          </a:prstGeom>
          <a:solidFill>
            <a:srgbClr val="2C3E5C"/>
          </a:solidFill>
          <a:ln w="12700">
            <a:solidFill>
              <a:srgbClr val="2C3E5C"/>
            </a:solidFill>
            <a:prstDash val="solid"/>
          </a:ln>
        </p:spPr>
      </p:sp>
      <p:sp>
        <p:nvSpPr>
          <p:cNvPr id="9" name="progress F"/>
          <p:cNvSpPr/>
          <p:nvPr/>
        </p:nvSpPr>
        <p:spPr>
          <a:xfrm>
            <a:off x="6016752" y="3840480"/>
            <a:ext cx="996696" cy="201168"/>
          </a:xfrm>
          <a:prstGeom prst="rect">
            <a:avLst/>
          </a:prstGeom>
          <a:solidFill>
            <a:srgbClr val="2C3E5C"/>
          </a:solidFill>
          <a:ln w="12700">
            <a:solidFill>
              <a:srgbClr val="2C3E5C"/>
            </a:solidFill>
            <a:prstDash val="solid"/>
          </a:ln>
        </p:spPr>
      </p:sp>
      <p:sp>
        <p:nvSpPr>
          <p:cNvPr id="10" name="progress G"/>
          <p:cNvSpPr/>
          <p:nvPr/>
        </p:nvSpPr>
        <p:spPr>
          <a:xfrm>
            <a:off x="7040880" y="3840480"/>
            <a:ext cx="740664" cy="201168"/>
          </a:xfrm>
          <a:prstGeom prst="rect">
            <a:avLst/>
          </a:prstGeom>
          <a:solidFill>
            <a:srgbClr val="2C3E5C"/>
          </a:solidFill>
          <a:ln w="12700">
            <a:solidFill>
              <a:srgbClr val="2C3E5C"/>
            </a:solidFill>
            <a:prstDash val="solid"/>
          </a:ln>
        </p:spPr>
      </p:sp>
      <p:sp>
        <p:nvSpPr>
          <p:cNvPr id="11" name="progress H"/>
          <p:cNvSpPr/>
          <p:nvPr/>
        </p:nvSpPr>
        <p:spPr>
          <a:xfrm>
            <a:off x="7808976" y="3840480"/>
            <a:ext cx="484632" cy="201168"/>
          </a:xfrm>
          <a:prstGeom prst="rect">
            <a:avLst/>
          </a:prstGeom>
          <a:solidFill>
            <a:srgbClr val="2C3E5C"/>
          </a:solidFill>
          <a:ln w="12700">
            <a:solidFill>
              <a:srgbClr val="2C3E5C"/>
            </a:solidFill>
            <a:prstDash val="solid"/>
          </a:ln>
        </p:spPr>
      </p:sp>
      <p:sp>
        <p:nvSpPr>
          <p:cNvPr id="12" name="Text 10"/>
          <p:cNvSpPr txBox="1"/>
          <p:nvPr/>
        </p:nvSpPr>
        <p:spPr>
          <a:xfrm>
            <a:off x="640080" y="4114800"/>
            <a:ext cx="768096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Minutes 60–85 of 150</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spm_ref multiplies two numbers one bit at a time</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An 8-bit multiplicand times a serial multiplier; the product streams out one bit per clock.</a:t>
            </a:r>
            <a:endParaRPr lang="en-US" sz="1800" dirty="0"/>
          </a:p>
        </p:txBody>
      </p:sp>
      <p:sp>
        <p:nvSpPr>
          <p:cNvPr id="4" name="block x bit"/>
          <p:cNvSpPr/>
          <p:nvPr/>
        </p:nvSpPr>
        <p:spPr>
          <a:xfrm>
            <a:off x="457200" y="2240280"/>
            <a:ext cx="256032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x bit</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(serial)</a:t>
            </a:r>
            <a:endParaRPr lang="en-US" sz="1400" dirty="0"/>
          </a:p>
        </p:txBody>
      </p:sp>
      <p:sp>
        <p:nvSpPr>
          <p:cNvPr id="6" name="arrow"/>
          <p:cNvSpPr/>
          <p:nvPr/>
        </p:nvSpPr>
        <p:spPr>
          <a:xfrm>
            <a:off x="3044952" y="2720340"/>
            <a:ext cx="219456" cy="0"/>
          </a:xfrm>
          <a:prstGeom prst="line">
            <a:avLst/>
          </a:prstGeom>
          <a:noFill/>
          <a:ln w="25400">
            <a:solidFill>
              <a:srgbClr val="FF4D2E"/>
            </a:solidFill>
            <a:prstDash val="solid"/>
            <a:tailEnd type="triangle"/>
          </a:ln>
        </p:spPr>
      </p:sp>
      <p:sp>
        <p:nvSpPr>
          <p:cNvPr id="7" name="block 8 AND gates +"/>
          <p:cNvSpPr/>
          <p:nvPr/>
        </p:nvSpPr>
        <p:spPr>
          <a:xfrm>
            <a:off x="3291840" y="2240280"/>
            <a:ext cx="256032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329184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8 AND gates +</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carry-save adders</a:t>
            </a:r>
            <a:endParaRPr lang="en-US" sz="1400" dirty="0"/>
          </a:p>
        </p:txBody>
      </p:sp>
      <p:sp>
        <p:nvSpPr>
          <p:cNvPr id="9" name="arrow"/>
          <p:cNvSpPr/>
          <p:nvPr/>
        </p:nvSpPr>
        <p:spPr>
          <a:xfrm>
            <a:off x="5879592" y="2720340"/>
            <a:ext cx="219456" cy="0"/>
          </a:xfrm>
          <a:prstGeom prst="line">
            <a:avLst/>
          </a:prstGeom>
          <a:noFill/>
          <a:ln w="25400">
            <a:solidFill>
              <a:srgbClr val="FF4D2E"/>
            </a:solidFill>
            <a:prstDash val="solid"/>
            <a:tailEnd type="triangle"/>
          </a:ln>
        </p:spPr>
      </p:sp>
      <p:sp>
        <p:nvSpPr>
          <p:cNvPr id="10" name="block product bit"/>
          <p:cNvSpPr/>
          <p:nvPr/>
        </p:nvSpPr>
        <p:spPr>
          <a:xfrm>
            <a:off x="6126480" y="2240280"/>
            <a:ext cx="256032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612648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product bit</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(serial)</a:t>
            </a:r>
            <a:endParaRPr lang="en-US" sz="1400" dirty="0"/>
          </a:p>
        </p:txBody>
      </p:sp>
      <p:sp>
        <p:nvSpPr>
          <p:cNvPr id="12" name="Text 10"/>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Checked: 67,286 multiplications, 0 errors.</a:t>
            </a:r>
            <a:endParaRPr lang="en-US" sz="1800" dirty="0"/>
          </a:p>
        </p:txBody>
      </p:sp>
      <p:sp>
        <p:nvSpPr>
          <p:cNvPr id="13" name="Text 11"/>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800" dirty="0">
                <a:solidFill>
                  <a:srgbClr val="B83A22"/>
                </a:solidFill>
                <a:latin typeface="Arial" pitchFamily="34" charset="0"/>
                <a:ea typeface="Arial" pitchFamily="34" charset="-122"/>
                <a:cs typeface="Arial" pitchFamily="34" charset="-120"/>
              </a:rPr>
              <a:t>Was broken: the original did not multiply (3 × 3 gave 3).</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spm_ref as a finished layout</a:t>
            </a:r>
            <a:endParaRPr lang="en-US" sz="2800" dirty="0"/>
          </a:p>
        </p:txBody>
      </p:sp>
      <p:sp>
        <p:nvSpPr>
          <p:cNvPr id="3" name="Shape 1"/>
          <p:cNvSpPr/>
          <p:nvPr/>
        </p:nvSpPr>
        <p:spPr>
          <a:xfrm>
            <a:off x="457200" y="1371600"/>
            <a:ext cx="5120640" cy="3017520"/>
          </a:xfrm>
          <a:prstGeom prst="rect">
            <a:avLst/>
          </a:prstGeom>
          <a:solidFill>
            <a:srgbClr val="FFFFFF"/>
          </a:solidFill>
          <a:ln w="9525">
            <a:solidFill>
              <a:srgbClr val="D5D9DC"/>
            </a:solidFill>
            <a:prstDash val="solid"/>
          </a:ln>
        </p:spPr>
      </p:sp>
      <p:pic>
        <p:nvPicPr>
          <p:cNvPr id="4" name="Image 0" descr="Layout of spm_ref">    </p:cNvPr>
          <p:cNvPicPr>
            <a:picLocks noChangeAspect="1"/>
          </p:cNvPicPr>
          <p:nvPr/>
        </p:nvPicPr>
        <p:blipFill>
          <a:blip r:embed="rId1"/>
          <a:stretch>
            <a:fillRect/>
          </a:stretch>
        </p:blipFill>
        <p:spPr>
          <a:xfrm>
            <a:off x="1779422" y="1417320"/>
            <a:ext cx="2476195" cy="2926080"/>
          </a:xfrm>
          <a:prstGeom prst="rect">
            <a:avLst/>
          </a:prstGeom>
        </p:spPr>
      </p:pic>
      <p:sp>
        <p:nvSpPr>
          <p:cNvPr id="5" name="Text 2"/>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140</a:t>
            </a:r>
            <a:endParaRPr lang="en-US" sz="2600" dirty="0"/>
          </a:p>
        </p:txBody>
      </p:sp>
      <p:sp>
        <p:nvSpPr>
          <p:cNvPr id="6" name="Text 3"/>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7" name="Text 4"/>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59.1 × 69.8 µm</a:t>
            </a:r>
            <a:endParaRPr lang="en-US" sz="2600" dirty="0"/>
          </a:p>
        </p:txBody>
      </p:sp>
      <p:sp>
        <p:nvSpPr>
          <p:cNvPr id="8" name="Text 5"/>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9" name="Text 6"/>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42 s</a:t>
            </a:r>
            <a:endParaRPr lang="en-US" sz="2600" dirty="0"/>
          </a:p>
        </p:txBody>
      </p:sp>
      <p:sp>
        <p:nvSpPr>
          <p:cNvPr id="10" name="Text 7"/>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2 CPUs / 8 GB</a:t>
            </a:r>
            <a:endParaRPr lang="en-US" sz="1400" dirty="0"/>
          </a:p>
        </p:txBody>
      </p:sp>
      <p:sp>
        <p:nvSpPr>
          <p:cNvPr id="11" name="Text 8"/>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+0.10 ns</a:t>
            </a:r>
            <a:endParaRPr lang="en-US" sz="2600" dirty="0"/>
          </a:p>
        </p:txBody>
      </p:sp>
      <p:sp>
        <p:nvSpPr>
          <p:cNvPr id="12" name="Text 9"/>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(hold)</a:t>
            </a:r>
            <a:endParaRPr lang="en-US" sz="1400" dirty="0"/>
          </a:p>
        </p:txBody>
      </p:sp>
      <p:sp>
        <p:nvSpPr>
          <p:cNvPr id="13" name="Text 10"/>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2 CPUs / 8 GB, Apple-silicon VM;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counter_wb is a counter you can read over a bus</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32-bit counter behind a Wishbone slave; the logic-analyzer output mirrors the count.</a:t>
            </a:r>
            <a:endParaRPr lang="en-US" sz="1800" dirty="0"/>
          </a:p>
        </p:txBody>
      </p:sp>
      <p:sp>
        <p:nvSpPr>
          <p:cNvPr id="4" name="block Wishbone"/>
          <p:cNvSpPr/>
          <p:nvPr/>
        </p:nvSpPr>
        <p:spPr>
          <a:xfrm>
            <a:off x="457200" y="2240280"/>
            <a:ext cx="256032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Wishbone</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bus</a:t>
            </a:r>
            <a:endParaRPr lang="en-US" sz="1400" dirty="0"/>
          </a:p>
        </p:txBody>
      </p:sp>
      <p:sp>
        <p:nvSpPr>
          <p:cNvPr id="6" name="arrow"/>
          <p:cNvSpPr/>
          <p:nvPr/>
        </p:nvSpPr>
        <p:spPr>
          <a:xfrm>
            <a:off x="3044952" y="2720340"/>
            <a:ext cx="219456" cy="0"/>
          </a:xfrm>
          <a:prstGeom prst="line">
            <a:avLst/>
          </a:prstGeom>
          <a:noFill/>
          <a:ln w="25400">
            <a:solidFill>
              <a:srgbClr val="FF4D2E"/>
            </a:solidFill>
            <a:prstDash val="solid"/>
            <a:tailEnd type="triangle"/>
          </a:ln>
        </p:spPr>
      </p:sp>
      <p:sp>
        <p:nvSpPr>
          <p:cNvPr id="7" name="block 32-bit counter"/>
          <p:cNvSpPr/>
          <p:nvPr/>
        </p:nvSpPr>
        <p:spPr>
          <a:xfrm>
            <a:off x="3291840" y="2240280"/>
            <a:ext cx="256032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329184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32-bit counter</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 control</a:t>
            </a:r>
            <a:endParaRPr lang="en-US" sz="1400" dirty="0"/>
          </a:p>
        </p:txBody>
      </p:sp>
      <p:sp>
        <p:nvSpPr>
          <p:cNvPr id="9" name="arrow"/>
          <p:cNvSpPr/>
          <p:nvPr/>
        </p:nvSpPr>
        <p:spPr>
          <a:xfrm>
            <a:off x="5879592" y="2720340"/>
            <a:ext cx="219456" cy="0"/>
          </a:xfrm>
          <a:prstGeom prst="line">
            <a:avLst/>
          </a:prstGeom>
          <a:noFill/>
          <a:ln w="25400">
            <a:solidFill>
              <a:srgbClr val="FF4D2E"/>
            </a:solidFill>
            <a:prstDash val="solid"/>
            <a:tailEnd type="triangle"/>
          </a:ln>
        </p:spPr>
      </p:sp>
      <p:sp>
        <p:nvSpPr>
          <p:cNvPr id="10" name="block la_data_out"/>
          <p:cNvSpPr/>
          <p:nvPr/>
        </p:nvSpPr>
        <p:spPr>
          <a:xfrm>
            <a:off x="6126480" y="2240280"/>
            <a:ext cx="256032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612648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la_data_out</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[31:0]</a:t>
            </a:r>
            <a:endParaRPr lang="en-US" sz="1400" dirty="0"/>
          </a:p>
        </p:txBody>
      </p:sp>
      <p:sp>
        <p:nvSpPr>
          <p:cNvPr id="12" name="Text 10"/>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Checked: RTL tests and gate-level simulation.</a:t>
            </a:r>
            <a:endParaRPr lang="en-US" sz="1800" dirty="0"/>
          </a:p>
        </p:txBody>
      </p:sp>
      <p:sp>
        <p:nvSpPr>
          <p:cNvPr id="13" name="Text 11"/>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800" dirty="0">
                <a:solidFill>
                  <a:srgbClr val="B83A22"/>
                </a:solidFill>
                <a:latin typeface="Arial" pitchFamily="34" charset="0"/>
                <a:ea typeface="Arial" pitchFamily="34" charset="-122"/>
                <a:cs typeface="Arial" pitchFamily="34" charset="-120"/>
              </a:rPr>
              <a:t>Was hollow: 1 of about 67 flip-flops survived. Fixed.</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counter_wb as a finished layout</a:t>
            </a:r>
            <a:endParaRPr lang="en-US" sz="2800" dirty="0"/>
          </a:p>
        </p:txBody>
      </p:sp>
      <p:sp>
        <p:nvSpPr>
          <p:cNvPr id="3" name="Shape 1"/>
          <p:cNvSpPr/>
          <p:nvPr/>
        </p:nvSpPr>
        <p:spPr>
          <a:xfrm>
            <a:off x="457200" y="1371600"/>
            <a:ext cx="5120640" cy="3017520"/>
          </a:xfrm>
          <a:prstGeom prst="rect">
            <a:avLst/>
          </a:prstGeom>
          <a:solidFill>
            <a:srgbClr val="FFFFFF"/>
          </a:solidFill>
          <a:ln w="9525">
            <a:solidFill>
              <a:srgbClr val="D5D9DC"/>
            </a:solidFill>
            <a:prstDash val="solid"/>
          </a:ln>
        </p:spPr>
      </p:sp>
      <p:pic>
        <p:nvPicPr>
          <p:cNvPr id="4" name="Image 0" descr="Layout of counter_wb">    </p:cNvPr>
          <p:cNvPicPr>
            <a:picLocks noChangeAspect="1"/>
          </p:cNvPicPr>
          <p:nvPr/>
        </p:nvPicPr>
        <p:blipFill>
          <a:blip r:embed="rId1"/>
          <a:stretch>
            <a:fillRect/>
          </a:stretch>
        </p:blipFill>
        <p:spPr>
          <a:xfrm>
            <a:off x="1554480" y="1417320"/>
            <a:ext cx="2926080" cy="2926080"/>
          </a:xfrm>
          <a:prstGeom prst="rect">
            <a:avLst/>
          </a:prstGeom>
        </p:spPr>
      </p:pic>
      <p:sp>
        <p:nvSpPr>
          <p:cNvPr id="5" name="Text 2"/>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1,214</a:t>
            </a:r>
            <a:endParaRPr lang="en-US" sz="2600" dirty="0"/>
          </a:p>
        </p:txBody>
      </p:sp>
      <p:sp>
        <p:nvSpPr>
          <p:cNvPr id="6" name="Text 3"/>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7" name="Text 4"/>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200 × 200 µm</a:t>
            </a:r>
            <a:endParaRPr lang="en-US" sz="2600" dirty="0"/>
          </a:p>
        </p:txBody>
      </p:sp>
      <p:sp>
        <p:nvSpPr>
          <p:cNvPr id="8" name="Text 5"/>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9" name="Text 6"/>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70 s</a:t>
            </a:r>
            <a:endParaRPr lang="en-US" sz="2600" dirty="0"/>
          </a:p>
        </p:txBody>
      </p:sp>
      <p:sp>
        <p:nvSpPr>
          <p:cNvPr id="10" name="Text 7"/>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2 CPUs / 8 GB</a:t>
            </a:r>
            <a:endParaRPr lang="en-US" sz="1400" dirty="0"/>
          </a:p>
        </p:txBody>
      </p:sp>
      <p:sp>
        <p:nvSpPr>
          <p:cNvPr id="11" name="Text 8"/>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+0.11 ns</a:t>
            </a:r>
            <a:endParaRPr lang="en-US" sz="2600" dirty="0"/>
          </a:p>
        </p:txBody>
      </p:sp>
      <p:sp>
        <p:nvSpPr>
          <p:cNvPr id="12" name="Text 9"/>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(hold)</a:t>
            </a:r>
            <a:endParaRPr lang="en-US" sz="1400" dirty="0"/>
          </a:p>
        </p:txBody>
      </p:sp>
      <p:sp>
        <p:nvSpPr>
          <p:cNvPr id="13" name="Text 10"/>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2 CPUs / 8 GB, Apple-silicon VM;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uart sends and receives bytes over two wires</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full-duplex 8N1 UART behind a Wishbone slave; the baud divider is a parameter.</a:t>
            </a:r>
            <a:endParaRPr lang="en-US" sz="1800" dirty="0"/>
          </a:p>
        </p:txBody>
      </p:sp>
      <p:sp>
        <p:nvSpPr>
          <p:cNvPr id="4" name="block Wishbone"/>
          <p:cNvSpPr/>
          <p:nvPr/>
        </p:nvSpPr>
        <p:spPr>
          <a:xfrm>
            <a:off x="457200" y="2240280"/>
            <a:ext cx="256032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Wishbone</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registers</a:t>
            </a:r>
            <a:endParaRPr lang="en-US" sz="1400" dirty="0"/>
          </a:p>
        </p:txBody>
      </p:sp>
      <p:sp>
        <p:nvSpPr>
          <p:cNvPr id="6" name="arrow"/>
          <p:cNvSpPr/>
          <p:nvPr/>
        </p:nvSpPr>
        <p:spPr>
          <a:xfrm>
            <a:off x="3044952" y="2720340"/>
            <a:ext cx="219456" cy="0"/>
          </a:xfrm>
          <a:prstGeom prst="line">
            <a:avLst/>
          </a:prstGeom>
          <a:noFill/>
          <a:ln w="25400">
            <a:solidFill>
              <a:srgbClr val="FF4D2E"/>
            </a:solidFill>
            <a:prstDash val="solid"/>
            <a:tailEnd type="triangle"/>
          </a:ln>
        </p:spPr>
      </p:sp>
      <p:sp>
        <p:nvSpPr>
          <p:cNvPr id="7" name="block uart_tx and"/>
          <p:cNvSpPr/>
          <p:nvPr/>
        </p:nvSpPr>
        <p:spPr>
          <a:xfrm>
            <a:off x="3291840" y="2240280"/>
            <a:ext cx="256032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329184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uart_tx and</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uart_rx</a:t>
            </a:r>
            <a:endParaRPr lang="en-US" sz="1400" dirty="0"/>
          </a:p>
        </p:txBody>
      </p:sp>
      <p:sp>
        <p:nvSpPr>
          <p:cNvPr id="9" name="arrow"/>
          <p:cNvSpPr/>
          <p:nvPr/>
        </p:nvSpPr>
        <p:spPr>
          <a:xfrm>
            <a:off x="5879592" y="2720340"/>
            <a:ext cx="219456" cy="0"/>
          </a:xfrm>
          <a:prstGeom prst="line">
            <a:avLst/>
          </a:prstGeom>
          <a:noFill/>
          <a:ln w="25400">
            <a:solidFill>
              <a:srgbClr val="FF4D2E"/>
            </a:solidFill>
            <a:prstDash val="solid"/>
            <a:tailEnd type="triangle"/>
          </a:ln>
        </p:spPr>
      </p:sp>
      <p:sp>
        <p:nvSpPr>
          <p:cNvPr id="10" name="block io_out[0] TX"/>
          <p:cNvSpPr/>
          <p:nvPr/>
        </p:nvSpPr>
        <p:spPr>
          <a:xfrm>
            <a:off x="6126480" y="2240280"/>
            <a:ext cx="256032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612648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io_out[0] TX</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io_in[1] RX</a:t>
            </a:r>
            <a:endParaRPr lang="en-US" sz="1400" dirty="0"/>
          </a:p>
        </p:txBody>
      </p:sp>
      <p:sp>
        <p:nvSpPr>
          <p:cNvPr id="12" name="Text 10"/>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Checked: loopback of 34 bytes through the Wishbone UART.</a:t>
            </a:r>
            <a:endParaRPr lang="en-US" sz="1800" dirty="0"/>
          </a:p>
        </p:txBody>
      </p:sp>
      <p:sp>
        <p:nvSpPr>
          <p:cNvPr id="13" name="Text 11"/>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Lab design: you run its flow in the labs.</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uart as a finished layout</a:t>
            </a:r>
            <a:endParaRPr lang="en-US" sz="2800" dirty="0"/>
          </a:p>
        </p:txBody>
      </p:sp>
      <p:sp>
        <p:nvSpPr>
          <p:cNvPr id="3" name="Shape 1"/>
          <p:cNvSpPr/>
          <p:nvPr/>
        </p:nvSpPr>
        <p:spPr>
          <a:xfrm>
            <a:off x="457200" y="1371600"/>
            <a:ext cx="5120640" cy="3017520"/>
          </a:xfrm>
          <a:prstGeom prst="rect">
            <a:avLst/>
          </a:prstGeom>
          <a:solidFill>
            <a:srgbClr val="FFFFFF"/>
          </a:solidFill>
          <a:ln w="9525">
            <a:solidFill>
              <a:srgbClr val="D5D9DC"/>
            </a:solidFill>
            <a:prstDash val="solid"/>
          </a:ln>
        </p:spPr>
      </p:sp>
      <p:pic>
        <p:nvPicPr>
          <p:cNvPr id="4" name="Image 0" descr="Layout of uart">    </p:cNvPr>
          <p:cNvPicPr>
            <a:picLocks noChangeAspect="1"/>
          </p:cNvPicPr>
          <p:nvPr/>
        </p:nvPicPr>
        <p:blipFill>
          <a:blip r:embed="rId1"/>
          <a:stretch>
            <a:fillRect/>
          </a:stretch>
        </p:blipFill>
        <p:spPr>
          <a:xfrm>
            <a:off x="1554480" y="1417320"/>
            <a:ext cx="2926080" cy="2926080"/>
          </a:xfrm>
          <a:prstGeom prst="rect">
            <a:avLst/>
          </a:prstGeom>
        </p:spPr>
      </p:pic>
      <p:sp>
        <p:nvSpPr>
          <p:cNvPr id="5" name="Text 2"/>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2,026</a:t>
            </a:r>
            <a:endParaRPr lang="en-US" sz="2600" dirty="0"/>
          </a:p>
        </p:txBody>
      </p:sp>
      <p:sp>
        <p:nvSpPr>
          <p:cNvPr id="6" name="Text 3"/>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7" name="Text 4"/>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300 × 300 µm</a:t>
            </a:r>
            <a:endParaRPr lang="en-US" sz="2600" dirty="0"/>
          </a:p>
        </p:txBody>
      </p:sp>
      <p:sp>
        <p:nvSpPr>
          <p:cNvPr id="8" name="Text 5"/>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9" name="Text 6"/>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112 s</a:t>
            </a:r>
            <a:endParaRPr lang="en-US" sz="2600" dirty="0"/>
          </a:p>
        </p:txBody>
      </p:sp>
      <p:sp>
        <p:nvSpPr>
          <p:cNvPr id="10" name="Text 7"/>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2 CPUs / 8 GB</a:t>
            </a:r>
            <a:endParaRPr lang="en-US" sz="1400" dirty="0"/>
          </a:p>
        </p:txBody>
      </p:sp>
      <p:sp>
        <p:nvSpPr>
          <p:cNvPr id="11" name="Text 8"/>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+0.11 ns</a:t>
            </a:r>
            <a:endParaRPr lang="en-US" sz="2600" dirty="0"/>
          </a:p>
        </p:txBody>
      </p:sp>
      <p:sp>
        <p:nvSpPr>
          <p:cNvPr id="12" name="Text 9"/>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(hold)</a:t>
            </a:r>
            <a:endParaRPr lang="en-US" sz="1400" dirty="0"/>
          </a:p>
        </p:txBody>
      </p:sp>
      <p:sp>
        <p:nvSpPr>
          <p:cNvPr id="13" name="Text 10"/>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2 CPUs / 8 GB, Apple-silicon VM;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ring_osc counts the beats of a ring of inverters</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ring of 31 inverting stages; a divider and counter tally its edges. Enable register at +0x08.</a:t>
            </a:r>
            <a:endParaRPr lang="en-US" sz="1800" dirty="0"/>
          </a:p>
        </p:txBody>
      </p:sp>
      <p:sp>
        <p:nvSpPr>
          <p:cNvPr id="4" name="block 31-stage"/>
          <p:cNvSpPr/>
          <p:nvPr/>
        </p:nvSpPr>
        <p:spPr>
          <a:xfrm>
            <a:off x="457200" y="2240280"/>
            <a:ext cx="256032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31-stage</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ring</a:t>
            </a:r>
            <a:endParaRPr lang="en-US" sz="1400" dirty="0"/>
          </a:p>
        </p:txBody>
      </p:sp>
      <p:sp>
        <p:nvSpPr>
          <p:cNvPr id="6" name="arrow"/>
          <p:cNvSpPr/>
          <p:nvPr/>
        </p:nvSpPr>
        <p:spPr>
          <a:xfrm>
            <a:off x="3044952" y="2720340"/>
            <a:ext cx="219456" cy="0"/>
          </a:xfrm>
          <a:prstGeom prst="line">
            <a:avLst/>
          </a:prstGeom>
          <a:noFill/>
          <a:ln w="25400">
            <a:solidFill>
              <a:srgbClr val="FF4D2E"/>
            </a:solidFill>
            <a:prstDash val="solid"/>
            <a:tailEnd type="triangle"/>
          </a:ln>
        </p:spPr>
      </p:sp>
      <p:sp>
        <p:nvSpPr>
          <p:cNvPr id="7" name="block divider +"/>
          <p:cNvSpPr/>
          <p:nvPr/>
        </p:nvSpPr>
        <p:spPr>
          <a:xfrm>
            <a:off x="3291840" y="2240280"/>
            <a:ext cx="256032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329184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divider +</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synchroniser</a:t>
            </a:r>
            <a:endParaRPr lang="en-US" sz="1400" dirty="0"/>
          </a:p>
        </p:txBody>
      </p:sp>
      <p:sp>
        <p:nvSpPr>
          <p:cNvPr id="9" name="arrow"/>
          <p:cNvSpPr/>
          <p:nvPr/>
        </p:nvSpPr>
        <p:spPr>
          <a:xfrm>
            <a:off x="5879592" y="2720340"/>
            <a:ext cx="219456" cy="0"/>
          </a:xfrm>
          <a:prstGeom prst="line">
            <a:avLst/>
          </a:prstGeom>
          <a:noFill/>
          <a:ln w="25400">
            <a:solidFill>
              <a:srgbClr val="FF4D2E"/>
            </a:solidFill>
            <a:prstDash val="solid"/>
            <a:tailEnd type="triangle"/>
          </a:ln>
        </p:spPr>
      </p:sp>
      <p:sp>
        <p:nvSpPr>
          <p:cNvPr id="10" name="block toggle count"/>
          <p:cNvSpPr/>
          <p:nvPr/>
        </p:nvSpPr>
        <p:spPr>
          <a:xfrm>
            <a:off x="6126480" y="2240280"/>
            <a:ext cx="256032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612648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toggle count</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(Wishbone)</a:t>
            </a:r>
            <a:endParaRPr lang="en-US" sz="1400" dirty="0"/>
          </a:p>
        </p:txBody>
      </p:sp>
      <p:sp>
        <p:nvSpPr>
          <p:cNvPr id="12" name="Text 10"/>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Checked: RTL tests and a gate-level test on the real cell ring.</a:t>
            </a:r>
            <a:endParaRPr lang="en-US" sz="1800" dirty="0"/>
          </a:p>
        </p:txBody>
      </p:sp>
      <p:sp>
        <p:nvSpPr>
          <p:cNvPr id="13" name="Text 11"/>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800" dirty="0">
                <a:solidFill>
                  <a:srgbClr val="B83A22"/>
                </a:solidFill>
                <a:latin typeface="Arial" pitchFamily="34" charset="0"/>
                <a:ea typeface="Arial" pitchFamily="34" charset="-122"/>
                <a:cs typeface="Arial" pitchFamily="34" charset="-120"/>
              </a:rPr>
              <a:t>Was hollow: synthesis deleted the whole ring. Fixed.</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ring_osc as a finished layout</a:t>
            </a:r>
            <a:endParaRPr lang="en-US" sz="2800" dirty="0"/>
          </a:p>
        </p:txBody>
      </p:sp>
      <p:sp>
        <p:nvSpPr>
          <p:cNvPr id="3" name="Shape 1"/>
          <p:cNvSpPr/>
          <p:nvPr/>
        </p:nvSpPr>
        <p:spPr>
          <a:xfrm>
            <a:off x="457200" y="1371600"/>
            <a:ext cx="5120640" cy="3017520"/>
          </a:xfrm>
          <a:prstGeom prst="rect">
            <a:avLst/>
          </a:prstGeom>
          <a:solidFill>
            <a:srgbClr val="FFFFFF"/>
          </a:solidFill>
          <a:ln w="9525">
            <a:solidFill>
              <a:srgbClr val="D5D9DC"/>
            </a:solidFill>
            <a:prstDash val="solid"/>
          </a:ln>
        </p:spPr>
      </p:sp>
      <p:pic>
        <p:nvPicPr>
          <p:cNvPr id="4" name="Image 0" descr="Layout of ring_osc">    </p:cNvPr>
          <p:cNvPicPr>
            <a:picLocks noChangeAspect="1"/>
          </p:cNvPicPr>
          <p:nvPr/>
        </p:nvPicPr>
        <p:blipFill>
          <a:blip r:embed="rId1"/>
          <a:stretch>
            <a:fillRect/>
          </a:stretch>
        </p:blipFill>
        <p:spPr>
          <a:xfrm>
            <a:off x="1554480" y="1417320"/>
            <a:ext cx="2926080" cy="2926080"/>
          </a:xfrm>
          <a:prstGeom prst="rect">
            <a:avLst/>
          </a:prstGeom>
        </p:spPr>
      </p:pic>
      <p:sp>
        <p:nvSpPr>
          <p:cNvPr id="5" name="Text 2"/>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830</a:t>
            </a:r>
            <a:endParaRPr lang="en-US" sz="2600" dirty="0"/>
          </a:p>
        </p:txBody>
      </p:sp>
      <p:sp>
        <p:nvSpPr>
          <p:cNvPr id="6" name="Text 3"/>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7" name="Text 4"/>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150 × 150 µm</a:t>
            </a:r>
            <a:endParaRPr lang="en-US" sz="2600" dirty="0"/>
          </a:p>
        </p:txBody>
      </p:sp>
      <p:sp>
        <p:nvSpPr>
          <p:cNvPr id="8" name="Text 5"/>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9" name="Text 6"/>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57 s</a:t>
            </a:r>
            <a:endParaRPr lang="en-US" sz="2600" dirty="0"/>
          </a:p>
        </p:txBody>
      </p:sp>
      <p:sp>
        <p:nvSpPr>
          <p:cNvPr id="10" name="Text 7"/>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2 CPUs / 8 GB</a:t>
            </a:r>
            <a:endParaRPr lang="en-US" sz="1400" dirty="0"/>
          </a:p>
        </p:txBody>
      </p:sp>
      <p:sp>
        <p:nvSpPr>
          <p:cNvPr id="11" name="Text 8"/>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+0.11 ns</a:t>
            </a:r>
            <a:endParaRPr lang="en-US" sz="2600" dirty="0"/>
          </a:p>
        </p:txBody>
      </p:sp>
      <p:sp>
        <p:nvSpPr>
          <p:cNvPr id="12" name="Text 9"/>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(hold)</a:t>
            </a:r>
            <a:endParaRPr lang="en-US" sz="1400" dirty="0"/>
          </a:p>
        </p:txBody>
      </p:sp>
      <p:sp>
        <p:nvSpPr>
          <p:cNvPr id="13" name="Text 10"/>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2 CPUs / 8 GB, Apple-silicon VM;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pwm_dac turns a number into a duty cycle</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An 8-bit counter is compared with a duty register; a filter turns the pulses into a voltage.</a:t>
            </a:r>
            <a:endParaRPr lang="en-US" sz="1800" dirty="0"/>
          </a:p>
        </p:txBody>
      </p:sp>
      <p:sp>
        <p:nvSpPr>
          <p:cNvPr id="4" name="block duty register"/>
          <p:cNvSpPr/>
          <p:nvPr/>
        </p:nvSpPr>
        <p:spPr>
          <a:xfrm>
            <a:off x="457200" y="2240280"/>
            <a:ext cx="256032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duty register</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(Wishbone)</a:t>
            </a:r>
            <a:endParaRPr lang="en-US" sz="1400" dirty="0"/>
          </a:p>
        </p:txBody>
      </p:sp>
      <p:sp>
        <p:nvSpPr>
          <p:cNvPr id="6" name="arrow"/>
          <p:cNvSpPr/>
          <p:nvPr/>
        </p:nvSpPr>
        <p:spPr>
          <a:xfrm>
            <a:off x="3044952" y="2720340"/>
            <a:ext cx="219456" cy="0"/>
          </a:xfrm>
          <a:prstGeom prst="line">
            <a:avLst/>
          </a:prstGeom>
          <a:noFill/>
          <a:ln w="25400">
            <a:solidFill>
              <a:srgbClr val="FF4D2E"/>
            </a:solidFill>
            <a:prstDash val="solid"/>
            <a:tailEnd type="triangle"/>
          </a:ln>
        </p:spPr>
      </p:sp>
      <p:sp>
        <p:nvSpPr>
          <p:cNvPr id="7" name="block counter &lt;"/>
          <p:cNvSpPr/>
          <p:nvPr/>
        </p:nvSpPr>
        <p:spPr>
          <a:xfrm>
            <a:off x="3291840" y="2240280"/>
            <a:ext cx="256032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329184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counter &lt;</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duty ?</a:t>
            </a:r>
            <a:endParaRPr lang="en-US" sz="1400" dirty="0"/>
          </a:p>
        </p:txBody>
      </p:sp>
      <p:sp>
        <p:nvSpPr>
          <p:cNvPr id="9" name="arrow"/>
          <p:cNvSpPr/>
          <p:nvPr/>
        </p:nvSpPr>
        <p:spPr>
          <a:xfrm>
            <a:off x="5879592" y="2720340"/>
            <a:ext cx="219456" cy="0"/>
          </a:xfrm>
          <a:prstGeom prst="line">
            <a:avLst/>
          </a:prstGeom>
          <a:noFill/>
          <a:ln w="25400">
            <a:solidFill>
              <a:srgbClr val="FF4D2E"/>
            </a:solidFill>
            <a:prstDash val="solid"/>
            <a:tailEnd type="triangle"/>
          </a:ln>
        </p:spPr>
      </p:sp>
      <p:sp>
        <p:nvSpPr>
          <p:cNvPr id="10" name="block pwm_out"/>
          <p:cNvSpPr/>
          <p:nvPr/>
        </p:nvSpPr>
        <p:spPr>
          <a:xfrm>
            <a:off x="6126480" y="2240280"/>
            <a:ext cx="256032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612648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pwm_out</a:t>
            </a:r>
            <a:endParaRPr lang="en-US" sz="1400" dirty="0"/>
          </a:p>
        </p:txBody>
      </p:sp>
      <p:sp>
        <p:nvSpPr>
          <p:cNvPr id="12" name="Text 10"/>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Checked: 0%, 50% and 255/256 duty tests pass.</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pwm_dac as a finished layout</a:t>
            </a:r>
            <a:endParaRPr lang="en-US" sz="2800" dirty="0"/>
          </a:p>
        </p:txBody>
      </p:sp>
      <p:sp>
        <p:nvSpPr>
          <p:cNvPr id="3" name="Shape 1"/>
          <p:cNvSpPr/>
          <p:nvPr/>
        </p:nvSpPr>
        <p:spPr>
          <a:xfrm>
            <a:off x="457200" y="1371600"/>
            <a:ext cx="5120640" cy="3017520"/>
          </a:xfrm>
          <a:prstGeom prst="rect">
            <a:avLst/>
          </a:prstGeom>
          <a:solidFill>
            <a:srgbClr val="FFFFFF"/>
          </a:solidFill>
          <a:ln w="9525">
            <a:solidFill>
              <a:srgbClr val="D5D9DC"/>
            </a:solidFill>
            <a:prstDash val="solid"/>
          </a:ln>
        </p:spPr>
      </p:sp>
      <p:pic>
        <p:nvPicPr>
          <p:cNvPr id="4" name="Image 0" descr="Layout of pwm_dac">    </p:cNvPr>
          <p:cNvPicPr>
            <a:picLocks noChangeAspect="1"/>
          </p:cNvPicPr>
          <p:nvPr/>
        </p:nvPicPr>
        <p:blipFill>
          <a:blip r:embed="rId1"/>
          <a:stretch>
            <a:fillRect/>
          </a:stretch>
        </p:blipFill>
        <p:spPr>
          <a:xfrm>
            <a:off x="1554480" y="1417320"/>
            <a:ext cx="2926080" cy="2926080"/>
          </a:xfrm>
          <a:prstGeom prst="rect">
            <a:avLst/>
          </a:prstGeom>
        </p:spPr>
      </p:pic>
      <p:sp>
        <p:nvSpPr>
          <p:cNvPr id="5" name="Text 2"/>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524</a:t>
            </a:r>
            <a:endParaRPr lang="en-US" sz="2600" dirty="0"/>
          </a:p>
        </p:txBody>
      </p:sp>
      <p:sp>
        <p:nvSpPr>
          <p:cNvPr id="6" name="Text 3"/>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7" name="Text 4"/>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150 × 150 µm</a:t>
            </a:r>
            <a:endParaRPr lang="en-US" sz="2600" dirty="0"/>
          </a:p>
        </p:txBody>
      </p:sp>
      <p:sp>
        <p:nvSpPr>
          <p:cNvPr id="8" name="Text 5"/>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9" name="Text 6"/>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51 s</a:t>
            </a:r>
            <a:endParaRPr lang="en-US" sz="2600" dirty="0"/>
          </a:p>
        </p:txBody>
      </p:sp>
      <p:sp>
        <p:nvSpPr>
          <p:cNvPr id="10" name="Text 7"/>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2 CPUs / 8 GB</a:t>
            </a:r>
            <a:endParaRPr lang="en-US" sz="1400" dirty="0"/>
          </a:p>
        </p:txBody>
      </p:sp>
      <p:sp>
        <p:nvSpPr>
          <p:cNvPr id="11" name="Text 8"/>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+0.12 ns</a:t>
            </a:r>
            <a:endParaRPr lang="en-US" sz="2600" dirty="0"/>
          </a:p>
        </p:txBody>
      </p:sp>
      <p:sp>
        <p:nvSpPr>
          <p:cNvPr id="12" name="Text 9"/>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(hold)</a:t>
            </a:r>
            <a:endParaRPr lang="en-US" sz="1400" dirty="0"/>
          </a:p>
        </p:txBody>
      </p:sp>
      <p:sp>
        <p:nvSpPr>
          <p:cNvPr id="13" name="Text 10"/>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2 CPUs / 8 GB, Apple-silicon VM;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sigma_delta turns a number into a bit stream</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16-bit accumulator whose carry is a 1-bit stream; the density of ones tracks the input.</a:t>
            </a:r>
            <a:endParaRPr lang="en-US" sz="1800" dirty="0"/>
          </a:p>
        </p:txBody>
      </p:sp>
      <p:sp>
        <p:nvSpPr>
          <p:cNvPr id="4" name="block input"/>
          <p:cNvSpPr/>
          <p:nvPr/>
        </p:nvSpPr>
        <p:spPr>
          <a:xfrm>
            <a:off x="457200" y="2240280"/>
            <a:ext cx="256032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input</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16 bit</a:t>
            </a:r>
            <a:endParaRPr lang="en-US" sz="1400" dirty="0"/>
          </a:p>
        </p:txBody>
      </p:sp>
      <p:sp>
        <p:nvSpPr>
          <p:cNvPr id="6" name="arrow"/>
          <p:cNvSpPr/>
          <p:nvPr/>
        </p:nvSpPr>
        <p:spPr>
          <a:xfrm>
            <a:off x="3044952" y="2720340"/>
            <a:ext cx="219456" cy="0"/>
          </a:xfrm>
          <a:prstGeom prst="line">
            <a:avLst/>
          </a:prstGeom>
          <a:noFill/>
          <a:ln w="25400">
            <a:solidFill>
              <a:srgbClr val="FF4D2E"/>
            </a:solidFill>
            <a:prstDash val="solid"/>
            <a:tailEnd type="triangle"/>
          </a:ln>
        </p:spPr>
      </p:sp>
      <p:sp>
        <p:nvSpPr>
          <p:cNvPr id="7" name="block accumulator"/>
          <p:cNvSpPr/>
          <p:nvPr/>
        </p:nvSpPr>
        <p:spPr>
          <a:xfrm>
            <a:off x="3291840" y="2240280"/>
            <a:ext cx="256032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329184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accumulator</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carry = out</a:t>
            </a:r>
            <a:endParaRPr lang="en-US" sz="1400" dirty="0"/>
          </a:p>
        </p:txBody>
      </p:sp>
      <p:sp>
        <p:nvSpPr>
          <p:cNvPr id="9" name="arrow"/>
          <p:cNvSpPr/>
          <p:nvPr/>
        </p:nvSpPr>
        <p:spPr>
          <a:xfrm>
            <a:off x="5879592" y="2720340"/>
            <a:ext cx="219456" cy="0"/>
          </a:xfrm>
          <a:prstGeom prst="line">
            <a:avLst/>
          </a:prstGeom>
          <a:noFill/>
          <a:ln w="25400">
            <a:solidFill>
              <a:srgbClr val="FF4D2E"/>
            </a:solidFill>
            <a:prstDash val="solid"/>
            <a:tailEnd type="triangle"/>
          </a:ln>
        </p:spPr>
      </p:sp>
      <p:sp>
        <p:nvSpPr>
          <p:cNvPr id="10" name="block 1-bit stream +"/>
          <p:cNvSpPr/>
          <p:nvPr/>
        </p:nvSpPr>
        <p:spPr>
          <a:xfrm>
            <a:off x="6126480" y="2240280"/>
            <a:ext cx="256032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612648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1-bit stream +</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256-cycle count</a:t>
            </a:r>
            <a:endParaRPr lang="en-US" sz="1400" dirty="0"/>
          </a:p>
        </p:txBody>
      </p:sp>
      <p:sp>
        <p:nvSpPr>
          <p:cNvPr id="12" name="Text 10"/>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Checked: density tests pass at 0, half and full scale.</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sigma_delta as a finished layout</a:t>
            </a:r>
            <a:endParaRPr lang="en-US" sz="2800" dirty="0"/>
          </a:p>
        </p:txBody>
      </p:sp>
      <p:sp>
        <p:nvSpPr>
          <p:cNvPr id="3" name="Shape 1"/>
          <p:cNvSpPr/>
          <p:nvPr/>
        </p:nvSpPr>
        <p:spPr>
          <a:xfrm>
            <a:off x="457200" y="1371600"/>
            <a:ext cx="5120640" cy="3017520"/>
          </a:xfrm>
          <a:prstGeom prst="rect">
            <a:avLst/>
          </a:prstGeom>
          <a:solidFill>
            <a:srgbClr val="FFFFFF"/>
          </a:solidFill>
          <a:ln w="9525">
            <a:solidFill>
              <a:srgbClr val="D5D9DC"/>
            </a:solidFill>
            <a:prstDash val="solid"/>
          </a:ln>
        </p:spPr>
      </p:sp>
      <p:pic>
        <p:nvPicPr>
          <p:cNvPr id="4" name="Image 0" descr="Layout of sigma_delta">    </p:cNvPr>
          <p:cNvPicPr>
            <a:picLocks noChangeAspect="1"/>
          </p:cNvPicPr>
          <p:nvPr/>
        </p:nvPicPr>
        <p:blipFill>
          <a:blip r:embed="rId1"/>
          <a:stretch>
            <a:fillRect/>
          </a:stretch>
        </p:blipFill>
        <p:spPr>
          <a:xfrm>
            <a:off x="1554480" y="1417320"/>
            <a:ext cx="2926080" cy="2926080"/>
          </a:xfrm>
          <a:prstGeom prst="rect">
            <a:avLst/>
          </a:prstGeom>
        </p:spPr>
      </p:pic>
      <p:sp>
        <p:nvSpPr>
          <p:cNvPr id="5" name="Text 2"/>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1,026</a:t>
            </a:r>
            <a:endParaRPr lang="en-US" sz="2600" dirty="0"/>
          </a:p>
        </p:txBody>
      </p:sp>
      <p:sp>
        <p:nvSpPr>
          <p:cNvPr id="6" name="Text 3"/>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7" name="Text 4"/>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200 × 200 µm</a:t>
            </a:r>
            <a:endParaRPr lang="en-US" sz="2600" dirty="0"/>
          </a:p>
        </p:txBody>
      </p:sp>
      <p:sp>
        <p:nvSpPr>
          <p:cNvPr id="8" name="Text 5"/>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9" name="Text 6"/>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74 s</a:t>
            </a:r>
            <a:endParaRPr lang="en-US" sz="2600" dirty="0"/>
          </a:p>
        </p:txBody>
      </p:sp>
      <p:sp>
        <p:nvSpPr>
          <p:cNvPr id="10" name="Text 7"/>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2 CPUs / 8 GB</a:t>
            </a:r>
            <a:endParaRPr lang="en-US" sz="1400" dirty="0"/>
          </a:p>
        </p:txBody>
      </p:sp>
      <p:sp>
        <p:nvSpPr>
          <p:cNvPr id="11" name="Text 8"/>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+0.11 ns</a:t>
            </a:r>
            <a:endParaRPr lang="en-US" sz="2600" dirty="0"/>
          </a:p>
        </p:txBody>
      </p:sp>
      <p:sp>
        <p:nvSpPr>
          <p:cNvPr id="12" name="Text 9"/>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(hold)</a:t>
            </a:r>
            <a:endParaRPr lang="en-US" sz="1400" dirty="0"/>
          </a:p>
        </p:txBody>
      </p:sp>
      <p:sp>
        <p:nvSpPr>
          <p:cNvPr id="13" name="Text 10"/>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2 CPUs / 8 GB, Apple-silicon VM;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aes128 encrypts a block in 51 clock cycles</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compact AES-128 core: four shared S-boxes and an on-the-fly round key.</a:t>
            </a:r>
            <a:endParaRPr lang="en-US" sz="1800" dirty="0"/>
          </a:p>
        </p:txBody>
      </p:sp>
      <p:sp>
        <p:nvSpPr>
          <p:cNvPr id="4" name="block state ⊕ key"/>
          <p:cNvSpPr/>
          <p:nvPr/>
        </p:nvSpPr>
        <p:spPr>
          <a:xfrm>
            <a:off x="457200" y="2240280"/>
            <a:ext cx="256032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state ⊕ key</a:t>
            </a:r>
            <a:endParaRPr lang="en-US" sz="1400" dirty="0"/>
          </a:p>
        </p:txBody>
      </p:sp>
      <p:sp>
        <p:nvSpPr>
          <p:cNvPr id="6" name="arrow"/>
          <p:cNvSpPr/>
          <p:nvPr/>
        </p:nvSpPr>
        <p:spPr>
          <a:xfrm>
            <a:off x="3044952" y="2720340"/>
            <a:ext cx="219456" cy="0"/>
          </a:xfrm>
          <a:prstGeom prst="line">
            <a:avLst/>
          </a:prstGeom>
          <a:noFill/>
          <a:ln w="25400">
            <a:solidFill>
              <a:srgbClr val="FF4D2E"/>
            </a:solidFill>
            <a:prstDash val="solid"/>
            <a:tailEnd type="triangle"/>
          </a:ln>
        </p:spPr>
      </p:sp>
      <p:sp>
        <p:nvSpPr>
          <p:cNvPr id="7" name="block 4 S-boxes +"/>
          <p:cNvSpPr/>
          <p:nvPr/>
        </p:nvSpPr>
        <p:spPr>
          <a:xfrm>
            <a:off x="3291840" y="2240280"/>
            <a:ext cx="256032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329184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4 S-boxes +</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MixColumns</a:t>
            </a:r>
            <a:endParaRPr lang="en-US" sz="1400" dirty="0"/>
          </a:p>
        </p:txBody>
      </p:sp>
      <p:sp>
        <p:nvSpPr>
          <p:cNvPr id="9" name="arrow"/>
          <p:cNvSpPr/>
          <p:nvPr/>
        </p:nvSpPr>
        <p:spPr>
          <a:xfrm>
            <a:off x="5879592" y="2720340"/>
            <a:ext cx="219456" cy="0"/>
          </a:xfrm>
          <a:prstGeom prst="line">
            <a:avLst/>
          </a:prstGeom>
          <a:noFill/>
          <a:ln w="25400">
            <a:solidFill>
              <a:srgbClr val="FF4D2E"/>
            </a:solidFill>
            <a:prstDash val="solid"/>
            <a:tailEnd type="triangle"/>
          </a:ln>
        </p:spPr>
      </p:sp>
      <p:sp>
        <p:nvSpPr>
          <p:cNvPr id="10" name="block 128-bit"/>
          <p:cNvSpPr/>
          <p:nvPr/>
        </p:nvSpPr>
        <p:spPr>
          <a:xfrm>
            <a:off x="6126480" y="2240280"/>
            <a:ext cx="256032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6126480" y="2240280"/>
            <a:ext cx="256032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128-bit</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state</a:t>
            </a:r>
            <a:endParaRPr lang="en-US" sz="1400" dirty="0"/>
          </a:p>
        </p:txBody>
      </p:sp>
      <p:sp>
        <p:nvSpPr>
          <p:cNvPr id="12" name="Text 10"/>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Checked: FIPS-197 vectors and 2,000 random blocks.</a:t>
            </a:r>
            <a:endParaRPr lang="en-US" sz="1800" dirty="0"/>
          </a:p>
        </p:txBody>
      </p:sp>
      <p:sp>
        <p:nvSpPr>
          <p:cNvPr id="13" name="Text 11"/>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800" dirty="0">
                <a:solidFill>
                  <a:srgbClr val="B83A22"/>
                </a:solidFill>
                <a:latin typeface="Arial" pitchFamily="34" charset="0"/>
                <a:ea typeface="Arial" pitchFamily="34" charset="-122"/>
                <a:cs typeface="Arial" pitchFamily="34" charset="-120"/>
              </a:rPr>
              <a:t>Was broken: the original gave wrong ciphertext; 32,432 cells.</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aes128 as a finished layout</a:t>
            </a:r>
            <a:endParaRPr lang="en-US" sz="2800" dirty="0"/>
          </a:p>
        </p:txBody>
      </p:sp>
      <p:sp>
        <p:nvSpPr>
          <p:cNvPr id="3" name="Shape 1"/>
          <p:cNvSpPr/>
          <p:nvPr/>
        </p:nvSpPr>
        <p:spPr>
          <a:xfrm>
            <a:off x="457200" y="1371600"/>
            <a:ext cx="5120640" cy="3017520"/>
          </a:xfrm>
          <a:prstGeom prst="rect">
            <a:avLst/>
          </a:prstGeom>
          <a:solidFill>
            <a:srgbClr val="FFFFFF"/>
          </a:solidFill>
          <a:ln w="9525">
            <a:solidFill>
              <a:srgbClr val="D5D9DC"/>
            </a:solidFill>
            <a:prstDash val="solid"/>
          </a:ln>
        </p:spPr>
      </p:sp>
      <p:pic>
        <p:nvPicPr>
          <p:cNvPr id="4" name="Image 0" descr="Layout of aes128">    </p:cNvPr>
          <p:cNvPicPr>
            <a:picLocks noChangeAspect="1"/>
          </p:cNvPicPr>
          <p:nvPr/>
        </p:nvPicPr>
        <p:blipFill>
          <a:blip r:embed="rId1"/>
          <a:stretch>
            <a:fillRect/>
          </a:stretch>
        </p:blipFill>
        <p:spPr>
          <a:xfrm>
            <a:off x="1554480" y="1417320"/>
            <a:ext cx="2926080" cy="2926080"/>
          </a:xfrm>
          <a:prstGeom prst="rect">
            <a:avLst/>
          </a:prstGeom>
        </p:spPr>
      </p:pic>
      <p:sp>
        <p:nvSpPr>
          <p:cNvPr id="5" name="Text 2"/>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9,403</a:t>
            </a:r>
            <a:endParaRPr lang="en-US" sz="2600" dirty="0"/>
          </a:p>
        </p:txBody>
      </p:sp>
      <p:sp>
        <p:nvSpPr>
          <p:cNvPr id="6" name="Text 3"/>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7" name="Text 4"/>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400 × 400 µm</a:t>
            </a:r>
            <a:endParaRPr lang="en-US" sz="2600" dirty="0"/>
          </a:p>
        </p:txBody>
      </p:sp>
      <p:sp>
        <p:nvSpPr>
          <p:cNvPr id="8" name="Text 5"/>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9" name="Text 6"/>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7.5 min</a:t>
            </a:r>
            <a:endParaRPr lang="en-US" sz="2600" dirty="0"/>
          </a:p>
        </p:txBody>
      </p:sp>
      <p:sp>
        <p:nvSpPr>
          <p:cNvPr id="10" name="Text 7"/>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2 CPUs / 8 GB</a:t>
            </a:r>
            <a:endParaRPr lang="en-US" sz="1400" dirty="0"/>
          </a:p>
        </p:txBody>
      </p:sp>
      <p:sp>
        <p:nvSpPr>
          <p:cNvPr id="11" name="Text 8"/>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+0.06 ns</a:t>
            </a:r>
            <a:endParaRPr lang="en-US" sz="2600" dirty="0"/>
          </a:p>
        </p:txBody>
      </p:sp>
      <p:sp>
        <p:nvSpPr>
          <p:cNvPr id="12" name="Text 9"/>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(hold)</a:t>
            </a:r>
            <a:endParaRPr lang="en-US" sz="1400" dirty="0"/>
          </a:p>
        </p:txBody>
      </p:sp>
      <p:sp>
        <p:nvSpPr>
          <p:cNvPr id="13" name="Text 10"/>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2 CPUs / 8 GB, Apple-silicon VM;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bnn_mnist recognises digits with 1-bit arithmetic</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 196 → 32 → 10 binarized network: XNOR and count, then a 4-bit score per digit.</a:t>
            </a:r>
            <a:endParaRPr lang="en-US" sz="1800" dirty="0"/>
          </a:p>
        </p:txBody>
      </p:sp>
      <p:sp>
        <p:nvSpPr>
          <p:cNvPr id="4" name="block 196 pixel"/>
          <p:cNvSpPr/>
          <p:nvPr/>
        </p:nvSpPr>
        <p:spPr>
          <a:xfrm>
            <a:off x="457200" y="2240280"/>
            <a:ext cx="185166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196 pixel</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bits</a:t>
            </a:r>
            <a:endParaRPr lang="en-US" sz="1400" dirty="0"/>
          </a:p>
        </p:txBody>
      </p:sp>
      <p:sp>
        <p:nvSpPr>
          <p:cNvPr id="6" name="arrow"/>
          <p:cNvSpPr/>
          <p:nvPr/>
        </p:nvSpPr>
        <p:spPr>
          <a:xfrm>
            <a:off x="2336292" y="2720340"/>
            <a:ext cx="219456" cy="0"/>
          </a:xfrm>
          <a:prstGeom prst="line">
            <a:avLst/>
          </a:prstGeom>
          <a:noFill/>
          <a:ln w="25400">
            <a:solidFill>
              <a:srgbClr val="FF4D2E"/>
            </a:solidFill>
            <a:prstDash val="solid"/>
            <a:tailEnd type="triangle"/>
          </a:ln>
        </p:spPr>
      </p:sp>
      <p:sp>
        <p:nvSpPr>
          <p:cNvPr id="7" name="block 32 hidden"/>
          <p:cNvSpPr/>
          <p:nvPr/>
        </p:nvSpPr>
        <p:spPr>
          <a:xfrm>
            <a:off x="2583180" y="2240280"/>
            <a:ext cx="185166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258318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32 hidden</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XNOR + count</a:t>
            </a:r>
            <a:endParaRPr lang="en-US" sz="1400" dirty="0"/>
          </a:p>
        </p:txBody>
      </p:sp>
      <p:sp>
        <p:nvSpPr>
          <p:cNvPr id="9" name="arrow"/>
          <p:cNvSpPr/>
          <p:nvPr/>
        </p:nvSpPr>
        <p:spPr>
          <a:xfrm>
            <a:off x="4462272" y="2720340"/>
            <a:ext cx="219456" cy="0"/>
          </a:xfrm>
          <a:prstGeom prst="line">
            <a:avLst/>
          </a:prstGeom>
          <a:noFill/>
          <a:ln w="25400">
            <a:solidFill>
              <a:srgbClr val="FF4D2E"/>
            </a:solidFill>
            <a:prstDash val="solid"/>
            <a:tailEnd type="triangle"/>
          </a:ln>
        </p:spPr>
      </p:sp>
      <p:sp>
        <p:nvSpPr>
          <p:cNvPr id="10" name="block 10 scores"/>
          <p:cNvSpPr/>
          <p:nvPr/>
        </p:nvSpPr>
        <p:spPr>
          <a:xfrm>
            <a:off x="4709160" y="2240280"/>
            <a:ext cx="185166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470916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10 scores</a:t>
            </a:r>
            <a:endParaRPr lang="en-US" sz="1400" dirty="0"/>
          </a:p>
        </p:txBody>
      </p:sp>
      <p:sp>
        <p:nvSpPr>
          <p:cNvPr id="12" name="arrow"/>
          <p:cNvSpPr/>
          <p:nvPr/>
        </p:nvSpPr>
        <p:spPr>
          <a:xfrm>
            <a:off x="6588252" y="2720340"/>
            <a:ext cx="219456" cy="0"/>
          </a:xfrm>
          <a:prstGeom prst="line">
            <a:avLst/>
          </a:prstGeom>
          <a:noFill/>
          <a:ln w="25400">
            <a:solidFill>
              <a:srgbClr val="FF4D2E"/>
            </a:solidFill>
            <a:prstDash val="solid"/>
            <a:tailEnd type="triangle"/>
          </a:ln>
        </p:spPr>
      </p:sp>
      <p:sp>
        <p:nvSpPr>
          <p:cNvPr id="13" name="block class"/>
          <p:cNvSpPr/>
          <p:nvPr/>
        </p:nvSpPr>
        <p:spPr>
          <a:xfrm>
            <a:off x="6835140" y="2240280"/>
            <a:ext cx="1851660" cy="960120"/>
          </a:xfrm>
          <a:prstGeom prst="roundRect">
            <a:avLst>
              <a:gd name="adj" fmla="val 5714"/>
            </a:avLst>
          </a:prstGeom>
          <a:solidFill>
            <a:srgbClr val="E1F0ED"/>
          </a:solidFill>
          <a:ln w="12700">
            <a:solidFill>
              <a:srgbClr val="008F7A"/>
            </a:solidFill>
            <a:prstDash val="solid"/>
          </a:ln>
        </p:spPr>
      </p:sp>
      <p:sp>
        <p:nvSpPr>
          <p:cNvPr id="14" name="Text 12"/>
          <p:cNvSpPr txBox="1"/>
          <p:nvPr/>
        </p:nvSpPr>
        <p:spPr>
          <a:xfrm>
            <a:off x="683514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class</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(argmax)</a:t>
            </a:r>
            <a:endParaRPr lang="en-US" sz="1400" dirty="0"/>
          </a:p>
        </p:txBody>
      </p:sp>
      <p:sp>
        <p:nvSpPr>
          <p:cNvPr id="15" name="Text 13"/>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Checked: all 10,000 test images match; 90.10% accurate.</a:t>
            </a:r>
            <a:endParaRPr lang="en-US" sz="1800" dirty="0"/>
          </a:p>
        </p:txBody>
      </p:sp>
      <p:sp>
        <p:nvSpPr>
          <p:cNvPr id="16" name="Text 14"/>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800" dirty="0">
                <a:solidFill>
                  <a:srgbClr val="B83A22"/>
                </a:solidFill>
                <a:latin typeface="Arial" pitchFamily="34" charset="0"/>
                <a:ea typeface="Arial" pitchFamily="34" charset="-122"/>
                <a:cs typeface="Arial" pitchFamily="34" charset="-120"/>
              </a:rPr>
              <a:t>Was untrained: random weights; 34,707 cells.</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bnn_mnist as a finished layout</a:t>
            </a:r>
            <a:endParaRPr lang="en-US" sz="2800" dirty="0"/>
          </a:p>
        </p:txBody>
      </p:sp>
      <p:sp>
        <p:nvSpPr>
          <p:cNvPr id="3" name="Shape 1"/>
          <p:cNvSpPr/>
          <p:nvPr/>
        </p:nvSpPr>
        <p:spPr>
          <a:xfrm>
            <a:off x="457200" y="1371600"/>
            <a:ext cx="5120640" cy="3017520"/>
          </a:xfrm>
          <a:prstGeom prst="rect">
            <a:avLst/>
          </a:prstGeom>
          <a:solidFill>
            <a:srgbClr val="FFFFFF"/>
          </a:solidFill>
          <a:ln w="9525">
            <a:solidFill>
              <a:srgbClr val="D5D9DC"/>
            </a:solidFill>
            <a:prstDash val="solid"/>
          </a:ln>
        </p:spPr>
      </p:sp>
      <p:pic>
        <p:nvPicPr>
          <p:cNvPr id="4" name="Image 0" descr="Layout of bnn_mnist">    </p:cNvPr>
          <p:cNvPicPr>
            <a:picLocks noChangeAspect="1"/>
          </p:cNvPicPr>
          <p:nvPr/>
        </p:nvPicPr>
        <p:blipFill>
          <a:blip r:embed="rId1"/>
          <a:stretch>
            <a:fillRect/>
          </a:stretch>
        </p:blipFill>
        <p:spPr>
          <a:xfrm>
            <a:off x="1554480" y="1417320"/>
            <a:ext cx="2926080" cy="2926080"/>
          </a:xfrm>
          <a:prstGeom prst="rect">
            <a:avLst/>
          </a:prstGeom>
        </p:spPr>
      </p:pic>
      <p:sp>
        <p:nvSpPr>
          <p:cNvPr id="5" name="Text 2"/>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7,466</a:t>
            </a:r>
            <a:endParaRPr lang="en-US" sz="2600" dirty="0"/>
          </a:p>
        </p:txBody>
      </p:sp>
      <p:sp>
        <p:nvSpPr>
          <p:cNvPr id="6" name="Text 3"/>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7" name="Text 4"/>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360 × 360 µm</a:t>
            </a:r>
            <a:endParaRPr lang="en-US" sz="2600" dirty="0"/>
          </a:p>
        </p:txBody>
      </p:sp>
      <p:sp>
        <p:nvSpPr>
          <p:cNvPr id="8" name="Text 5"/>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9" name="Text 6"/>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7.1 min</a:t>
            </a:r>
            <a:endParaRPr lang="en-US" sz="2600" dirty="0"/>
          </a:p>
        </p:txBody>
      </p:sp>
      <p:sp>
        <p:nvSpPr>
          <p:cNvPr id="10" name="Text 7"/>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2 CPUs / 8 GB</a:t>
            </a:r>
            <a:endParaRPr lang="en-US" sz="1400" dirty="0"/>
          </a:p>
        </p:txBody>
      </p:sp>
      <p:sp>
        <p:nvSpPr>
          <p:cNvPr id="11" name="Text 8"/>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+0.11 ns</a:t>
            </a:r>
            <a:endParaRPr lang="en-US" sz="2600" dirty="0"/>
          </a:p>
        </p:txBody>
      </p:sp>
      <p:sp>
        <p:nvSpPr>
          <p:cNvPr id="12" name="Text 9"/>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(hold)</a:t>
            </a:r>
            <a:endParaRPr lang="en-US" sz="1400" dirty="0"/>
          </a:p>
        </p:txBody>
      </p:sp>
      <p:sp>
        <p:nvSpPr>
          <p:cNvPr id="13" name="Text 10"/>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2 CPUs / 8 GB, Apple-silicon VM;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fcnn_mnist recognises digits with one neuron layer</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One 196-to-10 fixed-point layer. user_proj_example is the same RTL, routed up to met4 only.</a:t>
            </a:r>
            <a:endParaRPr lang="en-US" sz="1800" dirty="0"/>
          </a:p>
        </p:txBody>
      </p:sp>
      <p:sp>
        <p:nvSpPr>
          <p:cNvPr id="4" name="block 196 gray"/>
          <p:cNvSpPr/>
          <p:nvPr/>
        </p:nvSpPr>
        <p:spPr>
          <a:xfrm>
            <a:off x="457200" y="2240280"/>
            <a:ext cx="185166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196 gray</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pixels</a:t>
            </a:r>
            <a:endParaRPr lang="en-US" sz="1400" dirty="0"/>
          </a:p>
        </p:txBody>
      </p:sp>
      <p:sp>
        <p:nvSpPr>
          <p:cNvPr id="6" name="arrow"/>
          <p:cNvSpPr/>
          <p:nvPr/>
        </p:nvSpPr>
        <p:spPr>
          <a:xfrm>
            <a:off x="2336292" y="2720340"/>
            <a:ext cx="219456" cy="0"/>
          </a:xfrm>
          <a:prstGeom prst="line">
            <a:avLst/>
          </a:prstGeom>
          <a:noFill/>
          <a:ln w="25400">
            <a:solidFill>
              <a:srgbClr val="FF4D2E"/>
            </a:solidFill>
            <a:prstDash val="solid"/>
            <a:tailEnd type="triangle"/>
          </a:ln>
        </p:spPr>
      </p:sp>
      <p:sp>
        <p:nvSpPr>
          <p:cNvPr id="7" name="block 10 neurons"/>
          <p:cNvSpPr/>
          <p:nvPr/>
        </p:nvSpPr>
        <p:spPr>
          <a:xfrm>
            <a:off x="2583180" y="2240280"/>
            <a:ext cx="185166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258318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10 neurons</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serial MAC</a:t>
            </a:r>
            <a:endParaRPr lang="en-US" sz="1400" dirty="0"/>
          </a:p>
        </p:txBody>
      </p:sp>
      <p:sp>
        <p:nvSpPr>
          <p:cNvPr id="9" name="arrow"/>
          <p:cNvSpPr/>
          <p:nvPr/>
        </p:nvSpPr>
        <p:spPr>
          <a:xfrm>
            <a:off x="4462272" y="2720340"/>
            <a:ext cx="219456" cy="0"/>
          </a:xfrm>
          <a:prstGeom prst="line">
            <a:avLst/>
          </a:prstGeom>
          <a:noFill/>
          <a:ln w="25400">
            <a:solidFill>
              <a:srgbClr val="FF4D2E"/>
            </a:solidFill>
            <a:prstDash val="solid"/>
            <a:tailEnd type="triangle"/>
          </a:ln>
        </p:spPr>
      </p:sp>
      <p:sp>
        <p:nvSpPr>
          <p:cNvPr id="10" name="block sigmoid"/>
          <p:cNvSpPr/>
          <p:nvPr/>
        </p:nvSpPr>
        <p:spPr>
          <a:xfrm>
            <a:off x="4709160" y="2240280"/>
            <a:ext cx="185166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470916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sigmoid</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lookup</a:t>
            </a:r>
            <a:endParaRPr lang="en-US" sz="1400" dirty="0"/>
          </a:p>
        </p:txBody>
      </p:sp>
      <p:sp>
        <p:nvSpPr>
          <p:cNvPr id="12" name="arrow"/>
          <p:cNvSpPr/>
          <p:nvPr/>
        </p:nvSpPr>
        <p:spPr>
          <a:xfrm>
            <a:off x="6588252" y="2720340"/>
            <a:ext cx="219456" cy="0"/>
          </a:xfrm>
          <a:prstGeom prst="line">
            <a:avLst/>
          </a:prstGeom>
          <a:noFill/>
          <a:ln w="25400">
            <a:solidFill>
              <a:srgbClr val="FF4D2E"/>
            </a:solidFill>
            <a:prstDash val="solid"/>
            <a:tailEnd type="triangle"/>
          </a:ln>
        </p:spPr>
      </p:sp>
      <p:sp>
        <p:nvSpPr>
          <p:cNvPr id="13" name="block max finder"/>
          <p:cNvSpPr/>
          <p:nvPr/>
        </p:nvSpPr>
        <p:spPr>
          <a:xfrm>
            <a:off x="6835140" y="2240280"/>
            <a:ext cx="1851660" cy="960120"/>
          </a:xfrm>
          <a:prstGeom prst="roundRect">
            <a:avLst>
              <a:gd name="adj" fmla="val 5714"/>
            </a:avLst>
          </a:prstGeom>
          <a:solidFill>
            <a:srgbClr val="E1F0ED"/>
          </a:solidFill>
          <a:ln w="12700">
            <a:solidFill>
              <a:srgbClr val="008F7A"/>
            </a:solidFill>
            <a:prstDash val="solid"/>
          </a:ln>
        </p:spPr>
      </p:sp>
      <p:sp>
        <p:nvSpPr>
          <p:cNvPr id="14" name="Text 12"/>
          <p:cNvSpPr txBox="1"/>
          <p:nvPr/>
        </p:nvSpPr>
        <p:spPr>
          <a:xfrm>
            <a:off x="683514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max finder</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(class)</a:t>
            </a:r>
            <a:endParaRPr lang="en-US" sz="1400" dirty="0"/>
          </a:p>
        </p:txBody>
      </p:sp>
      <p:sp>
        <p:nvSpPr>
          <p:cNvPr id="15" name="Text 13"/>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Checked: 1,000 images match the bit-exact model; 91.72% accurate.</a:t>
            </a:r>
            <a:endParaRPr lang="en-US" sz="1800" dirty="0"/>
          </a:p>
        </p:txBody>
      </p:sp>
      <p:sp>
        <p:nvSpPr>
          <p:cNvPr id="16" name="Text 14"/>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Before: 784 inputs, 16-bit, 102,091 cells.</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fcnn_mnist as a finished layout</a:t>
            </a:r>
            <a:endParaRPr lang="en-US" sz="2800" dirty="0"/>
          </a:p>
        </p:txBody>
      </p:sp>
      <p:sp>
        <p:nvSpPr>
          <p:cNvPr id="3" name="Shape 1"/>
          <p:cNvSpPr/>
          <p:nvPr/>
        </p:nvSpPr>
        <p:spPr>
          <a:xfrm>
            <a:off x="457200" y="1371600"/>
            <a:ext cx="5120640" cy="3017520"/>
          </a:xfrm>
          <a:prstGeom prst="rect">
            <a:avLst/>
          </a:prstGeom>
          <a:solidFill>
            <a:srgbClr val="FFFFFF"/>
          </a:solidFill>
          <a:ln w="9525">
            <a:solidFill>
              <a:srgbClr val="D5D9DC"/>
            </a:solidFill>
            <a:prstDash val="solid"/>
          </a:ln>
        </p:spPr>
      </p:sp>
      <p:pic>
        <p:nvPicPr>
          <p:cNvPr id="4" name="Image 0" descr="Layout of fcnn_mnist">    </p:cNvPr>
          <p:cNvPicPr>
            <a:picLocks noChangeAspect="1"/>
          </p:cNvPicPr>
          <p:nvPr/>
        </p:nvPicPr>
        <p:blipFill>
          <a:blip r:embed="rId1"/>
          <a:stretch>
            <a:fillRect/>
          </a:stretch>
        </p:blipFill>
        <p:spPr>
          <a:xfrm>
            <a:off x="1554480" y="1417320"/>
            <a:ext cx="2926080" cy="2926080"/>
          </a:xfrm>
          <a:prstGeom prst="rect">
            <a:avLst/>
          </a:prstGeom>
        </p:spPr>
      </p:pic>
      <p:sp>
        <p:nvSpPr>
          <p:cNvPr id="5" name="Text 2"/>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12,212</a:t>
            </a:r>
            <a:endParaRPr lang="en-US" sz="2600" dirty="0"/>
          </a:p>
        </p:txBody>
      </p:sp>
      <p:sp>
        <p:nvSpPr>
          <p:cNvPr id="6" name="Text 3"/>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7" name="Text 4"/>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450 × 450 µm</a:t>
            </a:r>
            <a:endParaRPr lang="en-US" sz="2600" dirty="0"/>
          </a:p>
        </p:txBody>
      </p:sp>
      <p:sp>
        <p:nvSpPr>
          <p:cNvPr id="8" name="Text 5"/>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9" name="Text 6"/>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8.0 min</a:t>
            </a:r>
            <a:endParaRPr lang="en-US" sz="2600" dirty="0"/>
          </a:p>
        </p:txBody>
      </p:sp>
      <p:sp>
        <p:nvSpPr>
          <p:cNvPr id="10" name="Text 7"/>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2 CPUs / 8 GB</a:t>
            </a:r>
            <a:endParaRPr lang="en-US" sz="1400" dirty="0"/>
          </a:p>
        </p:txBody>
      </p:sp>
      <p:sp>
        <p:nvSpPr>
          <p:cNvPr id="11" name="Text 8"/>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+0.08 ns</a:t>
            </a:r>
            <a:endParaRPr lang="en-US" sz="2600" dirty="0"/>
          </a:p>
        </p:txBody>
      </p:sp>
      <p:sp>
        <p:nvSpPr>
          <p:cNvPr id="12" name="Text 9"/>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(hold)</a:t>
            </a:r>
            <a:endParaRPr lang="en-US" sz="1400" dirty="0"/>
          </a:p>
        </p:txBody>
      </p:sp>
      <p:sp>
        <p:nvSpPr>
          <p:cNvPr id="13" name="Text 10"/>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2 CPUs / 8 GB, Apple-silicon VM;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cnn_lite recognises digits with a tiny convolution</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Four 3 × 3 binary filters, a 2 × 2 pool, then a dense layer over 144 features.</a:t>
            </a:r>
            <a:endParaRPr lang="en-US" sz="1800" dirty="0"/>
          </a:p>
        </p:txBody>
      </p:sp>
      <p:sp>
        <p:nvSpPr>
          <p:cNvPr id="4" name="block 14 × 14"/>
          <p:cNvSpPr/>
          <p:nvPr/>
        </p:nvSpPr>
        <p:spPr>
          <a:xfrm>
            <a:off x="457200" y="2240280"/>
            <a:ext cx="185166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14 × 14</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bits</a:t>
            </a:r>
            <a:endParaRPr lang="en-US" sz="1400" dirty="0"/>
          </a:p>
        </p:txBody>
      </p:sp>
      <p:sp>
        <p:nvSpPr>
          <p:cNvPr id="6" name="arrow"/>
          <p:cNvSpPr/>
          <p:nvPr/>
        </p:nvSpPr>
        <p:spPr>
          <a:xfrm>
            <a:off x="2336292" y="2720340"/>
            <a:ext cx="219456" cy="0"/>
          </a:xfrm>
          <a:prstGeom prst="line">
            <a:avLst/>
          </a:prstGeom>
          <a:noFill/>
          <a:ln w="25400">
            <a:solidFill>
              <a:srgbClr val="FF4D2E"/>
            </a:solidFill>
            <a:prstDash val="solid"/>
            <a:tailEnd type="triangle"/>
          </a:ln>
        </p:spPr>
      </p:sp>
      <p:sp>
        <p:nvSpPr>
          <p:cNvPr id="7" name="block conv 3×3"/>
          <p:cNvSpPr/>
          <p:nvPr/>
        </p:nvSpPr>
        <p:spPr>
          <a:xfrm>
            <a:off x="2583180" y="2240280"/>
            <a:ext cx="185166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258318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conv 3×3</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4 filters</a:t>
            </a:r>
            <a:endParaRPr lang="en-US" sz="1400" dirty="0"/>
          </a:p>
        </p:txBody>
      </p:sp>
      <p:sp>
        <p:nvSpPr>
          <p:cNvPr id="9" name="arrow"/>
          <p:cNvSpPr/>
          <p:nvPr/>
        </p:nvSpPr>
        <p:spPr>
          <a:xfrm>
            <a:off x="4462272" y="2720340"/>
            <a:ext cx="219456" cy="0"/>
          </a:xfrm>
          <a:prstGeom prst="line">
            <a:avLst/>
          </a:prstGeom>
          <a:noFill/>
          <a:ln w="25400">
            <a:solidFill>
              <a:srgbClr val="FF4D2E"/>
            </a:solidFill>
            <a:prstDash val="solid"/>
            <a:tailEnd type="triangle"/>
          </a:ln>
        </p:spPr>
      </p:sp>
      <p:sp>
        <p:nvSpPr>
          <p:cNvPr id="10" name="block 2×2 pool"/>
          <p:cNvSpPr/>
          <p:nvPr/>
        </p:nvSpPr>
        <p:spPr>
          <a:xfrm>
            <a:off x="4709160" y="2240280"/>
            <a:ext cx="185166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470916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2×2 pool</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144 bits</a:t>
            </a:r>
            <a:endParaRPr lang="en-US" sz="1400" dirty="0"/>
          </a:p>
        </p:txBody>
      </p:sp>
      <p:sp>
        <p:nvSpPr>
          <p:cNvPr id="12" name="arrow"/>
          <p:cNvSpPr/>
          <p:nvPr/>
        </p:nvSpPr>
        <p:spPr>
          <a:xfrm>
            <a:off x="6588252" y="2720340"/>
            <a:ext cx="219456" cy="0"/>
          </a:xfrm>
          <a:prstGeom prst="line">
            <a:avLst/>
          </a:prstGeom>
          <a:noFill/>
          <a:ln w="25400">
            <a:solidFill>
              <a:srgbClr val="FF4D2E"/>
            </a:solidFill>
            <a:prstDash val="solid"/>
            <a:tailEnd type="triangle"/>
          </a:ln>
        </p:spPr>
      </p:sp>
      <p:sp>
        <p:nvSpPr>
          <p:cNvPr id="13" name="block dense"/>
          <p:cNvSpPr/>
          <p:nvPr/>
        </p:nvSpPr>
        <p:spPr>
          <a:xfrm>
            <a:off x="6835140" y="2240280"/>
            <a:ext cx="1851660" cy="960120"/>
          </a:xfrm>
          <a:prstGeom prst="roundRect">
            <a:avLst>
              <a:gd name="adj" fmla="val 5714"/>
            </a:avLst>
          </a:prstGeom>
          <a:solidFill>
            <a:srgbClr val="E1F0ED"/>
          </a:solidFill>
          <a:ln w="12700">
            <a:solidFill>
              <a:srgbClr val="008F7A"/>
            </a:solidFill>
            <a:prstDash val="solid"/>
          </a:ln>
        </p:spPr>
      </p:sp>
      <p:sp>
        <p:nvSpPr>
          <p:cNvPr id="14" name="Text 12"/>
          <p:cNvSpPr txBox="1"/>
          <p:nvPr/>
        </p:nvSpPr>
        <p:spPr>
          <a:xfrm>
            <a:off x="683514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dense</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144 → 10</a:t>
            </a:r>
            <a:endParaRPr lang="en-US" sz="1400" dirty="0"/>
          </a:p>
        </p:txBody>
      </p:sp>
      <p:sp>
        <p:nvSpPr>
          <p:cNvPr id="15" name="Text 13"/>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Checked: all 10,000 images match; 91.37% accurate.</a:t>
            </a:r>
            <a:endParaRPr lang="en-US" sz="1800" dirty="0"/>
          </a:p>
        </p:txBody>
      </p:sp>
      <p:sp>
        <p:nvSpPr>
          <p:cNvPr id="16" name="Text 14"/>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About 69 times fewer cells than cnn_fp16.</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cnn_lite as a finished layout</a:t>
            </a:r>
            <a:endParaRPr lang="en-US" sz="2800" dirty="0"/>
          </a:p>
        </p:txBody>
      </p:sp>
      <p:sp>
        <p:nvSpPr>
          <p:cNvPr id="3" name="Shape 1"/>
          <p:cNvSpPr/>
          <p:nvPr/>
        </p:nvSpPr>
        <p:spPr>
          <a:xfrm>
            <a:off x="457200" y="1371600"/>
            <a:ext cx="5120640" cy="3017520"/>
          </a:xfrm>
          <a:prstGeom prst="rect">
            <a:avLst/>
          </a:prstGeom>
          <a:solidFill>
            <a:srgbClr val="FFFFFF"/>
          </a:solidFill>
          <a:ln w="9525">
            <a:solidFill>
              <a:srgbClr val="D5D9DC"/>
            </a:solidFill>
            <a:prstDash val="solid"/>
          </a:ln>
        </p:spPr>
      </p:sp>
      <p:pic>
        <p:nvPicPr>
          <p:cNvPr id="4" name="Image 0" descr="Layout of cnn_lite">    </p:cNvPr>
          <p:cNvPicPr>
            <a:picLocks noChangeAspect="1"/>
          </p:cNvPicPr>
          <p:nvPr/>
        </p:nvPicPr>
        <p:blipFill>
          <a:blip r:embed="rId1"/>
          <a:stretch>
            <a:fillRect/>
          </a:stretch>
        </p:blipFill>
        <p:spPr>
          <a:xfrm>
            <a:off x="1554480" y="1417320"/>
            <a:ext cx="2926080" cy="2926080"/>
          </a:xfrm>
          <a:prstGeom prst="rect">
            <a:avLst/>
          </a:prstGeom>
        </p:spPr>
      </p:pic>
      <p:sp>
        <p:nvSpPr>
          <p:cNvPr id="5" name="Text 2"/>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7,700</a:t>
            </a:r>
            <a:endParaRPr lang="en-US" sz="2600" dirty="0"/>
          </a:p>
        </p:txBody>
      </p:sp>
      <p:sp>
        <p:nvSpPr>
          <p:cNvPr id="6" name="Text 3"/>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7" name="Text 4"/>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360 × 360 µm</a:t>
            </a:r>
            <a:endParaRPr lang="en-US" sz="2600" dirty="0"/>
          </a:p>
        </p:txBody>
      </p:sp>
      <p:sp>
        <p:nvSpPr>
          <p:cNvPr id="8" name="Text 5"/>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9" name="Text 6"/>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6.9 min</a:t>
            </a:r>
            <a:endParaRPr lang="en-US" sz="2600" dirty="0"/>
          </a:p>
        </p:txBody>
      </p:sp>
      <p:sp>
        <p:nvSpPr>
          <p:cNvPr id="10" name="Text 7"/>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2 CPUs / 8 GB</a:t>
            </a:r>
            <a:endParaRPr lang="en-US" sz="1400" dirty="0"/>
          </a:p>
        </p:txBody>
      </p:sp>
      <p:sp>
        <p:nvSpPr>
          <p:cNvPr id="11" name="Text 8"/>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+0.07 ns</a:t>
            </a:r>
            <a:endParaRPr lang="en-US" sz="2600" dirty="0"/>
          </a:p>
        </p:txBody>
      </p:sp>
      <p:sp>
        <p:nvSpPr>
          <p:cNvPr id="12" name="Text 9"/>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(hold)</a:t>
            </a:r>
            <a:endParaRPr lang="en-US" sz="1400" dirty="0"/>
          </a:p>
        </p:txBody>
      </p:sp>
      <p:sp>
        <p:nvSpPr>
          <p:cNvPr id="13" name="Text 10"/>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2 CPUs / 8 GB, Apple-silicon VM;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cnn_fp16 is the large float16 reference we keep</a:t>
            </a:r>
            <a:endParaRPr lang="en-US" sz="2800" dirty="0"/>
          </a:p>
        </p:txBody>
      </p:sp>
      <p:sp>
        <p:nvSpPr>
          <p:cNvPr id="3" name="Text 1"/>
          <p:cNvSpPr txBox="1"/>
          <p:nvPr/>
        </p:nvSpPr>
        <p:spPr>
          <a:xfrm>
            <a:off x="457200" y="1371600"/>
            <a:ext cx="8229600" cy="73152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Conv2D, MaxPool and Dense in float16, generated by HLS. Not downsized; workstation only.</a:t>
            </a:r>
            <a:endParaRPr lang="en-US" sz="1800" dirty="0"/>
          </a:p>
        </p:txBody>
      </p:sp>
      <p:sp>
        <p:nvSpPr>
          <p:cNvPr id="4" name="block image"/>
          <p:cNvSpPr/>
          <p:nvPr/>
        </p:nvSpPr>
        <p:spPr>
          <a:xfrm>
            <a:off x="457200" y="2240280"/>
            <a:ext cx="1851660" cy="960120"/>
          </a:xfrm>
          <a:prstGeom prst="roundRect">
            <a:avLst>
              <a:gd name="adj" fmla="val 5714"/>
            </a:avLst>
          </a:prstGeom>
          <a:solidFill>
            <a:srgbClr val="E1F0ED"/>
          </a:solidFill>
          <a:ln w="12700">
            <a:solidFill>
              <a:srgbClr val="008F7A"/>
            </a:solidFill>
            <a:prstDash val="solid"/>
          </a:ln>
        </p:spPr>
      </p:sp>
      <p:sp>
        <p:nvSpPr>
          <p:cNvPr id="5" name="Text 3"/>
          <p:cNvSpPr txBox="1"/>
          <p:nvPr/>
        </p:nvSpPr>
        <p:spPr>
          <a:xfrm>
            <a:off x="45720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image</a:t>
            </a:r>
            <a:endParaRPr lang="en-US" sz="1400" dirty="0"/>
          </a:p>
        </p:txBody>
      </p:sp>
      <p:sp>
        <p:nvSpPr>
          <p:cNvPr id="6" name="arrow"/>
          <p:cNvSpPr/>
          <p:nvPr/>
        </p:nvSpPr>
        <p:spPr>
          <a:xfrm>
            <a:off x="2336292" y="2720340"/>
            <a:ext cx="219456" cy="0"/>
          </a:xfrm>
          <a:prstGeom prst="line">
            <a:avLst/>
          </a:prstGeom>
          <a:noFill/>
          <a:ln w="25400">
            <a:solidFill>
              <a:srgbClr val="FF4D2E"/>
            </a:solidFill>
            <a:prstDash val="solid"/>
            <a:tailEnd type="triangle"/>
          </a:ln>
        </p:spPr>
      </p:sp>
      <p:sp>
        <p:nvSpPr>
          <p:cNvPr id="7" name="block Conv2D"/>
          <p:cNvSpPr/>
          <p:nvPr/>
        </p:nvSpPr>
        <p:spPr>
          <a:xfrm>
            <a:off x="2583180" y="2240280"/>
            <a:ext cx="1851660" cy="960120"/>
          </a:xfrm>
          <a:prstGeom prst="roundRect">
            <a:avLst>
              <a:gd name="adj" fmla="val 5714"/>
            </a:avLst>
          </a:prstGeom>
          <a:solidFill>
            <a:srgbClr val="E1F0ED"/>
          </a:solidFill>
          <a:ln w="12700">
            <a:solidFill>
              <a:srgbClr val="008F7A"/>
            </a:solidFill>
            <a:prstDash val="solid"/>
          </a:ln>
        </p:spPr>
      </p:sp>
      <p:sp>
        <p:nvSpPr>
          <p:cNvPr id="8" name="Text 6"/>
          <p:cNvSpPr txBox="1"/>
          <p:nvPr/>
        </p:nvSpPr>
        <p:spPr>
          <a:xfrm>
            <a:off x="258318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Conv2D</a:t>
            </a:r>
            <a:endParaRPr lang="en-US" sz="1400" dirty="0"/>
          </a:p>
        </p:txBody>
      </p:sp>
      <p:sp>
        <p:nvSpPr>
          <p:cNvPr id="9" name="arrow"/>
          <p:cNvSpPr/>
          <p:nvPr/>
        </p:nvSpPr>
        <p:spPr>
          <a:xfrm>
            <a:off x="4462272" y="2720340"/>
            <a:ext cx="219456" cy="0"/>
          </a:xfrm>
          <a:prstGeom prst="line">
            <a:avLst/>
          </a:prstGeom>
          <a:noFill/>
          <a:ln w="25400">
            <a:solidFill>
              <a:srgbClr val="FF4D2E"/>
            </a:solidFill>
            <a:prstDash val="solid"/>
            <a:tailEnd type="triangle"/>
          </a:ln>
        </p:spPr>
      </p:sp>
      <p:sp>
        <p:nvSpPr>
          <p:cNvPr id="10" name="block MaxPool"/>
          <p:cNvSpPr/>
          <p:nvPr/>
        </p:nvSpPr>
        <p:spPr>
          <a:xfrm>
            <a:off x="4709160" y="2240280"/>
            <a:ext cx="1851660" cy="960120"/>
          </a:xfrm>
          <a:prstGeom prst="roundRect">
            <a:avLst>
              <a:gd name="adj" fmla="val 5714"/>
            </a:avLst>
          </a:prstGeom>
          <a:solidFill>
            <a:srgbClr val="E1F0ED"/>
          </a:solidFill>
          <a:ln w="12700">
            <a:solidFill>
              <a:srgbClr val="008F7A"/>
            </a:solidFill>
            <a:prstDash val="solid"/>
          </a:ln>
        </p:spPr>
      </p:sp>
      <p:sp>
        <p:nvSpPr>
          <p:cNvPr id="11" name="Text 9"/>
          <p:cNvSpPr txBox="1"/>
          <p:nvPr/>
        </p:nvSpPr>
        <p:spPr>
          <a:xfrm>
            <a:off x="470916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MaxPool</a:t>
            </a:r>
            <a:endParaRPr lang="en-US" sz="1400" dirty="0"/>
          </a:p>
        </p:txBody>
      </p:sp>
      <p:sp>
        <p:nvSpPr>
          <p:cNvPr id="12" name="arrow"/>
          <p:cNvSpPr/>
          <p:nvPr/>
        </p:nvSpPr>
        <p:spPr>
          <a:xfrm>
            <a:off x="6588252" y="2720340"/>
            <a:ext cx="219456" cy="0"/>
          </a:xfrm>
          <a:prstGeom prst="line">
            <a:avLst/>
          </a:prstGeom>
          <a:noFill/>
          <a:ln w="25400">
            <a:solidFill>
              <a:srgbClr val="FF4D2E"/>
            </a:solidFill>
            <a:prstDash val="solid"/>
            <a:tailEnd type="triangle"/>
          </a:ln>
        </p:spPr>
      </p:sp>
      <p:sp>
        <p:nvSpPr>
          <p:cNvPr id="13" name="block Dense"/>
          <p:cNvSpPr/>
          <p:nvPr/>
        </p:nvSpPr>
        <p:spPr>
          <a:xfrm>
            <a:off x="6835140" y="2240280"/>
            <a:ext cx="1851660" cy="960120"/>
          </a:xfrm>
          <a:prstGeom prst="roundRect">
            <a:avLst>
              <a:gd name="adj" fmla="val 5714"/>
            </a:avLst>
          </a:prstGeom>
          <a:solidFill>
            <a:srgbClr val="E1F0ED"/>
          </a:solidFill>
          <a:ln w="12700">
            <a:solidFill>
              <a:srgbClr val="008F7A"/>
            </a:solidFill>
            <a:prstDash val="solid"/>
          </a:ln>
        </p:spPr>
      </p:sp>
      <p:sp>
        <p:nvSpPr>
          <p:cNvPr id="14" name="Text 12"/>
          <p:cNvSpPr txBox="1"/>
          <p:nvPr/>
        </p:nvSpPr>
        <p:spPr>
          <a:xfrm>
            <a:off x="6835140" y="2240280"/>
            <a:ext cx="1851660" cy="960120"/>
          </a:xfrm>
          <a:prstGeom prst="rect">
            <a:avLst/>
          </a:prstGeom>
          <a:noFill/>
          <a:ln/>
        </p:spPr>
        <p:txBody>
          <a:bodyPr wrap="square" lIns="25400" tIns="25400" rIns="25400" bIns="25400" rtlCol="0" anchor="ctr"/>
          <a:lstStyle/>
          <a:p>
            <a:pPr algn="ctr" indent="0" marL="0">
              <a:buNone/>
            </a:pPr>
            <a:r>
              <a:rPr lang="en-US" sz="1400" b="1" dirty="0">
                <a:solidFill>
                  <a:srgbClr val="12151C"/>
                </a:solidFill>
                <a:latin typeface="Arial" pitchFamily="34" charset="0"/>
                <a:ea typeface="Arial" pitchFamily="34" charset="-122"/>
                <a:cs typeface="Arial" pitchFamily="34" charset="-120"/>
              </a:rPr>
              <a:t>Dense</a:t>
            </a:r>
            <a:endParaRPr lang="en-US" sz="1400" dirty="0"/>
          </a:p>
          <a:p>
            <a:pPr algn="ctr" indent="0" marL="0">
              <a:buNone/>
            </a:pPr>
            <a:r>
              <a:rPr lang="en-US" sz="1400" b="1" dirty="0">
                <a:solidFill>
                  <a:srgbClr val="12151C"/>
                </a:solidFill>
                <a:latin typeface="Arial" pitchFamily="34" charset="0"/>
                <a:ea typeface="Arial" pitchFamily="34" charset="-122"/>
                <a:cs typeface="Arial" pitchFamily="34" charset="-120"/>
              </a:rPr>
              <a:t>float16</a:t>
            </a:r>
            <a:endParaRPr lang="en-US" sz="1400" dirty="0"/>
          </a:p>
        </p:txBody>
      </p:sp>
      <p:sp>
        <p:nvSpPr>
          <p:cNvPr id="15" name="Text 13"/>
          <p:cNvSpPr txBox="1"/>
          <p:nvPr/>
        </p:nvSpPr>
        <p:spPr>
          <a:xfrm>
            <a:off x="457200" y="3474720"/>
            <a:ext cx="8229600" cy="64008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Not re-verified here: no self-checking test in the repo.</a:t>
            </a:r>
            <a:endParaRPr lang="en-US" sz="1800" dirty="0"/>
          </a:p>
        </p:txBody>
      </p:sp>
      <p:sp>
        <p:nvSpPr>
          <p:cNvPr id="16" name="Text 14"/>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Fails timing at the slow corner (−5.18 ns).</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Here is cnn_fp16 as a finished layout</a:t>
            </a:r>
            <a:endParaRPr lang="en-US" sz="2800" dirty="0"/>
          </a:p>
        </p:txBody>
      </p:sp>
      <p:sp>
        <p:nvSpPr>
          <p:cNvPr id="3" name="image placeholder"/>
          <p:cNvSpPr/>
          <p:nvPr/>
        </p:nvSpPr>
        <p:spPr>
          <a:xfrm>
            <a:off x="457200" y="1371600"/>
            <a:ext cx="5120640" cy="3017520"/>
          </a:xfrm>
          <a:prstGeom prst="roundRect">
            <a:avLst>
              <a:gd name="adj" fmla="val 2424"/>
            </a:avLst>
          </a:prstGeom>
          <a:solidFill>
            <a:srgbClr val="FFFFFF"/>
          </a:solidFill>
          <a:ln w="9525">
            <a:solidFill>
              <a:srgbClr val="5C6573"/>
            </a:solidFill>
            <a:prstDash val="dash"/>
          </a:ln>
        </p:spPr>
      </p:sp>
      <p:sp>
        <p:nvSpPr>
          <p:cNvPr id="4" name="Text 2"/>
          <p:cNvSpPr txBox="1"/>
          <p:nvPr/>
        </p:nvSpPr>
        <p:spPr>
          <a:xfrm>
            <a:off x="457200" y="2560320"/>
            <a:ext cx="5120640" cy="274320"/>
          </a:xfrm>
          <a:prstGeom prst="rect">
            <a:avLst/>
          </a:prstGeom>
          <a:noFill/>
          <a:ln/>
        </p:spPr>
        <p:txBody>
          <a:bodyPr wrap="square" lIns="0" tIns="0" rIns="0" bIns="0" rtlCol="0" anchor="t"/>
          <a:lstStyle/>
          <a:p>
            <a:pPr algn="ctr" indent="0" marL="0">
              <a:buNone/>
            </a:pPr>
            <a:r>
              <a:rPr lang="en-US" sz="1400" b="1" dirty="0">
                <a:solidFill>
                  <a:srgbClr val="5C6573"/>
                </a:solidFill>
                <a:latin typeface="Arial" pitchFamily="34" charset="0"/>
                <a:ea typeface="Arial" pitchFamily="34" charset="-122"/>
                <a:cs typeface="Arial" pitchFamily="34" charset="-120"/>
              </a:rPr>
              <a:t>IMAGE PLACEHOLDER</a:t>
            </a:r>
            <a:endParaRPr lang="en-US" sz="1400" dirty="0"/>
          </a:p>
        </p:txBody>
      </p:sp>
      <p:sp>
        <p:nvSpPr>
          <p:cNvPr id="5" name="Text 3"/>
          <p:cNvSpPr txBox="1"/>
          <p:nvPr/>
        </p:nvSpPr>
        <p:spPr>
          <a:xfrm>
            <a:off x="548640" y="2880360"/>
            <a:ext cx="4937760" cy="457200"/>
          </a:xfrm>
          <a:prstGeom prst="rect">
            <a:avLst/>
          </a:prstGeom>
          <a:noFill/>
          <a:ln/>
        </p:spPr>
        <p:txBody>
          <a:bodyPr wrap="square" lIns="0" tIns="0" rIns="0" bIns="0" rtlCol="0" anchor="t"/>
          <a:lstStyle/>
          <a:p>
            <a:pPr algn="ctr" indent="0" marL="0">
              <a:buNone/>
            </a:pPr>
            <a:r>
              <a:rPr lang="en-US" sz="1200" dirty="0">
                <a:solidFill>
                  <a:srgbClr val="5C6573"/>
                </a:solidFill>
                <a:latin typeface="Arial" pitchFamily="34" charset="0"/>
                <a:ea typeface="Arial" pitchFamily="34" charset="-122"/>
                <a:cs typeface="Arial" pitchFamily="34" charset="-120"/>
              </a:rPr>
              <a:t>pending: build/results/cnn_fp16/layout.png</a:t>
            </a:r>
            <a:endParaRPr lang="en-US" sz="1200" dirty="0"/>
          </a:p>
        </p:txBody>
      </p:sp>
      <p:sp>
        <p:nvSpPr>
          <p:cNvPr id="6" name="Text 4"/>
          <p:cNvSpPr txBox="1"/>
          <p:nvPr/>
        </p:nvSpPr>
        <p:spPr>
          <a:xfrm>
            <a:off x="5852160" y="137160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531,505</a:t>
            </a:r>
            <a:endParaRPr lang="en-US" sz="2600" dirty="0"/>
          </a:p>
        </p:txBody>
      </p:sp>
      <p:sp>
        <p:nvSpPr>
          <p:cNvPr id="7" name="Text 5"/>
          <p:cNvSpPr txBox="1"/>
          <p:nvPr/>
        </p:nvSpPr>
        <p:spPr>
          <a:xfrm>
            <a:off x="5852160" y="182880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standard cells</a:t>
            </a:r>
            <a:endParaRPr lang="en-US" sz="1400" dirty="0"/>
          </a:p>
        </p:txBody>
      </p:sp>
      <p:sp>
        <p:nvSpPr>
          <p:cNvPr id="8" name="Text 6"/>
          <p:cNvSpPr txBox="1"/>
          <p:nvPr/>
        </p:nvSpPr>
        <p:spPr>
          <a:xfrm>
            <a:off x="5852160" y="214884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2800 × 1760 µm</a:t>
            </a:r>
            <a:endParaRPr lang="en-US" sz="2600" dirty="0"/>
          </a:p>
        </p:txBody>
      </p:sp>
      <p:sp>
        <p:nvSpPr>
          <p:cNvPr id="9" name="Text 7"/>
          <p:cNvSpPr txBox="1"/>
          <p:nvPr/>
        </p:nvSpPr>
        <p:spPr>
          <a:xfrm>
            <a:off x="5852160" y="260604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die size</a:t>
            </a:r>
            <a:endParaRPr lang="en-US" sz="1400" dirty="0"/>
          </a:p>
        </p:txBody>
      </p:sp>
      <p:sp>
        <p:nvSpPr>
          <p:cNvPr id="10" name="Text 8"/>
          <p:cNvSpPr txBox="1"/>
          <p:nvPr/>
        </p:nvSpPr>
        <p:spPr>
          <a:xfrm>
            <a:off x="5852160" y="2926080"/>
            <a:ext cx="2834640" cy="457200"/>
          </a:xfrm>
          <a:prstGeom prst="rect">
            <a:avLst/>
          </a:prstGeom>
          <a:noFill/>
          <a:ln/>
        </p:spPr>
        <p:txBody>
          <a:bodyPr wrap="square" lIns="0" tIns="0" rIns="0" bIns="0" rtlCol="0" anchor="ctr">
            <a:normAutofit/>
          </a:bodyPr>
          <a:lstStyle/>
          <a:p>
            <a:pPr indent="0" marL="0">
              <a:buNone/>
            </a:pPr>
            <a:r>
              <a:rPr lang="en-US" sz="2600" b="1" dirty="0">
                <a:solidFill>
                  <a:srgbClr val="12151C"/>
                </a:solidFill>
                <a:latin typeface="Arial" pitchFamily="34" charset="0"/>
                <a:ea typeface="Arial" pitchFamily="34" charset="-122"/>
                <a:cs typeface="Arial" pitchFamily="34" charset="-120"/>
              </a:rPr>
              <a:t>~3.5 h*</a:t>
            </a:r>
            <a:endParaRPr lang="en-US" sz="2600" dirty="0"/>
          </a:p>
        </p:txBody>
      </p:sp>
      <p:sp>
        <p:nvSpPr>
          <p:cNvPr id="11" name="Text 9"/>
          <p:cNvSpPr txBox="1"/>
          <p:nvPr/>
        </p:nvSpPr>
        <p:spPr>
          <a:xfrm>
            <a:off x="5852160" y="338328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build time (workstation)</a:t>
            </a:r>
            <a:endParaRPr lang="en-US" sz="1400" dirty="0"/>
          </a:p>
        </p:txBody>
      </p:sp>
      <p:sp>
        <p:nvSpPr>
          <p:cNvPr id="12" name="Text 10"/>
          <p:cNvSpPr txBox="1"/>
          <p:nvPr/>
        </p:nvSpPr>
        <p:spPr>
          <a:xfrm>
            <a:off x="5852160" y="3703320"/>
            <a:ext cx="2834640" cy="457200"/>
          </a:xfrm>
          <a:prstGeom prst="rect">
            <a:avLst/>
          </a:prstGeom>
          <a:noFill/>
          <a:ln/>
        </p:spPr>
        <p:txBody>
          <a:bodyPr wrap="square" lIns="0" tIns="0" rIns="0" bIns="0" rtlCol="0" anchor="ctr">
            <a:normAutofit/>
          </a:bodyPr>
          <a:lstStyle/>
          <a:p>
            <a:pPr indent="0" marL="0">
              <a:buNone/>
            </a:pPr>
            <a:r>
              <a:rPr lang="en-US" sz="2600" b="1" dirty="0">
                <a:solidFill>
                  <a:srgbClr val="B83A22"/>
                </a:solidFill>
                <a:latin typeface="Arial" pitchFamily="34" charset="0"/>
                <a:ea typeface="Arial" pitchFamily="34" charset="-122"/>
                <a:cs typeface="Arial" pitchFamily="34" charset="-120"/>
              </a:rPr>
              <a:t>−5.18 ns</a:t>
            </a:r>
            <a:endParaRPr lang="en-US" sz="2600" dirty="0"/>
          </a:p>
        </p:txBody>
      </p:sp>
      <p:sp>
        <p:nvSpPr>
          <p:cNvPr id="13" name="Text 11"/>
          <p:cNvSpPr txBox="1"/>
          <p:nvPr/>
        </p:nvSpPr>
        <p:spPr>
          <a:xfrm>
            <a:off x="5852160" y="4160520"/>
            <a:ext cx="2834640" cy="27432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worst slack (setup)</a:t>
            </a:r>
            <a:endParaRPr lang="en-US" sz="1400" dirty="0"/>
          </a:p>
        </p:txBody>
      </p:sp>
      <p:sp>
        <p:nvSpPr>
          <p:cNvPr id="14" name="Text 12"/>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Workstation only (*docs/RESULTS.md); fails timing at the slow corner. Not fabricated.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640080" y="914400"/>
            <a:ext cx="768096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Lab block 2</a:t>
            </a:r>
            <a:endParaRPr lang="en-US" sz="3600" dirty="0"/>
          </a:p>
        </p:txBody>
      </p:sp>
      <p:sp>
        <p:nvSpPr>
          <p:cNvPr id="3" name="Text 1"/>
          <p:cNvSpPr txBox="1"/>
          <p:nvPr/>
        </p:nvSpPr>
        <p:spPr>
          <a:xfrm>
            <a:off x="640080" y="2148840"/>
            <a:ext cx="7498080" cy="822960"/>
          </a:xfrm>
          <a:prstGeom prst="rect">
            <a:avLst/>
          </a:prstGeom>
          <a:noFill/>
          <a:ln/>
        </p:spPr>
        <p:txBody>
          <a:bodyPr wrap="square" lIns="0" tIns="0" rIns="0" bIns="0" rtlCol="0" anchor="t"/>
          <a:lstStyle/>
          <a:p>
            <a:pPr indent="0" marL="0">
              <a:buNone/>
            </a:pPr>
            <a:r>
              <a:rPr lang="en-US" sz="2000" dirty="0">
                <a:solidFill>
                  <a:srgbClr val="D6DCE6"/>
                </a:solidFill>
                <a:latin typeface="Arial" pitchFamily="34" charset="0"/>
                <a:ea typeface="Arial" pitchFamily="34" charset="-122"/>
                <a:cs typeface="Arial" pitchFamily="34" charset="-120"/>
              </a:rPr>
              <a:t>Labs 4 to 6, then a knob experiment. Still uart: for example 32 clock buffers in lab 4.</a:t>
            </a:r>
            <a:endParaRPr lang="en-US" sz="2000" dirty="0"/>
          </a:p>
        </p:txBody>
      </p:sp>
      <p:sp>
        <p:nvSpPr>
          <p:cNvPr id="4" name="progress A"/>
          <p:cNvSpPr/>
          <p:nvPr/>
        </p:nvSpPr>
        <p:spPr>
          <a:xfrm>
            <a:off x="640080" y="3840480"/>
            <a:ext cx="484632" cy="201168"/>
          </a:xfrm>
          <a:prstGeom prst="rect">
            <a:avLst/>
          </a:prstGeom>
          <a:solidFill>
            <a:srgbClr val="2C3E5C"/>
          </a:solidFill>
          <a:ln w="12700">
            <a:solidFill>
              <a:srgbClr val="2C3E5C"/>
            </a:solidFill>
            <a:prstDash val="solid"/>
          </a:ln>
        </p:spPr>
      </p:sp>
      <p:sp>
        <p:nvSpPr>
          <p:cNvPr id="5" name="progress B"/>
          <p:cNvSpPr/>
          <p:nvPr/>
        </p:nvSpPr>
        <p:spPr>
          <a:xfrm>
            <a:off x="1152144" y="3840480"/>
            <a:ext cx="1508760" cy="201168"/>
          </a:xfrm>
          <a:prstGeom prst="rect">
            <a:avLst/>
          </a:prstGeom>
          <a:solidFill>
            <a:srgbClr val="2C3E5C"/>
          </a:solidFill>
          <a:ln w="12700">
            <a:solidFill>
              <a:srgbClr val="2C3E5C"/>
            </a:solidFill>
            <a:prstDash val="solid"/>
          </a:ln>
        </p:spPr>
      </p:sp>
      <p:sp>
        <p:nvSpPr>
          <p:cNvPr id="6" name="progress C"/>
          <p:cNvSpPr/>
          <p:nvPr/>
        </p:nvSpPr>
        <p:spPr>
          <a:xfrm>
            <a:off x="2688336" y="3840480"/>
            <a:ext cx="996696" cy="201168"/>
          </a:xfrm>
          <a:prstGeom prst="rect">
            <a:avLst/>
          </a:prstGeom>
          <a:solidFill>
            <a:srgbClr val="2C3E5C"/>
          </a:solidFill>
          <a:ln w="12700">
            <a:solidFill>
              <a:srgbClr val="2C3E5C"/>
            </a:solidFill>
            <a:prstDash val="solid"/>
          </a:ln>
        </p:spPr>
      </p:sp>
      <p:sp>
        <p:nvSpPr>
          <p:cNvPr id="7" name="progress D"/>
          <p:cNvSpPr/>
          <p:nvPr/>
        </p:nvSpPr>
        <p:spPr>
          <a:xfrm>
            <a:off x="3712464" y="3840480"/>
            <a:ext cx="1252728" cy="201168"/>
          </a:xfrm>
          <a:prstGeom prst="rect">
            <a:avLst/>
          </a:prstGeom>
          <a:solidFill>
            <a:srgbClr val="2C3E5C"/>
          </a:solidFill>
          <a:ln w="12700">
            <a:solidFill>
              <a:srgbClr val="2C3E5C"/>
            </a:solidFill>
            <a:prstDash val="solid"/>
          </a:ln>
        </p:spPr>
      </p:sp>
      <p:sp>
        <p:nvSpPr>
          <p:cNvPr id="8" name="progress E"/>
          <p:cNvSpPr/>
          <p:nvPr/>
        </p:nvSpPr>
        <p:spPr>
          <a:xfrm>
            <a:off x="4992624" y="3840480"/>
            <a:ext cx="996696" cy="201168"/>
          </a:xfrm>
          <a:prstGeom prst="rect">
            <a:avLst/>
          </a:prstGeom>
          <a:solidFill>
            <a:srgbClr val="FF4D2E"/>
          </a:solidFill>
          <a:ln w="12700">
            <a:solidFill>
              <a:srgbClr val="FF4D2E"/>
            </a:solidFill>
            <a:prstDash val="solid"/>
          </a:ln>
        </p:spPr>
      </p:sp>
      <p:sp>
        <p:nvSpPr>
          <p:cNvPr id="9" name="progress F"/>
          <p:cNvSpPr/>
          <p:nvPr/>
        </p:nvSpPr>
        <p:spPr>
          <a:xfrm>
            <a:off x="6016752" y="3840480"/>
            <a:ext cx="996696" cy="201168"/>
          </a:xfrm>
          <a:prstGeom prst="rect">
            <a:avLst/>
          </a:prstGeom>
          <a:solidFill>
            <a:srgbClr val="2C3E5C"/>
          </a:solidFill>
          <a:ln w="12700">
            <a:solidFill>
              <a:srgbClr val="2C3E5C"/>
            </a:solidFill>
            <a:prstDash val="solid"/>
          </a:ln>
        </p:spPr>
      </p:sp>
      <p:sp>
        <p:nvSpPr>
          <p:cNvPr id="10" name="progress G"/>
          <p:cNvSpPr/>
          <p:nvPr/>
        </p:nvSpPr>
        <p:spPr>
          <a:xfrm>
            <a:off x="7040880" y="3840480"/>
            <a:ext cx="740664" cy="201168"/>
          </a:xfrm>
          <a:prstGeom prst="rect">
            <a:avLst/>
          </a:prstGeom>
          <a:solidFill>
            <a:srgbClr val="2C3E5C"/>
          </a:solidFill>
          <a:ln w="12700">
            <a:solidFill>
              <a:srgbClr val="2C3E5C"/>
            </a:solidFill>
            <a:prstDash val="solid"/>
          </a:ln>
        </p:spPr>
      </p:sp>
      <p:sp>
        <p:nvSpPr>
          <p:cNvPr id="11" name="progress H"/>
          <p:cNvSpPr/>
          <p:nvPr/>
        </p:nvSpPr>
        <p:spPr>
          <a:xfrm>
            <a:off x="7808976" y="3840480"/>
            <a:ext cx="484632" cy="201168"/>
          </a:xfrm>
          <a:prstGeom prst="rect">
            <a:avLst/>
          </a:prstGeom>
          <a:solidFill>
            <a:srgbClr val="2C3E5C"/>
          </a:solidFill>
          <a:ln w="12700">
            <a:solidFill>
              <a:srgbClr val="2C3E5C"/>
            </a:solidFill>
            <a:prstDash val="solid"/>
          </a:ln>
        </p:spPr>
      </p:sp>
      <p:sp>
        <p:nvSpPr>
          <p:cNvPr id="12" name="Text 10"/>
          <p:cNvSpPr txBox="1"/>
          <p:nvPr/>
        </p:nvSpPr>
        <p:spPr>
          <a:xfrm>
            <a:off x="640080" y="4114800"/>
            <a:ext cx="768096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Minutes 85–105 of 150</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Lab 4: how many buffers does a clock tree need?</a:t>
            </a:r>
            <a:endParaRPr lang="en-US" sz="2800" dirty="0"/>
          </a:p>
        </p:txBody>
      </p:sp>
      <p:sp>
        <p:nvSpPr>
          <p:cNvPr id="3" name="pill PREDICT"/>
          <p:cNvSpPr/>
          <p:nvPr/>
        </p:nvSpPr>
        <p:spPr>
          <a:xfrm>
            <a:off x="457200" y="1271016"/>
            <a:ext cx="105156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27101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PREDICT</a:t>
            </a:r>
            <a:endParaRPr lang="en-US" sz="1200" dirty="0"/>
          </a:p>
        </p:txBody>
      </p:sp>
      <p:sp>
        <p:nvSpPr>
          <p:cNvPr id="5" name="Text 3"/>
          <p:cNvSpPr txBox="1"/>
          <p:nvPr/>
        </p:nvSpPr>
        <p:spPr>
          <a:xfrm>
            <a:off x="1645920" y="123444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How many clock buffers for about 100 flip-flops?</a:t>
            </a:r>
            <a:endParaRPr lang="en-US" sz="1800" dirty="0"/>
          </a:p>
        </p:txBody>
      </p:sp>
      <p:sp>
        <p:nvSpPr>
          <p:cNvPr id="6" name="pill RUN"/>
          <p:cNvSpPr/>
          <p:nvPr/>
        </p:nvSpPr>
        <p:spPr>
          <a:xfrm>
            <a:off x="457200" y="1956816"/>
            <a:ext cx="1051560" cy="310896"/>
          </a:xfrm>
          <a:prstGeom prst="roundRect">
            <a:avLst>
              <a:gd name="adj" fmla="val 50000"/>
            </a:avLst>
          </a:prstGeom>
          <a:solidFill>
            <a:srgbClr val="FF4D2E"/>
          </a:solidFill>
          <a:ln w="6350">
            <a:solidFill>
              <a:srgbClr val="FF4D2E"/>
            </a:solidFill>
            <a:prstDash val="solid"/>
          </a:ln>
        </p:spPr>
      </p:sp>
      <p:sp>
        <p:nvSpPr>
          <p:cNvPr id="7" name="Text 5"/>
          <p:cNvSpPr txBox="1"/>
          <p:nvPr/>
        </p:nvSpPr>
        <p:spPr>
          <a:xfrm>
            <a:off x="457200" y="1956816"/>
            <a:ext cx="10515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RUN</a:t>
            </a:r>
            <a:endParaRPr lang="en-US" sz="1200" dirty="0"/>
          </a:p>
        </p:txBody>
      </p:sp>
      <p:sp>
        <p:nvSpPr>
          <p:cNvPr id="8" name="pill LOOK AT"/>
          <p:cNvSpPr/>
          <p:nvPr/>
        </p:nvSpPr>
        <p:spPr>
          <a:xfrm>
            <a:off x="457200" y="2825496"/>
            <a:ext cx="1051560" cy="310896"/>
          </a:xfrm>
          <a:prstGeom prst="roundRect">
            <a:avLst>
              <a:gd name="adj" fmla="val 50000"/>
            </a:avLst>
          </a:prstGeom>
          <a:solidFill>
            <a:srgbClr val="E1F0ED"/>
          </a:solidFill>
          <a:ln w="6350">
            <a:solidFill>
              <a:srgbClr val="E1F0ED"/>
            </a:solidFill>
            <a:prstDash val="solid"/>
          </a:ln>
        </p:spPr>
      </p:sp>
      <p:sp>
        <p:nvSpPr>
          <p:cNvPr id="9" name="Text 7"/>
          <p:cNvSpPr txBox="1"/>
          <p:nvPr/>
        </p:nvSpPr>
        <p:spPr>
          <a:xfrm>
            <a:off x="457200" y="282549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LOOK AT</a:t>
            </a:r>
            <a:endParaRPr lang="en-US" sz="1200" dirty="0"/>
          </a:p>
        </p:txBody>
      </p:sp>
      <p:sp>
        <p:nvSpPr>
          <p:cNvPr id="10" name="Text 8"/>
          <p:cNvSpPr txBox="1"/>
          <p:nvPr/>
        </p:nvSpPr>
        <p:spPr>
          <a:xfrm>
            <a:off x="1645920" y="2788920"/>
            <a:ext cx="4069080" cy="5943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Clock buffers, slack, skew.</a:t>
            </a:r>
            <a:endParaRPr lang="en-US" sz="1800" dirty="0"/>
          </a:p>
        </p:txBody>
      </p:sp>
      <p:sp>
        <p:nvSpPr>
          <p:cNvPr id="11" name="pill REFERENCE"/>
          <p:cNvSpPr/>
          <p:nvPr/>
        </p:nvSpPr>
        <p:spPr>
          <a:xfrm>
            <a:off x="457200" y="3465576"/>
            <a:ext cx="1051560" cy="310896"/>
          </a:xfrm>
          <a:prstGeom prst="roundRect">
            <a:avLst>
              <a:gd name="adj" fmla="val 50000"/>
            </a:avLst>
          </a:prstGeom>
          <a:solidFill>
            <a:srgbClr val="E1F0ED"/>
          </a:solidFill>
          <a:ln w="6350">
            <a:solidFill>
              <a:srgbClr val="E1F0ED"/>
            </a:solidFill>
            <a:prstDash val="solid"/>
          </a:ln>
        </p:spPr>
      </p:sp>
      <p:sp>
        <p:nvSpPr>
          <p:cNvPr id="12" name="Text 10"/>
          <p:cNvSpPr txBox="1"/>
          <p:nvPr/>
        </p:nvSpPr>
        <p:spPr>
          <a:xfrm>
            <a:off x="457200" y="346557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REFERENCE</a:t>
            </a:r>
            <a:endParaRPr lang="en-US" sz="1200" dirty="0"/>
          </a:p>
        </p:txBody>
      </p:sp>
      <p:sp>
        <p:nvSpPr>
          <p:cNvPr id="13" name="Text 11"/>
          <p:cNvSpPr txBox="1"/>
          <p:nvPr/>
        </p:nvSpPr>
        <p:spPr>
          <a:xfrm>
            <a:off x="1645920" y="342900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32 buffers, skew 0.259 ns, hold +0.309 ns.</a:t>
            </a:r>
            <a:endParaRPr lang="en-US" sz="1800" dirty="0"/>
          </a:p>
        </p:txBody>
      </p:sp>
      <p:sp>
        <p:nvSpPr>
          <p:cNvPr id="14" name="command"/>
          <p:cNvSpPr/>
          <p:nvPr/>
        </p:nvSpPr>
        <p:spPr>
          <a:xfrm>
            <a:off x="1645920" y="1920240"/>
            <a:ext cx="4069080" cy="777240"/>
          </a:xfrm>
          <a:prstGeom prst="roundRect">
            <a:avLst>
              <a:gd name="adj" fmla="val 7059"/>
            </a:avLst>
          </a:prstGeom>
          <a:solidFill>
            <a:srgbClr val="071A36"/>
          </a:solidFill>
          <a:ln w="12700">
            <a:solidFill>
              <a:srgbClr val="071A36"/>
            </a:solidFill>
            <a:prstDash val="solid"/>
          </a:ln>
        </p:spPr>
      </p:sp>
      <p:sp>
        <p:nvSpPr>
          <p:cNvPr id="15" name="Text 13"/>
          <p:cNvSpPr txBox="1"/>
          <p:nvPr/>
        </p:nvSpPr>
        <p:spPr>
          <a:xfrm>
            <a:off x="1755648" y="1920240"/>
            <a:ext cx="3886200" cy="77724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lab N=4</a:t>
            </a:r>
            <a:endParaRPr lang="en-US" sz="1800" dirty="0"/>
          </a:p>
          <a:p>
            <a:pPr indent="0" marL="0">
              <a:buNone/>
            </a:pPr>
            <a:r>
              <a:rPr lang="en-US" sz="1800" b="1" dirty="0">
                <a:solidFill>
                  <a:srgbClr val="FFFFFF"/>
                </a:solidFill>
                <a:latin typeface="Courier New" pitchFamily="34" charset="0"/>
                <a:ea typeface="Courier New" pitchFamily="34" charset="-122"/>
                <a:cs typeface="Courier New" pitchFamily="34" charset="-120"/>
              </a:rPr>
              <a:t>make lab-check N=4</a:t>
            </a:r>
            <a:endParaRPr lang="en-US" sz="1800" dirty="0"/>
          </a:p>
        </p:txBody>
      </p:sp>
      <p:sp>
        <p:nvSpPr>
          <p:cNvPr id="16" name="Shape 14"/>
          <p:cNvSpPr/>
          <p:nvPr/>
        </p:nvSpPr>
        <p:spPr>
          <a:xfrm>
            <a:off x="5897880" y="1234440"/>
            <a:ext cx="2788920" cy="2788920"/>
          </a:xfrm>
          <a:prstGeom prst="rect">
            <a:avLst/>
          </a:prstGeom>
          <a:solidFill>
            <a:srgbClr val="FFFFFF"/>
          </a:solidFill>
          <a:ln w="9525">
            <a:solidFill>
              <a:srgbClr val="D5D9DC"/>
            </a:solidFill>
            <a:prstDash val="solid"/>
          </a:ln>
        </p:spPr>
      </p:sp>
      <p:pic>
        <p:nvPicPr>
          <p:cNvPr id="17" name="Image 0" descr="Reference picture of lab 4 (uart)">    </p:cNvPr>
          <p:cNvPicPr>
            <a:picLocks noChangeAspect="1"/>
          </p:cNvPicPr>
          <p:nvPr/>
        </p:nvPicPr>
        <p:blipFill>
          <a:blip r:embed="rId1"/>
          <a:stretch>
            <a:fillRect/>
          </a:stretch>
        </p:blipFill>
        <p:spPr>
          <a:xfrm>
            <a:off x="5943600" y="1280160"/>
            <a:ext cx="2697480" cy="2697480"/>
          </a:xfrm>
          <a:prstGeom prst="rect">
            <a:avLst/>
          </a:prstGeom>
        </p:spPr>
      </p:pic>
      <p:sp>
        <p:nvSpPr>
          <p:cNvPr id="18" name="Text 15"/>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600" b="1" dirty="0">
                <a:solidFill>
                  <a:srgbClr val="12151C"/>
                </a:solidFill>
                <a:latin typeface="Arial" pitchFamily="34" charset="0"/>
                <a:ea typeface="Arial" pitchFamily="34" charset="-122"/>
                <a:cs typeface="Arial" pitchFamily="34" charset="-120"/>
              </a:rPr>
              <a:t>Labs use uart (2,026 cells, whole flow about 2 min): numbers differ from cnn_lite.</a:t>
            </a:r>
            <a:endParaRPr lang="en-US" sz="1600" dirty="0"/>
          </a:p>
        </p:txBody>
      </p:sp>
      <p:sp>
        <p:nvSpPr>
          <p:cNvPr id="19" name="Text 16"/>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Run on this Mac's Linux VM (2 CPUs, 8 GB). Codespaces and Colab: not verified.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Lab 5: is the routed wire longer than the estimate?</a:t>
            </a:r>
            <a:endParaRPr lang="en-US" sz="2800" dirty="0"/>
          </a:p>
        </p:txBody>
      </p:sp>
      <p:sp>
        <p:nvSpPr>
          <p:cNvPr id="3" name="pill PREDICT"/>
          <p:cNvSpPr/>
          <p:nvPr/>
        </p:nvSpPr>
        <p:spPr>
          <a:xfrm>
            <a:off x="457200" y="1271016"/>
            <a:ext cx="105156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27101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PREDICT</a:t>
            </a:r>
            <a:endParaRPr lang="en-US" sz="1200" dirty="0"/>
          </a:p>
        </p:txBody>
      </p:sp>
      <p:sp>
        <p:nvSpPr>
          <p:cNvPr id="5" name="Text 3"/>
          <p:cNvSpPr txBox="1"/>
          <p:nvPr/>
        </p:nvSpPr>
        <p:spPr>
          <a:xfrm>
            <a:off x="1645920" y="123444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Routed wire versus lab 3's estimate: shorter, equal, longer?</a:t>
            </a:r>
            <a:endParaRPr lang="en-US" sz="1800" dirty="0"/>
          </a:p>
        </p:txBody>
      </p:sp>
      <p:sp>
        <p:nvSpPr>
          <p:cNvPr id="6" name="pill RUN"/>
          <p:cNvSpPr/>
          <p:nvPr/>
        </p:nvSpPr>
        <p:spPr>
          <a:xfrm>
            <a:off x="457200" y="1956816"/>
            <a:ext cx="1051560" cy="310896"/>
          </a:xfrm>
          <a:prstGeom prst="roundRect">
            <a:avLst>
              <a:gd name="adj" fmla="val 50000"/>
            </a:avLst>
          </a:prstGeom>
          <a:solidFill>
            <a:srgbClr val="FF4D2E"/>
          </a:solidFill>
          <a:ln w="6350">
            <a:solidFill>
              <a:srgbClr val="FF4D2E"/>
            </a:solidFill>
            <a:prstDash val="solid"/>
          </a:ln>
        </p:spPr>
      </p:sp>
      <p:sp>
        <p:nvSpPr>
          <p:cNvPr id="7" name="Text 5"/>
          <p:cNvSpPr txBox="1"/>
          <p:nvPr/>
        </p:nvSpPr>
        <p:spPr>
          <a:xfrm>
            <a:off x="457200" y="1956816"/>
            <a:ext cx="10515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RUN</a:t>
            </a:r>
            <a:endParaRPr lang="en-US" sz="1200" dirty="0"/>
          </a:p>
        </p:txBody>
      </p:sp>
      <p:sp>
        <p:nvSpPr>
          <p:cNvPr id="8" name="pill LOOK AT"/>
          <p:cNvSpPr/>
          <p:nvPr/>
        </p:nvSpPr>
        <p:spPr>
          <a:xfrm>
            <a:off x="457200" y="2825496"/>
            <a:ext cx="1051560" cy="310896"/>
          </a:xfrm>
          <a:prstGeom prst="roundRect">
            <a:avLst>
              <a:gd name="adj" fmla="val 50000"/>
            </a:avLst>
          </a:prstGeom>
          <a:solidFill>
            <a:srgbClr val="E1F0ED"/>
          </a:solidFill>
          <a:ln w="6350">
            <a:solidFill>
              <a:srgbClr val="E1F0ED"/>
            </a:solidFill>
            <a:prstDash val="solid"/>
          </a:ln>
        </p:spPr>
      </p:sp>
      <p:sp>
        <p:nvSpPr>
          <p:cNvPr id="9" name="Text 7"/>
          <p:cNvSpPr txBox="1"/>
          <p:nvPr/>
        </p:nvSpPr>
        <p:spPr>
          <a:xfrm>
            <a:off x="457200" y="282549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LOOK AT</a:t>
            </a:r>
            <a:endParaRPr lang="en-US" sz="1200" dirty="0"/>
          </a:p>
        </p:txBody>
      </p:sp>
      <p:sp>
        <p:nvSpPr>
          <p:cNvPr id="10" name="Text 8"/>
          <p:cNvSpPr txBox="1"/>
          <p:nvPr/>
        </p:nvSpPr>
        <p:spPr>
          <a:xfrm>
            <a:off x="1645920" y="2788920"/>
            <a:ext cx="4069080" cy="5943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Routed wirelength, violations.</a:t>
            </a:r>
            <a:endParaRPr lang="en-US" sz="1800" dirty="0"/>
          </a:p>
        </p:txBody>
      </p:sp>
      <p:sp>
        <p:nvSpPr>
          <p:cNvPr id="11" name="pill REFERENCE"/>
          <p:cNvSpPr/>
          <p:nvPr/>
        </p:nvSpPr>
        <p:spPr>
          <a:xfrm>
            <a:off x="457200" y="3465576"/>
            <a:ext cx="1051560" cy="310896"/>
          </a:xfrm>
          <a:prstGeom prst="roundRect">
            <a:avLst>
              <a:gd name="adj" fmla="val 50000"/>
            </a:avLst>
          </a:prstGeom>
          <a:solidFill>
            <a:srgbClr val="E1F0ED"/>
          </a:solidFill>
          <a:ln w="6350">
            <a:solidFill>
              <a:srgbClr val="E1F0ED"/>
            </a:solidFill>
            <a:prstDash val="solid"/>
          </a:ln>
        </p:spPr>
      </p:sp>
      <p:sp>
        <p:nvSpPr>
          <p:cNvPr id="12" name="Text 10"/>
          <p:cNvSpPr txBox="1"/>
          <p:nvPr/>
        </p:nvSpPr>
        <p:spPr>
          <a:xfrm>
            <a:off x="457200" y="346557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REFERENCE</a:t>
            </a:r>
            <a:endParaRPr lang="en-US" sz="1200" dirty="0"/>
          </a:p>
        </p:txBody>
      </p:sp>
      <p:sp>
        <p:nvSpPr>
          <p:cNvPr id="13" name="Text 11"/>
          <p:cNvSpPr txBox="1"/>
          <p:nvPr/>
        </p:nvSpPr>
        <p:spPr>
          <a:xfrm>
            <a:off x="1645920" y="342900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18,764 µm routed; 0 routing, 0 antenna violations.</a:t>
            </a:r>
            <a:endParaRPr lang="en-US" sz="1800" dirty="0"/>
          </a:p>
        </p:txBody>
      </p:sp>
      <p:sp>
        <p:nvSpPr>
          <p:cNvPr id="14" name="command"/>
          <p:cNvSpPr/>
          <p:nvPr/>
        </p:nvSpPr>
        <p:spPr>
          <a:xfrm>
            <a:off x="1645920" y="1920240"/>
            <a:ext cx="4069080" cy="777240"/>
          </a:xfrm>
          <a:prstGeom prst="roundRect">
            <a:avLst>
              <a:gd name="adj" fmla="val 7059"/>
            </a:avLst>
          </a:prstGeom>
          <a:solidFill>
            <a:srgbClr val="071A36"/>
          </a:solidFill>
          <a:ln w="12700">
            <a:solidFill>
              <a:srgbClr val="071A36"/>
            </a:solidFill>
            <a:prstDash val="solid"/>
          </a:ln>
        </p:spPr>
      </p:sp>
      <p:sp>
        <p:nvSpPr>
          <p:cNvPr id="15" name="Text 13"/>
          <p:cNvSpPr txBox="1"/>
          <p:nvPr/>
        </p:nvSpPr>
        <p:spPr>
          <a:xfrm>
            <a:off x="1755648" y="1920240"/>
            <a:ext cx="3886200" cy="77724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lab N=5</a:t>
            </a:r>
            <a:endParaRPr lang="en-US" sz="1800" dirty="0"/>
          </a:p>
          <a:p>
            <a:pPr indent="0" marL="0">
              <a:buNone/>
            </a:pPr>
            <a:r>
              <a:rPr lang="en-US" sz="1800" b="1" dirty="0">
                <a:solidFill>
                  <a:srgbClr val="FFFFFF"/>
                </a:solidFill>
                <a:latin typeface="Courier New" pitchFamily="34" charset="0"/>
                <a:ea typeface="Courier New" pitchFamily="34" charset="-122"/>
                <a:cs typeface="Courier New" pitchFamily="34" charset="-120"/>
              </a:rPr>
              <a:t>make lab-check N=5</a:t>
            </a:r>
            <a:endParaRPr lang="en-US" sz="1800" dirty="0"/>
          </a:p>
        </p:txBody>
      </p:sp>
      <p:sp>
        <p:nvSpPr>
          <p:cNvPr id="16" name="Shape 14"/>
          <p:cNvSpPr/>
          <p:nvPr/>
        </p:nvSpPr>
        <p:spPr>
          <a:xfrm>
            <a:off x="5897880" y="1234440"/>
            <a:ext cx="2788920" cy="2788920"/>
          </a:xfrm>
          <a:prstGeom prst="rect">
            <a:avLst/>
          </a:prstGeom>
          <a:solidFill>
            <a:srgbClr val="FFFFFF"/>
          </a:solidFill>
          <a:ln w="9525">
            <a:solidFill>
              <a:srgbClr val="D5D9DC"/>
            </a:solidFill>
            <a:prstDash val="solid"/>
          </a:ln>
        </p:spPr>
      </p:sp>
      <p:pic>
        <p:nvPicPr>
          <p:cNvPr id="17" name="Image 0" descr="Reference picture of lab 5 (uart)">    </p:cNvPr>
          <p:cNvPicPr>
            <a:picLocks noChangeAspect="1"/>
          </p:cNvPicPr>
          <p:nvPr/>
        </p:nvPicPr>
        <p:blipFill>
          <a:blip r:embed="rId1"/>
          <a:stretch>
            <a:fillRect/>
          </a:stretch>
        </p:blipFill>
        <p:spPr>
          <a:xfrm>
            <a:off x="5943600" y="1280160"/>
            <a:ext cx="2697480" cy="2697480"/>
          </a:xfrm>
          <a:prstGeom prst="rect">
            <a:avLst/>
          </a:prstGeom>
        </p:spPr>
      </p:pic>
      <p:sp>
        <p:nvSpPr>
          <p:cNvPr id="18" name="Text 15"/>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600" b="1" dirty="0">
                <a:solidFill>
                  <a:srgbClr val="12151C"/>
                </a:solidFill>
                <a:latin typeface="Arial" pitchFamily="34" charset="0"/>
                <a:ea typeface="Arial" pitchFamily="34" charset="-122"/>
                <a:cs typeface="Arial" pitchFamily="34" charset="-120"/>
              </a:rPr>
              <a:t>Labs use uart (2,026 cells, whole flow about 2 min): numbers differ from cnn_lite.</a:t>
            </a:r>
            <a:endParaRPr lang="en-US" sz="1600" dirty="0"/>
          </a:p>
        </p:txBody>
      </p:sp>
      <p:sp>
        <p:nvSpPr>
          <p:cNvPr id="19" name="Text 16"/>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Run on this Mac's Linux VM (2 CPUs, 8 GB). Codespaces and Colab: not verified.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Lab 6: which signoff check fails first?</a:t>
            </a:r>
            <a:endParaRPr lang="en-US" sz="2800" dirty="0"/>
          </a:p>
        </p:txBody>
      </p:sp>
      <p:sp>
        <p:nvSpPr>
          <p:cNvPr id="3" name="pill PREDICT"/>
          <p:cNvSpPr/>
          <p:nvPr/>
        </p:nvSpPr>
        <p:spPr>
          <a:xfrm>
            <a:off x="457200" y="1271016"/>
            <a:ext cx="1051560" cy="310896"/>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27101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PREDICT</a:t>
            </a:r>
            <a:endParaRPr lang="en-US" sz="1200" dirty="0"/>
          </a:p>
        </p:txBody>
      </p:sp>
      <p:sp>
        <p:nvSpPr>
          <p:cNvPr id="5" name="Text 3"/>
          <p:cNvSpPr txBox="1"/>
          <p:nvPr/>
        </p:nvSpPr>
        <p:spPr>
          <a:xfrm>
            <a:off x="1645920" y="123444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DRC, LVS or XOR: which is likeliest to fail?</a:t>
            </a:r>
            <a:endParaRPr lang="en-US" sz="1800" dirty="0"/>
          </a:p>
        </p:txBody>
      </p:sp>
      <p:sp>
        <p:nvSpPr>
          <p:cNvPr id="6" name="pill RUN"/>
          <p:cNvSpPr/>
          <p:nvPr/>
        </p:nvSpPr>
        <p:spPr>
          <a:xfrm>
            <a:off x="457200" y="1956816"/>
            <a:ext cx="1051560" cy="310896"/>
          </a:xfrm>
          <a:prstGeom prst="roundRect">
            <a:avLst>
              <a:gd name="adj" fmla="val 50000"/>
            </a:avLst>
          </a:prstGeom>
          <a:solidFill>
            <a:srgbClr val="FF4D2E"/>
          </a:solidFill>
          <a:ln w="6350">
            <a:solidFill>
              <a:srgbClr val="FF4D2E"/>
            </a:solidFill>
            <a:prstDash val="solid"/>
          </a:ln>
        </p:spPr>
      </p:sp>
      <p:sp>
        <p:nvSpPr>
          <p:cNvPr id="7" name="Text 5"/>
          <p:cNvSpPr txBox="1"/>
          <p:nvPr/>
        </p:nvSpPr>
        <p:spPr>
          <a:xfrm>
            <a:off x="457200" y="1956816"/>
            <a:ext cx="10515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RUN</a:t>
            </a:r>
            <a:endParaRPr lang="en-US" sz="1200" dirty="0"/>
          </a:p>
        </p:txBody>
      </p:sp>
      <p:sp>
        <p:nvSpPr>
          <p:cNvPr id="8" name="pill LOOK AT"/>
          <p:cNvSpPr/>
          <p:nvPr/>
        </p:nvSpPr>
        <p:spPr>
          <a:xfrm>
            <a:off x="457200" y="2825496"/>
            <a:ext cx="1051560" cy="310896"/>
          </a:xfrm>
          <a:prstGeom prst="roundRect">
            <a:avLst>
              <a:gd name="adj" fmla="val 50000"/>
            </a:avLst>
          </a:prstGeom>
          <a:solidFill>
            <a:srgbClr val="E1F0ED"/>
          </a:solidFill>
          <a:ln w="6350">
            <a:solidFill>
              <a:srgbClr val="E1F0ED"/>
            </a:solidFill>
            <a:prstDash val="solid"/>
          </a:ln>
        </p:spPr>
      </p:sp>
      <p:sp>
        <p:nvSpPr>
          <p:cNvPr id="9" name="Text 7"/>
          <p:cNvSpPr txBox="1"/>
          <p:nvPr/>
        </p:nvSpPr>
        <p:spPr>
          <a:xfrm>
            <a:off x="457200" y="282549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LOOK AT</a:t>
            </a:r>
            <a:endParaRPr lang="en-US" sz="1200" dirty="0"/>
          </a:p>
        </p:txBody>
      </p:sp>
      <p:sp>
        <p:nvSpPr>
          <p:cNvPr id="10" name="Text 8"/>
          <p:cNvSpPr txBox="1"/>
          <p:nvPr/>
        </p:nvSpPr>
        <p:spPr>
          <a:xfrm>
            <a:off x="1645920" y="2788920"/>
            <a:ext cx="4069080" cy="5943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DRC, LVS, XOR, three corners.</a:t>
            </a:r>
            <a:endParaRPr lang="en-US" sz="1800" dirty="0"/>
          </a:p>
        </p:txBody>
      </p:sp>
      <p:sp>
        <p:nvSpPr>
          <p:cNvPr id="11" name="pill REFERENCE"/>
          <p:cNvSpPr/>
          <p:nvPr/>
        </p:nvSpPr>
        <p:spPr>
          <a:xfrm>
            <a:off x="457200" y="3465576"/>
            <a:ext cx="1051560" cy="310896"/>
          </a:xfrm>
          <a:prstGeom prst="roundRect">
            <a:avLst>
              <a:gd name="adj" fmla="val 50000"/>
            </a:avLst>
          </a:prstGeom>
          <a:solidFill>
            <a:srgbClr val="E1F0ED"/>
          </a:solidFill>
          <a:ln w="6350">
            <a:solidFill>
              <a:srgbClr val="E1F0ED"/>
            </a:solidFill>
            <a:prstDash val="solid"/>
          </a:ln>
        </p:spPr>
      </p:sp>
      <p:sp>
        <p:nvSpPr>
          <p:cNvPr id="12" name="Text 10"/>
          <p:cNvSpPr txBox="1"/>
          <p:nvPr/>
        </p:nvSpPr>
        <p:spPr>
          <a:xfrm>
            <a:off x="457200" y="3465576"/>
            <a:ext cx="1051560" cy="310896"/>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REFERENCE</a:t>
            </a:r>
            <a:endParaRPr lang="en-US" sz="1200" dirty="0"/>
          </a:p>
        </p:txBody>
      </p:sp>
      <p:sp>
        <p:nvSpPr>
          <p:cNvPr id="13" name="Text 11"/>
          <p:cNvSpPr txBox="1"/>
          <p:nvPr/>
        </p:nvSpPr>
        <p:spPr>
          <a:xfrm>
            <a:off x="1645920" y="3429000"/>
            <a:ext cx="4069080" cy="64008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All four checks 0; setup +16.5 / +13.2 / +17.7 ns.</a:t>
            </a:r>
            <a:endParaRPr lang="en-US" sz="1800" dirty="0"/>
          </a:p>
        </p:txBody>
      </p:sp>
      <p:sp>
        <p:nvSpPr>
          <p:cNvPr id="14" name="command"/>
          <p:cNvSpPr/>
          <p:nvPr/>
        </p:nvSpPr>
        <p:spPr>
          <a:xfrm>
            <a:off x="1645920" y="1920240"/>
            <a:ext cx="4069080" cy="777240"/>
          </a:xfrm>
          <a:prstGeom prst="roundRect">
            <a:avLst>
              <a:gd name="adj" fmla="val 7059"/>
            </a:avLst>
          </a:prstGeom>
          <a:solidFill>
            <a:srgbClr val="071A36"/>
          </a:solidFill>
          <a:ln w="12700">
            <a:solidFill>
              <a:srgbClr val="071A36"/>
            </a:solidFill>
            <a:prstDash val="solid"/>
          </a:ln>
        </p:spPr>
      </p:sp>
      <p:sp>
        <p:nvSpPr>
          <p:cNvPr id="15" name="Text 13"/>
          <p:cNvSpPr txBox="1"/>
          <p:nvPr/>
        </p:nvSpPr>
        <p:spPr>
          <a:xfrm>
            <a:off x="1755648" y="1920240"/>
            <a:ext cx="3886200" cy="77724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lab N=6</a:t>
            </a:r>
            <a:endParaRPr lang="en-US" sz="1800" dirty="0"/>
          </a:p>
          <a:p>
            <a:pPr indent="0" marL="0">
              <a:buNone/>
            </a:pPr>
            <a:r>
              <a:rPr lang="en-US" sz="1800" b="1" dirty="0">
                <a:solidFill>
                  <a:srgbClr val="FFFFFF"/>
                </a:solidFill>
                <a:latin typeface="Courier New" pitchFamily="34" charset="0"/>
                <a:ea typeface="Courier New" pitchFamily="34" charset="-122"/>
                <a:cs typeface="Courier New" pitchFamily="34" charset="-120"/>
              </a:rPr>
              <a:t>make lab-check N=6</a:t>
            </a:r>
            <a:endParaRPr lang="en-US" sz="1800" dirty="0"/>
          </a:p>
        </p:txBody>
      </p:sp>
      <p:sp>
        <p:nvSpPr>
          <p:cNvPr id="16" name="Shape 14"/>
          <p:cNvSpPr/>
          <p:nvPr/>
        </p:nvSpPr>
        <p:spPr>
          <a:xfrm>
            <a:off x="5897880" y="1234440"/>
            <a:ext cx="2788920" cy="2788920"/>
          </a:xfrm>
          <a:prstGeom prst="rect">
            <a:avLst/>
          </a:prstGeom>
          <a:solidFill>
            <a:srgbClr val="FFFFFF"/>
          </a:solidFill>
          <a:ln w="9525">
            <a:solidFill>
              <a:srgbClr val="D5D9DC"/>
            </a:solidFill>
            <a:prstDash val="solid"/>
          </a:ln>
        </p:spPr>
      </p:sp>
      <p:pic>
        <p:nvPicPr>
          <p:cNvPr id="17" name="Image 0" descr="Reference picture of lab 6 (uart)">    </p:cNvPr>
          <p:cNvPicPr>
            <a:picLocks noChangeAspect="1"/>
          </p:cNvPicPr>
          <p:nvPr/>
        </p:nvPicPr>
        <p:blipFill>
          <a:blip r:embed="rId1"/>
          <a:stretch>
            <a:fillRect/>
          </a:stretch>
        </p:blipFill>
        <p:spPr>
          <a:xfrm>
            <a:off x="5943600" y="1280160"/>
            <a:ext cx="2697480" cy="2697480"/>
          </a:xfrm>
          <a:prstGeom prst="rect">
            <a:avLst/>
          </a:prstGeom>
        </p:spPr>
      </p:pic>
      <p:sp>
        <p:nvSpPr>
          <p:cNvPr id="18" name="Text 15"/>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600" b="1" dirty="0">
                <a:solidFill>
                  <a:srgbClr val="12151C"/>
                </a:solidFill>
                <a:latin typeface="Arial" pitchFamily="34" charset="0"/>
                <a:ea typeface="Arial" pitchFamily="34" charset="-122"/>
                <a:cs typeface="Arial" pitchFamily="34" charset="-120"/>
              </a:rPr>
              <a:t>Labs use uart (2,026 cells, whole flow about 2 min): numbers differ from cnn_lite.</a:t>
            </a:r>
            <a:endParaRPr lang="en-US" sz="1600" dirty="0"/>
          </a:p>
        </p:txBody>
      </p:sp>
      <p:sp>
        <p:nvSpPr>
          <p:cNvPr id="19" name="Text 16"/>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Run on this Mac's Linux VM (2 CPUs, 8 GB). Codespaces and Colab: not verified.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Experiment: tighten the clock until slack goes negative</a:t>
            </a:r>
            <a:endParaRPr lang="en-US" sz="2800" dirty="0"/>
          </a:p>
        </p:txBody>
      </p:sp>
      <p:sp>
        <p:nvSpPr>
          <p:cNvPr id="3" name="pill RUN"/>
          <p:cNvSpPr/>
          <p:nvPr/>
        </p:nvSpPr>
        <p:spPr>
          <a:xfrm>
            <a:off x="457200" y="1325880"/>
            <a:ext cx="822960" cy="329184"/>
          </a:xfrm>
          <a:prstGeom prst="roundRect">
            <a:avLst>
              <a:gd name="adj" fmla="val 50000"/>
            </a:avLst>
          </a:prstGeom>
          <a:solidFill>
            <a:srgbClr val="FF4D2E"/>
          </a:solidFill>
          <a:ln w="6350">
            <a:solidFill>
              <a:srgbClr val="FF4D2E"/>
            </a:solidFill>
            <a:prstDash val="solid"/>
          </a:ln>
        </p:spPr>
      </p:sp>
      <p:sp>
        <p:nvSpPr>
          <p:cNvPr id="4" name="Text 2"/>
          <p:cNvSpPr txBox="1"/>
          <p:nvPr/>
        </p:nvSpPr>
        <p:spPr>
          <a:xfrm>
            <a:off x="457200" y="1325880"/>
            <a:ext cx="8229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RUN</a:t>
            </a:r>
            <a:endParaRPr lang="en-US" sz="1200" dirty="0"/>
          </a:p>
        </p:txBody>
      </p:sp>
      <p:sp>
        <p:nvSpPr>
          <p:cNvPr id="5" name="command"/>
          <p:cNvSpPr/>
          <p:nvPr/>
        </p:nvSpPr>
        <p:spPr>
          <a:xfrm>
            <a:off x="1417320" y="1261872"/>
            <a:ext cx="5394960" cy="777240"/>
          </a:xfrm>
          <a:prstGeom prst="roundRect">
            <a:avLst>
              <a:gd name="adj" fmla="val 7059"/>
            </a:avLst>
          </a:prstGeom>
          <a:solidFill>
            <a:srgbClr val="071A36"/>
          </a:solidFill>
          <a:ln w="12700">
            <a:solidFill>
              <a:srgbClr val="071A36"/>
            </a:solidFill>
            <a:prstDash val="solid"/>
          </a:ln>
        </p:spPr>
      </p:sp>
      <p:sp>
        <p:nvSpPr>
          <p:cNvPr id="6" name="Text 4"/>
          <p:cNvSpPr txBox="1"/>
          <p:nvPr/>
        </p:nvSpPr>
        <p:spPr>
          <a:xfrm>
            <a:off x="1527048" y="1261872"/>
            <a:ext cx="5212080" cy="77724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lab-knob KNOB=clock VALUE=10</a:t>
            </a:r>
            <a:endParaRPr lang="en-US" sz="1800" dirty="0"/>
          </a:p>
          <a:p>
            <a:pPr indent="0" marL="0">
              <a:buNone/>
            </a:pPr>
            <a:r>
              <a:rPr lang="en-US" sz="1800" b="1" dirty="0">
                <a:solidFill>
                  <a:srgbClr val="FFFFFF"/>
                </a:solidFill>
                <a:latin typeface="Courier New" pitchFamily="34" charset="0"/>
                <a:ea typeface="Courier New" pitchFamily="34" charset="-122"/>
                <a:cs typeface="Courier New" pitchFamily="34" charset="-120"/>
              </a:rPr>
              <a:t>make lab-knob KNOB=clock VALUE=6</a:t>
            </a:r>
            <a:endParaRPr lang="en-US" sz="1800" dirty="0"/>
          </a:p>
        </p:txBody>
      </p:sp>
      <p:sp>
        <p:nvSpPr>
          <p:cNvPr id="7" name="Text 5"/>
          <p:cNvSpPr txBox="1"/>
          <p:nvPr/>
        </p:nvSpPr>
        <p:spPr>
          <a:xfrm>
            <a:off x="6949440" y="1261872"/>
            <a:ext cx="1737360" cy="777240"/>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about 55 s each</a:t>
            </a:r>
            <a:endParaRPr lang="en-US" sz="1600" dirty="0"/>
          </a:p>
        </p:txBody>
      </p:sp>
      <p:sp>
        <p:nvSpPr>
          <p:cNvPr id="8" name="card"/>
          <p:cNvSpPr/>
          <p:nvPr/>
        </p:nvSpPr>
        <p:spPr>
          <a:xfrm>
            <a:off x="457200" y="2286000"/>
            <a:ext cx="2651760" cy="1554480"/>
          </a:xfrm>
          <a:prstGeom prst="roundRect">
            <a:avLst>
              <a:gd name="adj" fmla="val 4706"/>
            </a:avLst>
          </a:prstGeom>
          <a:solidFill>
            <a:srgbClr val="FFFFFF"/>
          </a:solidFill>
          <a:ln w="9525">
            <a:solidFill>
              <a:srgbClr val="D5D9DC"/>
            </a:solidFill>
            <a:prstDash val="solid"/>
          </a:ln>
        </p:spPr>
      </p:sp>
      <p:sp>
        <p:nvSpPr>
          <p:cNvPr id="9" name="Text 7"/>
          <p:cNvSpPr txBox="1"/>
          <p:nvPr/>
        </p:nvSpPr>
        <p:spPr>
          <a:xfrm>
            <a:off x="457200" y="2377440"/>
            <a:ext cx="2651760" cy="365760"/>
          </a:xfrm>
          <a:prstGeom prst="rect">
            <a:avLst/>
          </a:prstGeom>
          <a:noFill/>
          <a:ln/>
        </p:spPr>
        <p:txBody>
          <a:bodyPr wrap="square" lIns="0" tIns="0" rIns="0" bIns="0" rtlCol="0" anchor="t"/>
          <a:lstStyle/>
          <a:p>
            <a:pPr algn="ctr" indent="0" marL="0">
              <a:buNone/>
            </a:pPr>
            <a:r>
              <a:rPr lang="en-US" sz="1800" b="1" dirty="0">
                <a:solidFill>
                  <a:srgbClr val="5C6573"/>
                </a:solidFill>
                <a:latin typeface="Arial" pitchFamily="34" charset="0"/>
                <a:ea typeface="Arial" pitchFamily="34" charset="-122"/>
                <a:cs typeface="Arial" pitchFamily="34" charset="-120"/>
              </a:rPr>
              <a:t>25 ns</a:t>
            </a:r>
            <a:endParaRPr lang="en-US" sz="1800" dirty="0"/>
          </a:p>
        </p:txBody>
      </p:sp>
      <p:sp>
        <p:nvSpPr>
          <p:cNvPr id="10" name="Text 8"/>
          <p:cNvSpPr txBox="1"/>
          <p:nvPr/>
        </p:nvSpPr>
        <p:spPr>
          <a:xfrm>
            <a:off x="457200" y="2788920"/>
            <a:ext cx="2651760" cy="640080"/>
          </a:xfrm>
          <a:prstGeom prst="rect">
            <a:avLst/>
          </a:prstGeom>
          <a:noFill/>
          <a:ln/>
        </p:spPr>
        <p:txBody>
          <a:bodyPr wrap="square" lIns="0" tIns="0" rIns="0" bIns="0" rtlCol="0" anchor="ctr"/>
          <a:lstStyle/>
          <a:p>
            <a:pPr algn="ctr" indent="0" marL="0">
              <a:buNone/>
            </a:pPr>
            <a:r>
              <a:rPr lang="en-US" sz="3000" b="1" dirty="0">
                <a:solidFill>
                  <a:srgbClr val="008F7A"/>
                </a:solidFill>
                <a:latin typeface="Arial" pitchFamily="34" charset="0"/>
                <a:ea typeface="Arial" pitchFamily="34" charset="-122"/>
                <a:cs typeface="Arial" pitchFamily="34" charset="-120"/>
              </a:rPr>
              <a:t>+13.194 ns</a:t>
            </a:r>
            <a:endParaRPr lang="en-US" sz="3000" dirty="0"/>
          </a:p>
        </p:txBody>
      </p:sp>
      <p:sp>
        <p:nvSpPr>
          <p:cNvPr id="11" name="Text 9"/>
          <p:cNvSpPr txBox="1"/>
          <p:nvPr/>
        </p:nvSpPr>
        <p:spPr>
          <a:xfrm>
            <a:off x="457200" y="3429000"/>
            <a:ext cx="2651760" cy="320040"/>
          </a:xfrm>
          <a:prstGeom prst="rect">
            <a:avLst/>
          </a:prstGeom>
          <a:noFill/>
          <a:ln/>
        </p:spPr>
        <p:txBody>
          <a:bodyPr wrap="square" lIns="0" tIns="0" rIns="0" bIns="0" rtlCol="0" anchor="t"/>
          <a:lstStyle/>
          <a:p>
            <a:pPr algn="ctr" indent="0" marL="0">
              <a:buNone/>
            </a:pPr>
            <a:r>
              <a:rPr lang="en-US" sz="1600" dirty="0">
                <a:solidFill>
                  <a:srgbClr val="5C6573"/>
                </a:solidFill>
                <a:latin typeface="Arial" pitchFamily="34" charset="0"/>
                <a:ea typeface="Arial" pitchFamily="34" charset="-122"/>
                <a:cs typeface="Arial" pitchFamily="34" charset="-120"/>
              </a:rPr>
              <a:t>slack</a:t>
            </a:r>
            <a:endParaRPr lang="en-US" sz="1600" dirty="0"/>
          </a:p>
        </p:txBody>
      </p:sp>
      <p:sp>
        <p:nvSpPr>
          <p:cNvPr id="12" name="card"/>
          <p:cNvSpPr/>
          <p:nvPr/>
        </p:nvSpPr>
        <p:spPr>
          <a:xfrm>
            <a:off x="3246120" y="2286000"/>
            <a:ext cx="2651760" cy="1554480"/>
          </a:xfrm>
          <a:prstGeom prst="roundRect">
            <a:avLst>
              <a:gd name="adj" fmla="val 4706"/>
            </a:avLst>
          </a:prstGeom>
          <a:solidFill>
            <a:srgbClr val="FFFFFF"/>
          </a:solidFill>
          <a:ln w="9525">
            <a:solidFill>
              <a:srgbClr val="D5D9DC"/>
            </a:solidFill>
            <a:prstDash val="solid"/>
          </a:ln>
        </p:spPr>
      </p:sp>
      <p:sp>
        <p:nvSpPr>
          <p:cNvPr id="13" name="Text 11"/>
          <p:cNvSpPr txBox="1"/>
          <p:nvPr/>
        </p:nvSpPr>
        <p:spPr>
          <a:xfrm>
            <a:off x="3246120" y="2377440"/>
            <a:ext cx="2651760" cy="365760"/>
          </a:xfrm>
          <a:prstGeom prst="rect">
            <a:avLst/>
          </a:prstGeom>
          <a:noFill/>
          <a:ln/>
        </p:spPr>
        <p:txBody>
          <a:bodyPr wrap="square" lIns="0" tIns="0" rIns="0" bIns="0" rtlCol="0" anchor="t"/>
          <a:lstStyle/>
          <a:p>
            <a:pPr algn="ctr" indent="0" marL="0">
              <a:buNone/>
            </a:pPr>
            <a:r>
              <a:rPr lang="en-US" sz="1800" b="1" dirty="0">
                <a:solidFill>
                  <a:srgbClr val="5C6573"/>
                </a:solidFill>
                <a:latin typeface="Arial" pitchFamily="34" charset="0"/>
                <a:ea typeface="Arial" pitchFamily="34" charset="-122"/>
                <a:cs typeface="Arial" pitchFamily="34" charset="-120"/>
              </a:rPr>
              <a:t>10 ns</a:t>
            </a:r>
            <a:endParaRPr lang="en-US" sz="1800" dirty="0"/>
          </a:p>
        </p:txBody>
      </p:sp>
      <p:sp>
        <p:nvSpPr>
          <p:cNvPr id="14" name="Text 12"/>
          <p:cNvSpPr txBox="1"/>
          <p:nvPr/>
        </p:nvSpPr>
        <p:spPr>
          <a:xfrm>
            <a:off x="3246120" y="2788920"/>
            <a:ext cx="2651760" cy="640080"/>
          </a:xfrm>
          <a:prstGeom prst="rect">
            <a:avLst/>
          </a:prstGeom>
          <a:noFill/>
          <a:ln/>
        </p:spPr>
        <p:txBody>
          <a:bodyPr wrap="square" lIns="0" tIns="0" rIns="0" bIns="0" rtlCol="0" anchor="ctr"/>
          <a:lstStyle/>
          <a:p>
            <a:pPr algn="ctr" indent="0" marL="0">
              <a:buNone/>
            </a:pPr>
            <a:r>
              <a:rPr lang="en-US" sz="3000" b="1" dirty="0">
                <a:solidFill>
                  <a:srgbClr val="008F7A"/>
                </a:solidFill>
                <a:latin typeface="Arial" pitchFamily="34" charset="0"/>
                <a:ea typeface="Arial" pitchFamily="34" charset="-122"/>
                <a:cs typeface="Arial" pitchFamily="34" charset="-120"/>
              </a:rPr>
              <a:t>+1.086 ns</a:t>
            </a:r>
            <a:endParaRPr lang="en-US" sz="3000" dirty="0"/>
          </a:p>
        </p:txBody>
      </p:sp>
      <p:sp>
        <p:nvSpPr>
          <p:cNvPr id="15" name="Text 13"/>
          <p:cNvSpPr txBox="1"/>
          <p:nvPr/>
        </p:nvSpPr>
        <p:spPr>
          <a:xfrm>
            <a:off x="3246120" y="3429000"/>
            <a:ext cx="2651760" cy="320040"/>
          </a:xfrm>
          <a:prstGeom prst="rect">
            <a:avLst/>
          </a:prstGeom>
          <a:noFill/>
          <a:ln/>
        </p:spPr>
        <p:txBody>
          <a:bodyPr wrap="square" lIns="0" tIns="0" rIns="0" bIns="0" rtlCol="0" anchor="t"/>
          <a:lstStyle/>
          <a:p>
            <a:pPr algn="ctr" indent="0" marL="0">
              <a:buNone/>
            </a:pPr>
            <a:r>
              <a:rPr lang="en-US" sz="1600" dirty="0">
                <a:solidFill>
                  <a:srgbClr val="5C6573"/>
                </a:solidFill>
                <a:latin typeface="Arial" pitchFamily="34" charset="0"/>
                <a:ea typeface="Arial" pitchFamily="34" charset="-122"/>
                <a:cs typeface="Arial" pitchFamily="34" charset="-120"/>
              </a:rPr>
              <a:t>slack</a:t>
            </a:r>
            <a:endParaRPr lang="en-US" sz="1600" dirty="0"/>
          </a:p>
        </p:txBody>
      </p:sp>
      <p:sp>
        <p:nvSpPr>
          <p:cNvPr id="16" name="card"/>
          <p:cNvSpPr/>
          <p:nvPr/>
        </p:nvSpPr>
        <p:spPr>
          <a:xfrm>
            <a:off x="6035040" y="2286000"/>
            <a:ext cx="2651760" cy="1554480"/>
          </a:xfrm>
          <a:prstGeom prst="roundRect">
            <a:avLst>
              <a:gd name="adj" fmla="val 4706"/>
            </a:avLst>
          </a:prstGeom>
          <a:solidFill>
            <a:srgbClr val="FFE9E4"/>
          </a:solidFill>
          <a:ln w="9525">
            <a:solidFill>
              <a:srgbClr val="B83A22"/>
            </a:solidFill>
            <a:prstDash val="solid"/>
          </a:ln>
        </p:spPr>
      </p:sp>
      <p:sp>
        <p:nvSpPr>
          <p:cNvPr id="17" name="Text 15"/>
          <p:cNvSpPr txBox="1"/>
          <p:nvPr/>
        </p:nvSpPr>
        <p:spPr>
          <a:xfrm>
            <a:off x="6035040" y="2377440"/>
            <a:ext cx="2651760" cy="365760"/>
          </a:xfrm>
          <a:prstGeom prst="rect">
            <a:avLst/>
          </a:prstGeom>
          <a:noFill/>
          <a:ln/>
        </p:spPr>
        <p:txBody>
          <a:bodyPr wrap="square" lIns="0" tIns="0" rIns="0" bIns="0" rtlCol="0" anchor="t"/>
          <a:lstStyle/>
          <a:p>
            <a:pPr algn="ctr" indent="0" marL="0">
              <a:buNone/>
            </a:pPr>
            <a:r>
              <a:rPr lang="en-US" sz="1800" b="1" dirty="0">
                <a:solidFill>
                  <a:srgbClr val="5C6573"/>
                </a:solidFill>
                <a:latin typeface="Arial" pitchFamily="34" charset="0"/>
                <a:ea typeface="Arial" pitchFamily="34" charset="-122"/>
                <a:cs typeface="Arial" pitchFamily="34" charset="-120"/>
              </a:rPr>
              <a:t>6 ns</a:t>
            </a:r>
            <a:endParaRPr lang="en-US" sz="1800" dirty="0"/>
          </a:p>
        </p:txBody>
      </p:sp>
      <p:sp>
        <p:nvSpPr>
          <p:cNvPr id="18" name="Text 16"/>
          <p:cNvSpPr txBox="1"/>
          <p:nvPr/>
        </p:nvSpPr>
        <p:spPr>
          <a:xfrm>
            <a:off x="6035040" y="2788920"/>
            <a:ext cx="2651760" cy="640080"/>
          </a:xfrm>
          <a:prstGeom prst="rect">
            <a:avLst/>
          </a:prstGeom>
          <a:noFill/>
          <a:ln/>
        </p:spPr>
        <p:txBody>
          <a:bodyPr wrap="square" lIns="0" tIns="0" rIns="0" bIns="0" rtlCol="0" anchor="ctr"/>
          <a:lstStyle/>
          <a:p>
            <a:pPr algn="ctr" indent="0" marL="0">
              <a:buNone/>
            </a:pPr>
            <a:r>
              <a:rPr lang="en-US" sz="3000" b="1" dirty="0">
                <a:solidFill>
                  <a:srgbClr val="B83A22"/>
                </a:solidFill>
                <a:latin typeface="Arial" pitchFamily="34" charset="0"/>
                <a:ea typeface="Arial" pitchFamily="34" charset="-122"/>
                <a:cs typeface="Arial" pitchFamily="34" charset="-120"/>
              </a:rPr>
              <a:t>−0.228 ns</a:t>
            </a:r>
            <a:endParaRPr lang="en-US" sz="3000" dirty="0"/>
          </a:p>
        </p:txBody>
      </p:sp>
      <p:sp>
        <p:nvSpPr>
          <p:cNvPr id="19" name="Text 17"/>
          <p:cNvSpPr txBox="1"/>
          <p:nvPr/>
        </p:nvSpPr>
        <p:spPr>
          <a:xfrm>
            <a:off x="6035040" y="3429000"/>
            <a:ext cx="2651760" cy="320040"/>
          </a:xfrm>
          <a:prstGeom prst="rect">
            <a:avLst/>
          </a:prstGeom>
          <a:noFill/>
          <a:ln/>
        </p:spPr>
        <p:txBody>
          <a:bodyPr wrap="square" lIns="0" tIns="0" rIns="0" bIns="0" rtlCol="0" anchor="t"/>
          <a:lstStyle/>
          <a:p>
            <a:pPr algn="ctr" indent="0" marL="0">
              <a:buNone/>
            </a:pPr>
            <a:r>
              <a:rPr lang="en-US" sz="1600" dirty="0">
                <a:solidFill>
                  <a:srgbClr val="5C6573"/>
                </a:solidFill>
                <a:latin typeface="Arial" pitchFamily="34" charset="0"/>
                <a:ea typeface="Arial" pitchFamily="34" charset="-122"/>
                <a:cs typeface="Arial" pitchFamily="34" charset="-120"/>
              </a:rPr>
              <a:t>51 failing paths</a:t>
            </a:r>
            <a:endParaRPr lang="en-US" sz="1600" dirty="0"/>
          </a:p>
        </p:txBody>
      </p:sp>
      <p:sp>
        <p:nvSpPr>
          <p:cNvPr id="20" name="Text 18"/>
          <p:cNvSpPr txBox="1"/>
          <p:nvPr/>
        </p:nvSpPr>
        <p:spPr>
          <a:xfrm>
            <a:off x="457200" y="3977640"/>
            <a:ext cx="822960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Clock period (uart): shorter clock, less slack.</a:t>
            </a:r>
            <a:endParaRPr lang="en-US" sz="1800" dirty="0"/>
          </a:p>
        </p:txBody>
      </p:sp>
      <p:sp>
        <p:nvSpPr>
          <p:cNvPr id="21" name="Text 19"/>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Run on this Mac's Linux VM (2 CPUs, 8 GB). Codespaces and Colab: not verified.</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More knobs: each change has a measured cost</a:t>
            </a:r>
            <a:endParaRPr lang="en-US" sz="2800" dirty="0"/>
          </a:p>
        </p:txBody>
      </p:sp>
      <p:sp>
        <p:nvSpPr>
          <p:cNvPr id="3" name="card"/>
          <p:cNvSpPr/>
          <p:nvPr/>
        </p:nvSpPr>
        <p:spPr>
          <a:xfrm>
            <a:off x="457200" y="1371600"/>
            <a:ext cx="8229600" cy="868680"/>
          </a:xfrm>
          <a:prstGeom prst="roundRect">
            <a:avLst>
              <a:gd name="adj" fmla="val 8421"/>
            </a:avLst>
          </a:prstGeom>
          <a:solidFill>
            <a:srgbClr val="FFFFFF"/>
          </a:solidFill>
          <a:ln w="9525">
            <a:solidFill>
              <a:srgbClr val="D5D9DC"/>
            </a:solidFill>
            <a:prstDash val="solid"/>
          </a:ln>
        </p:spPr>
      </p:sp>
      <p:sp>
        <p:nvSpPr>
          <p:cNvPr id="4" name="Text 2"/>
          <p:cNvSpPr txBox="1"/>
          <p:nvPr/>
        </p:nvSpPr>
        <p:spPr>
          <a:xfrm>
            <a:off x="640080" y="1371600"/>
            <a:ext cx="1371600" cy="86868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synth</a:t>
            </a:r>
            <a:endParaRPr lang="en-US" sz="2000" dirty="0"/>
          </a:p>
        </p:txBody>
      </p:sp>
      <p:sp>
        <p:nvSpPr>
          <p:cNvPr id="5" name="Text 3"/>
          <p:cNvSpPr txBox="1"/>
          <p:nvPr/>
        </p:nvSpPr>
        <p:spPr>
          <a:xfrm>
            <a:off x="2011680" y="1371600"/>
            <a:ext cx="3840480" cy="868680"/>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AREA 0 / AREA 3 / DELAY 0</a:t>
            </a:r>
            <a:endParaRPr lang="en-US" sz="1600" dirty="0"/>
          </a:p>
        </p:txBody>
      </p:sp>
      <p:sp>
        <p:nvSpPr>
          <p:cNvPr id="6" name="Text 4"/>
          <p:cNvSpPr txBox="1"/>
          <p:nvPr/>
        </p:nvSpPr>
        <p:spPr>
          <a:xfrm>
            <a:off x="5943600" y="1371600"/>
            <a:ext cx="2651760" cy="868680"/>
          </a:xfrm>
          <a:prstGeom prst="rect">
            <a:avLst/>
          </a:prstGeom>
          <a:noFill/>
          <a:ln/>
        </p:spPr>
        <p:txBody>
          <a:bodyPr wrap="square" lIns="0" tIns="0" rIns="0" bIns="0" rtlCol="0" anchor="ctr"/>
          <a:lstStyle/>
          <a:p>
            <a:pPr algn="r" indent="0" marL="0">
              <a:buNone/>
            </a:pPr>
            <a:r>
              <a:rPr lang="en-US" sz="1800" b="1" dirty="0">
                <a:solidFill>
                  <a:srgbClr val="008F7A"/>
                </a:solidFill>
                <a:latin typeface="Arial" pitchFamily="34" charset="0"/>
                <a:ea typeface="Arial" pitchFamily="34" charset="-122"/>
                <a:cs typeface="Arial" pitchFamily="34" charset="-120"/>
              </a:rPr>
              <a:t>674 / 968 / 740 cells</a:t>
            </a:r>
            <a:endParaRPr lang="en-US" sz="1800" dirty="0"/>
          </a:p>
        </p:txBody>
      </p:sp>
      <p:sp>
        <p:nvSpPr>
          <p:cNvPr id="7" name="card"/>
          <p:cNvSpPr/>
          <p:nvPr/>
        </p:nvSpPr>
        <p:spPr>
          <a:xfrm>
            <a:off x="457200" y="2377440"/>
            <a:ext cx="8229600" cy="868680"/>
          </a:xfrm>
          <a:prstGeom prst="roundRect">
            <a:avLst>
              <a:gd name="adj" fmla="val 8421"/>
            </a:avLst>
          </a:prstGeom>
          <a:solidFill>
            <a:srgbClr val="FFFFFF"/>
          </a:solidFill>
          <a:ln w="9525">
            <a:solidFill>
              <a:srgbClr val="D5D9DC"/>
            </a:solidFill>
            <a:prstDash val="solid"/>
          </a:ln>
        </p:spPr>
      </p:sp>
      <p:sp>
        <p:nvSpPr>
          <p:cNvPr id="8" name="Text 6"/>
          <p:cNvSpPr txBox="1"/>
          <p:nvPr/>
        </p:nvSpPr>
        <p:spPr>
          <a:xfrm>
            <a:off x="640080" y="2377440"/>
            <a:ext cx="1371600" cy="86868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density</a:t>
            </a:r>
            <a:endParaRPr lang="en-US" sz="2000" dirty="0"/>
          </a:p>
        </p:txBody>
      </p:sp>
      <p:sp>
        <p:nvSpPr>
          <p:cNvPr id="9" name="Text 7"/>
          <p:cNvSpPr txBox="1"/>
          <p:nvPr/>
        </p:nvSpPr>
        <p:spPr>
          <a:xfrm>
            <a:off x="2011680" y="2377440"/>
            <a:ext cx="3840480" cy="868680"/>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make lab-knob KNOB=density VALUE=70</a:t>
            </a:r>
            <a:endParaRPr lang="en-US" sz="1600" dirty="0"/>
          </a:p>
        </p:txBody>
      </p:sp>
      <p:sp>
        <p:nvSpPr>
          <p:cNvPr id="10" name="Text 8"/>
          <p:cNvSpPr txBox="1"/>
          <p:nvPr/>
        </p:nvSpPr>
        <p:spPr>
          <a:xfrm>
            <a:off x="5943600" y="2377440"/>
            <a:ext cx="2651760" cy="868680"/>
          </a:xfrm>
          <a:prstGeom prst="rect">
            <a:avLst/>
          </a:prstGeom>
          <a:noFill/>
          <a:ln/>
        </p:spPr>
        <p:txBody>
          <a:bodyPr wrap="square" lIns="0" tIns="0" rIns="0" bIns="0" rtlCol="0" anchor="ctr"/>
          <a:lstStyle/>
          <a:p>
            <a:pPr algn="r" indent="0" marL="0">
              <a:buNone/>
            </a:pPr>
            <a:r>
              <a:rPr lang="en-US" sz="1800" b="1" dirty="0">
                <a:solidFill>
                  <a:srgbClr val="008F7A"/>
                </a:solidFill>
                <a:latin typeface="Arial" pitchFamily="34" charset="0"/>
                <a:ea typeface="Arial" pitchFamily="34" charset="-122"/>
                <a:cs typeface="Arial" pitchFamily="34" charset="-120"/>
              </a:rPr>
              <a:t>routed wire −3.8%</a:t>
            </a:r>
            <a:endParaRPr lang="en-US" sz="1800" dirty="0"/>
          </a:p>
        </p:txBody>
      </p:sp>
      <p:sp>
        <p:nvSpPr>
          <p:cNvPr id="11" name="card"/>
          <p:cNvSpPr/>
          <p:nvPr/>
        </p:nvSpPr>
        <p:spPr>
          <a:xfrm>
            <a:off x="457200" y="3383280"/>
            <a:ext cx="8229600" cy="868680"/>
          </a:xfrm>
          <a:prstGeom prst="roundRect">
            <a:avLst>
              <a:gd name="adj" fmla="val 8421"/>
            </a:avLst>
          </a:prstGeom>
          <a:solidFill>
            <a:srgbClr val="FFFFFF"/>
          </a:solidFill>
          <a:ln w="9525">
            <a:solidFill>
              <a:srgbClr val="D5D9DC"/>
            </a:solidFill>
            <a:prstDash val="solid"/>
          </a:ln>
        </p:spPr>
      </p:sp>
      <p:sp>
        <p:nvSpPr>
          <p:cNvPr id="12" name="Text 10"/>
          <p:cNvSpPr txBox="1"/>
          <p:nvPr/>
        </p:nvSpPr>
        <p:spPr>
          <a:xfrm>
            <a:off x="640080" y="3383280"/>
            <a:ext cx="1371600" cy="86868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util</a:t>
            </a:r>
            <a:endParaRPr lang="en-US" sz="2000" dirty="0"/>
          </a:p>
        </p:txBody>
      </p:sp>
      <p:sp>
        <p:nvSpPr>
          <p:cNvPr id="13" name="Text 11"/>
          <p:cNvSpPr txBox="1"/>
          <p:nvPr/>
        </p:nvSpPr>
        <p:spPr>
          <a:xfrm>
            <a:off x="2011680" y="3383280"/>
            <a:ext cx="3840480" cy="868680"/>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VALUE=75, then 92 (spm_ref)</a:t>
            </a:r>
            <a:endParaRPr lang="en-US" sz="1600" dirty="0"/>
          </a:p>
        </p:txBody>
      </p:sp>
      <p:sp>
        <p:nvSpPr>
          <p:cNvPr id="14" name="Text 12"/>
          <p:cNvSpPr txBox="1"/>
          <p:nvPr/>
        </p:nvSpPr>
        <p:spPr>
          <a:xfrm>
            <a:off x="5943600" y="3383280"/>
            <a:ext cx="2651760" cy="868680"/>
          </a:xfrm>
          <a:prstGeom prst="rect">
            <a:avLst/>
          </a:prstGeom>
          <a:noFill/>
          <a:ln/>
        </p:spPr>
        <p:txBody>
          <a:bodyPr wrap="square" lIns="0" tIns="0" rIns="0" bIns="0" rtlCol="0" anchor="ctr"/>
          <a:lstStyle/>
          <a:p>
            <a:pPr algn="r" indent="0" marL="0">
              <a:buNone/>
            </a:pPr>
            <a:r>
              <a:rPr lang="en-US" sz="1800" b="1" dirty="0">
                <a:solidFill>
                  <a:srgbClr val="008F7A"/>
                </a:solidFill>
                <a:latin typeface="Arial" pitchFamily="34" charset="0"/>
                <a:ea typeface="Arial" pitchFamily="34" charset="-122"/>
                <a:cs typeface="Arial" pitchFamily="34" charset="-120"/>
              </a:rPr>
              <a:t>fails: cannot legalize</a:t>
            </a:r>
            <a:endParaRPr lang="en-US" sz="1800" dirty="0"/>
          </a:p>
        </p:txBody>
      </p:sp>
      <p:sp>
        <p:nvSpPr>
          <p:cNvPr id="15" name="Text 13"/>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1600" b="1" dirty="0">
                <a:solidFill>
                  <a:srgbClr val="12151C"/>
                </a:solidFill>
                <a:latin typeface="Arial" pitchFamily="34" charset="0"/>
                <a:ea typeface="Arial" pitchFamily="34" charset="-122"/>
                <a:cs typeface="Arial" pitchFamily="34" charset="-120"/>
              </a:rPr>
              <a:t>A failing run is a valid result.</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title" hasCustomPrompt="1"/>
          </p:nvPr>
        </p:nvSpPr>
        <p:spPr>
          <a:xfrm>
            <a:off x="640080" y="914400"/>
            <a:ext cx="768096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What verification caught</a:t>
            </a:r>
            <a:endParaRPr lang="en-US" sz="3600" dirty="0"/>
          </a:p>
        </p:txBody>
      </p:sp>
      <p:sp>
        <p:nvSpPr>
          <p:cNvPr id="3" name="Text 1"/>
          <p:cNvSpPr txBox="1"/>
          <p:nvPr/>
        </p:nvSpPr>
        <p:spPr>
          <a:xfrm>
            <a:off x="640080" y="2148840"/>
            <a:ext cx="7498080" cy="822960"/>
          </a:xfrm>
          <a:prstGeom prst="rect">
            <a:avLst/>
          </a:prstGeom>
          <a:noFill/>
          <a:ln/>
        </p:spPr>
        <p:txBody>
          <a:bodyPr wrap="square" lIns="0" tIns="0" rIns="0" bIns="0" rtlCol="0" anchor="t"/>
          <a:lstStyle/>
          <a:p>
            <a:pPr indent="0" marL="0">
              <a:buNone/>
            </a:pPr>
            <a:r>
              <a:rPr lang="en-US" sz="2000" dirty="0">
                <a:solidFill>
                  <a:srgbClr val="D6DCE6"/>
                </a:solidFill>
                <a:latin typeface="Arial" pitchFamily="34" charset="0"/>
                <a:ea typeface="Arial" pitchFamily="34" charset="-122"/>
                <a:cs typeface="Arial" pitchFamily="34" charset="-120"/>
              </a:rPr>
              <a:t>The originals' defects, then the hollow-design story and two new checks</a:t>
            </a:r>
            <a:endParaRPr lang="en-US" sz="2000" dirty="0"/>
          </a:p>
        </p:txBody>
      </p:sp>
      <p:sp>
        <p:nvSpPr>
          <p:cNvPr id="4" name="progress A"/>
          <p:cNvSpPr/>
          <p:nvPr/>
        </p:nvSpPr>
        <p:spPr>
          <a:xfrm>
            <a:off x="640080" y="3840480"/>
            <a:ext cx="484632" cy="201168"/>
          </a:xfrm>
          <a:prstGeom prst="rect">
            <a:avLst/>
          </a:prstGeom>
          <a:solidFill>
            <a:srgbClr val="2C3E5C"/>
          </a:solidFill>
          <a:ln w="12700">
            <a:solidFill>
              <a:srgbClr val="2C3E5C"/>
            </a:solidFill>
            <a:prstDash val="solid"/>
          </a:ln>
        </p:spPr>
      </p:sp>
      <p:sp>
        <p:nvSpPr>
          <p:cNvPr id="5" name="progress B"/>
          <p:cNvSpPr/>
          <p:nvPr/>
        </p:nvSpPr>
        <p:spPr>
          <a:xfrm>
            <a:off x="1152144" y="3840480"/>
            <a:ext cx="1508760" cy="201168"/>
          </a:xfrm>
          <a:prstGeom prst="rect">
            <a:avLst/>
          </a:prstGeom>
          <a:solidFill>
            <a:srgbClr val="2C3E5C"/>
          </a:solidFill>
          <a:ln w="12700">
            <a:solidFill>
              <a:srgbClr val="2C3E5C"/>
            </a:solidFill>
            <a:prstDash val="solid"/>
          </a:ln>
        </p:spPr>
      </p:sp>
      <p:sp>
        <p:nvSpPr>
          <p:cNvPr id="6" name="progress C"/>
          <p:cNvSpPr/>
          <p:nvPr/>
        </p:nvSpPr>
        <p:spPr>
          <a:xfrm>
            <a:off x="2688336" y="3840480"/>
            <a:ext cx="996696" cy="201168"/>
          </a:xfrm>
          <a:prstGeom prst="rect">
            <a:avLst/>
          </a:prstGeom>
          <a:solidFill>
            <a:srgbClr val="2C3E5C"/>
          </a:solidFill>
          <a:ln w="12700">
            <a:solidFill>
              <a:srgbClr val="2C3E5C"/>
            </a:solidFill>
            <a:prstDash val="solid"/>
          </a:ln>
        </p:spPr>
      </p:sp>
      <p:sp>
        <p:nvSpPr>
          <p:cNvPr id="7" name="progress D"/>
          <p:cNvSpPr/>
          <p:nvPr/>
        </p:nvSpPr>
        <p:spPr>
          <a:xfrm>
            <a:off x="3712464" y="3840480"/>
            <a:ext cx="1252728" cy="201168"/>
          </a:xfrm>
          <a:prstGeom prst="rect">
            <a:avLst/>
          </a:prstGeom>
          <a:solidFill>
            <a:srgbClr val="2C3E5C"/>
          </a:solidFill>
          <a:ln w="12700">
            <a:solidFill>
              <a:srgbClr val="2C3E5C"/>
            </a:solidFill>
            <a:prstDash val="solid"/>
          </a:ln>
        </p:spPr>
      </p:sp>
      <p:sp>
        <p:nvSpPr>
          <p:cNvPr id="8" name="progress E"/>
          <p:cNvSpPr/>
          <p:nvPr/>
        </p:nvSpPr>
        <p:spPr>
          <a:xfrm>
            <a:off x="4992624" y="3840480"/>
            <a:ext cx="996696" cy="201168"/>
          </a:xfrm>
          <a:prstGeom prst="rect">
            <a:avLst/>
          </a:prstGeom>
          <a:solidFill>
            <a:srgbClr val="2C3E5C"/>
          </a:solidFill>
          <a:ln w="12700">
            <a:solidFill>
              <a:srgbClr val="2C3E5C"/>
            </a:solidFill>
            <a:prstDash val="solid"/>
          </a:ln>
        </p:spPr>
      </p:sp>
      <p:sp>
        <p:nvSpPr>
          <p:cNvPr id="9" name="progress F"/>
          <p:cNvSpPr/>
          <p:nvPr/>
        </p:nvSpPr>
        <p:spPr>
          <a:xfrm>
            <a:off x="6016752" y="3840480"/>
            <a:ext cx="996696" cy="201168"/>
          </a:xfrm>
          <a:prstGeom prst="rect">
            <a:avLst/>
          </a:prstGeom>
          <a:solidFill>
            <a:srgbClr val="FF4D2E"/>
          </a:solidFill>
          <a:ln w="12700">
            <a:solidFill>
              <a:srgbClr val="FF4D2E"/>
            </a:solidFill>
            <a:prstDash val="solid"/>
          </a:ln>
        </p:spPr>
      </p:sp>
      <p:sp>
        <p:nvSpPr>
          <p:cNvPr id="10" name="progress G"/>
          <p:cNvSpPr/>
          <p:nvPr/>
        </p:nvSpPr>
        <p:spPr>
          <a:xfrm>
            <a:off x="7040880" y="3840480"/>
            <a:ext cx="740664" cy="201168"/>
          </a:xfrm>
          <a:prstGeom prst="rect">
            <a:avLst/>
          </a:prstGeom>
          <a:solidFill>
            <a:srgbClr val="2C3E5C"/>
          </a:solidFill>
          <a:ln w="12700">
            <a:solidFill>
              <a:srgbClr val="2C3E5C"/>
            </a:solidFill>
            <a:prstDash val="solid"/>
          </a:ln>
        </p:spPr>
      </p:sp>
      <p:sp>
        <p:nvSpPr>
          <p:cNvPr id="11" name="progress H"/>
          <p:cNvSpPr/>
          <p:nvPr/>
        </p:nvSpPr>
        <p:spPr>
          <a:xfrm>
            <a:off x="7808976" y="3840480"/>
            <a:ext cx="484632" cy="201168"/>
          </a:xfrm>
          <a:prstGeom prst="rect">
            <a:avLst/>
          </a:prstGeom>
          <a:solidFill>
            <a:srgbClr val="2C3E5C"/>
          </a:solidFill>
          <a:ln w="12700">
            <a:solidFill>
              <a:srgbClr val="2C3E5C"/>
            </a:solidFill>
            <a:prstDash val="solid"/>
          </a:ln>
        </p:spPr>
      </p:sp>
      <p:sp>
        <p:nvSpPr>
          <p:cNvPr id="12" name="Text 10"/>
          <p:cNvSpPr txBox="1"/>
          <p:nvPr/>
        </p:nvSpPr>
        <p:spPr>
          <a:xfrm>
            <a:off x="640080" y="4114800"/>
            <a:ext cx="768096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Minutes 105–125 of 150</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The originals had real bugs; we fixed them</a:t>
            </a:r>
            <a:endParaRPr lang="en-US" sz="2800" dirty="0"/>
          </a:p>
        </p:txBody>
      </p:sp>
      <p:sp>
        <p:nvSpPr>
          <p:cNvPr id="3" name="Text 1"/>
          <p:cNvSpPr txBox="1"/>
          <p:nvPr/>
        </p:nvSpPr>
        <p:spPr>
          <a:xfrm>
            <a:off x="2743200" y="1325880"/>
            <a:ext cx="2743200" cy="274320"/>
          </a:xfrm>
          <a:prstGeom prst="rect">
            <a:avLst/>
          </a:prstGeom>
          <a:noFill/>
          <a:ln/>
        </p:spPr>
        <p:txBody>
          <a:bodyPr wrap="square" lIns="0" tIns="0" rIns="0" bIns="0" rtlCol="0" anchor="t"/>
          <a:lstStyle/>
          <a:p>
            <a:pPr indent="0" marL="0">
              <a:buNone/>
            </a:pPr>
            <a:r>
              <a:rPr lang="en-US" sz="1400" b="1" dirty="0">
                <a:solidFill>
                  <a:srgbClr val="B83A22"/>
                </a:solidFill>
                <a:latin typeface="Arial" pitchFamily="34" charset="0"/>
                <a:ea typeface="Arial" pitchFamily="34" charset="-122"/>
                <a:cs typeface="Arial" pitchFamily="34" charset="-120"/>
              </a:rPr>
              <a:t>FOUND</a:t>
            </a:r>
            <a:endParaRPr lang="en-US" sz="1400" dirty="0"/>
          </a:p>
        </p:txBody>
      </p:sp>
      <p:sp>
        <p:nvSpPr>
          <p:cNvPr id="4" name="Text 2"/>
          <p:cNvSpPr txBox="1"/>
          <p:nvPr/>
        </p:nvSpPr>
        <p:spPr>
          <a:xfrm>
            <a:off x="5852160" y="1325880"/>
            <a:ext cx="2743200" cy="274320"/>
          </a:xfrm>
          <a:prstGeom prst="rect">
            <a:avLst/>
          </a:prstGeom>
          <a:noFill/>
          <a:ln/>
        </p:spPr>
        <p:txBody>
          <a:bodyPr wrap="square" lIns="0" tIns="0" rIns="0" bIns="0" rtlCol="0" anchor="t"/>
          <a:lstStyle/>
          <a:p>
            <a:pPr indent="0" marL="0">
              <a:buNone/>
            </a:pPr>
            <a:r>
              <a:rPr lang="en-US" sz="1400" b="1" dirty="0">
                <a:solidFill>
                  <a:srgbClr val="008F7A"/>
                </a:solidFill>
                <a:latin typeface="Arial" pitchFamily="34" charset="0"/>
                <a:ea typeface="Arial" pitchFamily="34" charset="-122"/>
                <a:cs typeface="Arial" pitchFamily="34" charset="-120"/>
              </a:rPr>
              <a:t>NOW</a:t>
            </a:r>
            <a:endParaRPr lang="en-US" sz="1400" dirty="0"/>
          </a:p>
        </p:txBody>
      </p:sp>
      <p:sp>
        <p:nvSpPr>
          <p:cNvPr id="5" name="Text 3"/>
          <p:cNvSpPr txBox="1"/>
          <p:nvPr/>
        </p:nvSpPr>
        <p:spPr>
          <a:xfrm>
            <a:off x="457200" y="1645920"/>
            <a:ext cx="2194560" cy="411480"/>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spm_ref</a:t>
            </a:r>
            <a:endParaRPr lang="en-US" sz="1800" dirty="0"/>
          </a:p>
        </p:txBody>
      </p:sp>
      <p:sp>
        <p:nvSpPr>
          <p:cNvPr id="6" name="Text 4"/>
          <p:cNvSpPr txBox="1"/>
          <p:nvPr/>
        </p:nvSpPr>
        <p:spPr>
          <a:xfrm>
            <a:off x="2743200" y="1645920"/>
            <a:ext cx="3017520" cy="411480"/>
          </a:xfrm>
          <a:prstGeom prst="rect">
            <a:avLst/>
          </a:prstGeom>
          <a:noFill/>
          <a:ln/>
        </p:spPr>
        <p:txBody>
          <a:bodyPr wrap="square" lIns="0" tIns="0" rIns="0" bIns="0" rtlCol="0" anchor="ctr"/>
          <a:lstStyle/>
          <a:p>
            <a:pPr indent="0" marL="0">
              <a:buNone/>
            </a:pPr>
            <a:r>
              <a:rPr lang="en-US" sz="1800" dirty="0">
                <a:solidFill>
                  <a:srgbClr val="B83A22"/>
                </a:solidFill>
                <a:latin typeface="Arial" pitchFamily="34" charset="0"/>
                <a:ea typeface="Arial" pitchFamily="34" charset="-122"/>
                <a:cs typeface="Arial" pitchFamily="34" charset="-120"/>
              </a:rPr>
              <a:t>did not multiply</a:t>
            </a:r>
            <a:endParaRPr lang="en-US" sz="1800" dirty="0"/>
          </a:p>
        </p:txBody>
      </p:sp>
      <p:sp>
        <p:nvSpPr>
          <p:cNvPr id="7" name="Text 5"/>
          <p:cNvSpPr txBox="1"/>
          <p:nvPr/>
        </p:nvSpPr>
        <p:spPr>
          <a:xfrm>
            <a:off x="5852160" y="1645920"/>
            <a:ext cx="2834640" cy="411480"/>
          </a:xfrm>
          <a:prstGeom prst="rect">
            <a:avLst/>
          </a:prstGeom>
          <a:noFill/>
          <a:ln/>
        </p:spPr>
        <p:txBody>
          <a:bodyPr wrap="square" lIns="0" tIns="0" rIns="0" bIns="0" rtlCol="0" anchor="ctr"/>
          <a:lstStyle/>
          <a:p>
            <a:pPr indent="0" marL="0">
              <a:buNone/>
            </a:pPr>
            <a:r>
              <a:rPr lang="en-US" sz="1800" dirty="0">
                <a:solidFill>
                  <a:srgbClr val="008F7A"/>
                </a:solidFill>
                <a:latin typeface="Arial" pitchFamily="34" charset="0"/>
                <a:ea typeface="Arial" pitchFamily="34" charset="-122"/>
                <a:cs typeface="Arial" pitchFamily="34" charset="-120"/>
              </a:rPr>
              <a:t>rewritten, tested</a:t>
            </a:r>
            <a:endParaRPr lang="en-US" sz="1800" dirty="0"/>
          </a:p>
        </p:txBody>
      </p:sp>
      <p:sp>
        <p:nvSpPr>
          <p:cNvPr id="8" name="Text 6"/>
          <p:cNvSpPr txBox="1"/>
          <p:nvPr/>
        </p:nvSpPr>
        <p:spPr>
          <a:xfrm>
            <a:off x="457200" y="2121408"/>
            <a:ext cx="2194560" cy="411480"/>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aes128</a:t>
            </a:r>
            <a:endParaRPr lang="en-US" sz="1800" dirty="0"/>
          </a:p>
        </p:txBody>
      </p:sp>
      <p:sp>
        <p:nvSpPr>
          <p:cNvPr id="9" name="Text 7"/>
          <p:cNvSpPr txBox="1"/>
          <p:nvPr/>
        </p:nvSpPr>
        <p:spPr>
          <a:xfrm>
            <a:off x="2743200" y="2121408"/>
            <a:ext cx="3017520" cy="411480"/>
          </a:xfrm>
          <a:prstGeom prst="rect">
            <a:avLst/>
          </a:prstGeom>
          <a:noFill/>
          <a:ln/>
        </p:spPr>
        <p:txBody>
          <a:bodyPr wrap="square" lIns="0" tIns="0" rIns="0" bIns="0" rtlCol="0" anchor="ctr"/>
          <a:lstStyle/>
          <a:p>
            <a:pPr indent="0" marL="0">
              <a:buNone/>
            </a:pPr>
            <a:r>
              <a:rPr lang="en-US" sz="1800" dirty="0">
                <a:solidFill>
                  <a:srgbClr val="B83A22"/>
                </a:solidFill>
                <a:latin typeface="Arial" pitchFamily="34" charset="0"/>
                <a:ea typeface="Arial" pitchFamily="34" charset="-122"/>
                <a:cs typeface="Arial" pitchFamily="34" charset="-120"/>
              </a:rPr>
              <a:t>wrong ciphertext</a:t>
            </a:r>
            <a:endParaRPr lang="en-US" sz="1800" dirty="0"/>
          </a:p>
        </p:txBody>
      </p:sp>
      <p:sp>
        <p:nvSpPr>
          <p:cNvPr id="10" name="Text 8"/>
          <p:cNvSpPr txBox="1"/>
          <p:nvPr/>
        </p:nvSpPr>
        <p:spPr>
          <a:xfrm>
            <a:off x="5852160" y="2121408"/>
            <a:ext cx="2834640" cy="411480"/>
          </a:xfrm>
          <a:prstGeom prst="rect">
            <a:avLst/>
          </a:prstGeom>
          <a:noFill/>
          <a:ln/>
        </p:spPr>
        <p:txBody>
          <a:bodyPr wrap="square" lIns="0" tIns="0" rIns="0" bIns="0" rtlCol="0" anchor="ctr"/>
          <a:lstStyle/>
          <a:p>
            <a:pPr indent="0" marL="0">
              <a:buNone/>
            </a:pPr>
            <a:r>
              <a:rPr lang="en-US" sz="1800" dirty="0">
                <a:solidFill>
                  <a:srgbClr val="008F7A"/>
                </a:solidFill>
                <a:latin typeface="Arial" pitchFamily="34" charset="0"/>
                <a:ea typeface="Arial" pitchFamily="34" charset="-122"/>
                <a:cs typeface="Arial" pitchFamily="34" charset="-120"/>
              </a:rPr>
              <a:t>new core passes NIST</a:t>
            </a:r>
            <a:endParaRPr lang="en-US" sz="1800" dirty="0"/>
          </a:p>
        </p:txBody>
      </p:sp>
      <p:sp>
        <p:nvSpPr>
          <p:cNvPr id="11" name="Text 9"/>
          <p:cNvSpPr txBox="1"/>
          <p:nvPr/>
        </p:nvSpPr>
        <p:spPr>
          <a:xfrm>
            <a:off x="457200" y="2596896"/>
            <a:ext cx="2194560" cy="411480"/>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bnn_mnist</a:t>
            </a:r>
            <a:endParaRPr lang="en-US" sz="1800" dirty="0"/>
          </a:p>
        </p:txBody>
      </p:sp>
      <p:sp>
        <p:nvSpPr>
          <p:cNvPr id="12" name="Text 10"/>
          <p:cNvSpPr txBox="1"/>
          <p:nvPr/>
        </p:nvSpPr>
        <p:spPr>
          <a:xfrm>
            <a:off x="2743200" y="2596896"/>
            <a:ext cx="3017520" cy="411480"/>
          </a:xfrm>
          <a:prstGeom prst="rect">
            <a:avLst/>
          </a:prstGeom>
          <a:noFill/>
          <a:ln/>
        </p:spPr>
        <p:txBody>
          <a:bodyPr wrap="square" lIns="0" tIns="0" rIns="0" bIns="0" rtlCol="0" anchor="ctr"/>
          <a:lstStyle/>
          <a:p>
            <a:pPr indent="0" marL="0">
              <a:buNone/>
            </a:pPr>
            <a:r>
              <a:rPr lang="en-US" sz="1800" dirty="0">
                <a:solidFill>
                  <a:srgbClr val="B83A22"/>
                </a:solidFill>
                <a:latin typeface="Arial" pitchFamily="34" charset="0"/>
                <a:ea typeface="Arial" pitchFamily="34" charset="-122"/>
                <a:cs typeface="Arial" pitchFamily="34" charset="-120"/>
              </a:rPr>
              <a:t>random weights</a:t>
            </a:r>
            <a:endParaRPr lang="en-US" sz="1800" dirty="0"/>
          </a:p>
        </p:txBody>
      </p:sp>
      <p:sp>
        <p:nvSpPr>
          <p:cNvPr id="13" name="Text 11"/>
          <p:cNvSpPr txBox="1"/>
          <p:nvPr/>
        </p:nvSpPr>
        <p:spPr>
          <a:xfrm>
            <a:off x="5852160" y="2596896"/>
            <a:ext cx="2834640" cy="411480"/>
          </a:xfrm>
          <a:prstGeom prst="rect">
            <a:avLst/>
          </a:prstGeom>
          <a:noFill/>
          <a:ln/>
        </p:spPr>
        <p:txBody>
          <a:bodyPr wrap="square" lIns="0" tIns="0" rIns="0" bIns="0" rtlCol="0" anchor="ctr"/>
          <a:lstStyle/>
          <a:p>
            <a:pPr indent="0" marL="0">
              <a:buNone/>
            </a:pPr>
            <a:r>
              <a:rPr lang="en-US" sz="1800" dirty="0">
                <a:solidFill>
                  <a:srgbClr val="008F7A"/>
                </a:solidFill>
                <a:latin typeface="Arial" pitchFamily="34" charset="0"/>
                <a:ea typeface="Arial" pitchFamily="34" charset="-122"/>
                <a:cs typeface="Arial" pitchFamily="34" charset="-120"/>
              </a:rPr>
              <a:t>trained, 90.10%</a:t>
            </a:r>
            <a:endParaRPr lang="en-US" sz="1800" dirty="0"/>
          </a:p>
        </p:txBody>
      </p:sp>
      <p:sp>
        <p:nvSpPr>
          <p:cNvPr id="14" name="Text 12"/>
          <p:cNvSpPr txBox="1"/>
          <p:nvPr/>
        </p:nvSpPr>
        <p:spPr>
          <a:xfrm>
            <a:off x="457200" y="3072384"/>
            <a:ext cx="2194560" cy="411480"/>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fcnn_mnist</a:t>
            </a:r>
            <a:endParaRPr lang="en-US" sz="1800" dirty="0"/>
          </a:p>
        </p:txBody>
      </p:sp>
      <p:sp>
        <p:nvSpPr>
          <p:cNvPr id="15" name="Text 13"/>
          <p:cNvSpPr txBox="1"/>
          <p:nvPr/>
        </p:nvSpPr>
        <p:spPr>
          <a:xfrm>
            <a:off x="2743200" y="3072384"/>
            <a:ext cx="3017520" cy="411480"/>
          </a:xfrm>
          <a:prstGeom prst="rect">
            <a:avLst/>
          </a:prstGeom>
          <a:noFill/>
          <a:ln/>
        </p:spPr>
        <p:txBody>
          <a:bodyPr wrap="square" lIns="0" tIns="0" rIns="0" bIns="0" rtlCol="0" anchor="ctr"/>
          <a:lstStyle/>
          <a:p>
            <a:pPr indent="0" marL="0">
              <a:buNone/>
            </a:pPr>
            <a:r>
              <a:rPr lang="en-US" sz="1800" dirty="0">
                <a:solidFill>
                  <a:srgbClr val="B83A22"/>
                </a:solidFill>
                <a:latin typeface="Arial" pitchFamily="34" charset="0"/>
                <a:ea typeface="Arial" pitchFamily="34" charset="-122"/>
                <a:cs typeface="Arial" pitchFamily="34" charset="-120"/>
              </a:rPr>
              <a:t>accuracy never tested</a:t>
            </a:r>
            <a:endParaRPr lang="en-US" sz="1800" dirty="0"/>
          </a:p>
        </p:txBody>
      </p:sp>
      <p:sp>
        <p:nvSpPr>
          <p:cNvPr id="16" name="Text 14"/>
          <p:cNvSpPr txBox="1"/>
          <p:nvPr/>
        </p:nvSpPr>
        <p:spPr>
          <a:xfrm>
            <a:off x="5852160" y="3072384"/>
            <a:ext cx="2834640" cy="411480"/>
          </a:xfrm>
          <a:prstGeom prst="rect">
            <a:avLst/>
          </a:prstGeom>
          <a:noFill/>
          <a:ln/>
        </p:spPr>
        <p:txBody>
          <a:bodyPr wrap="square" lIns="0" tIns="0" rIns="0" bIns="0" rtlCol="0" anchor="ctr"/>
          <a:lstStyle/>
          <a:p>
            <a:pPr indent="0" marL="0">
              <a:buNone/>
            </a:pPr>
            <a:r>
              <a:rPr lang="en-US" sz="1800" dirty="0">
                <a:solidFill>
                  <a:srgbClr val="008F7A"/>
                </a:solidFill>
                <a:latin typeface="Arial" pitchFamily="34" charset="0"/>
                <a:ea typeface="Arial" pitchFamily="34" charset="-122"/>
                <a:cs typeface="Arial" pitchFamily="34" charset="-120"/>
              </a:rPr>
              <a:t>91.72% measured</a:t>
            </a:r>
            <a:endParaRPr lang="en-US" sz="1800" dirty="0"/>
          </a:p>
        </p:txBody>
      </p:sp>
      <p:sp>
        <p:nvSpPr>
          <p:cNvPr id="17" name="Text 15"/>
          <p:cNvSpPr txBox="1"/>
          <p:nvPr/>
        </p:nvSpPr>
        <p:spPr>
          <a:xfrm>
            <a:off x="457200" y="3547872"/>
            <a:ext cx="2194560" cy="411480"/>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Six small tests</a:t>
            </a:r>
            <a:endParaRPr lang="en-US" sz="1800" dirty="0"/>
          </a:p>
        </p:txBody>
      </p:sp>
      <p:sp>
        <p:nvSpPr>
          <p:cNvPr id="18" name="Text 16"/>
          <p:cNvSpPr txBox="1"/>
          <p:nvPr/>
        </p:nvSpPr>
        <p:spPr>
          <a:xfrm>
            <a:off x="2743200" y="3547872"/>
            <a:ext cx="3017520" cy="411480"/>
          </a:xfrm>
          <a:prstGeom prst="rect">
            <a:avLst/>
          </a:prstGeom>
          <a:noFill/>
          <a:ln/>
        </p:spPr>
        <p:txBody>
          <a:bodyPr wrap="square" lIns="0" tIns="0" rIns="0" bIns="0" rtlCol="0" anchor="ctr"/>
          <a:lstStyle/>
          <a:p>
            <a:pPr indent="0" marL="0">
              <a:buNone/>
            </a:pPr>
            <a:r>
              <a:rPr lang="en-US" sz="1800" dirty="0">
                <a:solidFill>
                  <a:srgbClr val="B83A22"/>
                </a:solidFill>
                <a:latin typeface="Arial" pitchFamily="34" charset="0"/>
                <a:ea typeface="Arial" pitchFamily="34" charset="-122"/>
                <a:cs typeface="Arial" pitchFamily="34" charset="-120"/>
              </a:rPr>
              <a:t>could not fail</a:t>
            </a:r>
            <a:endParaRPr lang="en-US" sz="1800" dirty="0"/>
          </a:p>
        </p:txBody>
      </p:sp>
      <p:sp>
        <p:nvSpPr>
          <p:cNvPr id="19" name="Text 17"/>
          <p:cNvSpPr txBox="1"/>
          <p:nvPr/>
        </p:nvSpPr>
        <p:spPr>
          <a:xfrm>
            <a:off x="5852160" y="3547872"/>
            <a:ext cx="2834640" cy="411480"/>
          </a:xfrm>
          <a:prstGeom prst="rect">
            <a:avLst/>
          </a:prstGeom>
          <a:noFill/>
          <a:ln/>
        </p:spPr>
        <p:txBody>
          <a:bodyPr wrap="square" lIns="0" tIns="0" rIns="0" bIns="0" rtlCol="0" anchor="ctr"/>
          <a:lstStyle/>
          <a:p>
            <a:pPr indent="0" marL="0">
              <a:buNone/>
            </a:pPr>
            <a:r>
              <a:rPr lang="en-US" sz="1800" dirty="0">
                <a:solidFill>
                  <a:srgbClr val="008F7A"/>
                </a:solidFill>
                <a:latin typeface="Arial" pitchFamily="34" charset="0"/>
                <a:ea typeface="Arial" pitchFamily="34" charset="-122"/>
                <a:cs typeface="Arial" pitchFamily="34" charset="-120"/>
              </a:rPr>
              <a:t>now exit non-zero</a:t>
            </a:r>
            <a:endParaRPr lang="en-US" sz="1800" dirty="0"/>
          </a:p>
        </p:txBody>
      </p:sp>
      <p:sp>
        <p:nvSpPr>
          <p:cNvPr id="20" name="Text 18"/>
          <p:cNvSpPr txBox="1"/>
          <p:nvPr/>
        </p:nvSpPr>
        <p:spPr>
          <a:xfrm>
            <a:off x="457200" y="4023360"/>
            <a:ext cx="2194560" cy="411480"/>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cnn_fp16</a:t>
            </a:r>
            <a:endParaRPr lang="en-US" sz="1800" dirty="0"/>
          </a:p>
        </p:txBody>
      </p:sp>
      <p:sp>
        <p:nvSpPr>
          <p:cNvPr id="21" name="Text 19"/>
          <p:cNvSpPr txBox="1"/>
          <p:nvPr/>
        </p:nvSpPr>
        <p:spPr>
          <a:xfrm>
            <a:off x="2743200" y="4023360"/>
            <a:ext cx="3017520" cy="411480"/>
          </a:xfrm>
          <a:prstGeom prst="rect">
            <a:avLst/>
          </a:prstGeom>
          <a:noFill/>
          <a:ln/>
        </p:spPr>
        <p:txBody>
          <a:bodyPr wrap="square" lIns="0" tIns="0" rIns="0" bIns="0" rtlCol="0" anchor="ctr"/>
          <a:lstStyle/>
          <a:p>
            <a:pPr indent="0" marL="0">
              <a:buNone/>
            </a:pPr>
            <a:r>
              <a:rPr lang="en-US" sz="1800" dirty="0">
                <a:solidFill>
                  <a:srgbClr val="B83A22"/>
                </a:solidFill>
                <a:latin typeface="Arial" pitchFamily="34" charset="0"/>
                <a:ea typeface="Arial" pitchFamily="34" charset="-122"/>
                <a:cs typeface="Arial" pitchFamily="34" charset="-120"/>
              </a:rPr>
              <a:t>fails slow-corner timing</a:t>
            </a:r>
            <a:endParaRPr lang="en-US" sz="1800" dirty="0"/>
          </a:p>
        </p:txBody>
      </p:sp>
      <p:sp>
        <p:nvSpPr>
          <p:cNvPr id="22" name="Text 20"/>
          <p:cNvSpPr txBox="1"/>
          <p:nvPr/>
        </p:nvSpPr>
        <p:spPr>
          <a:xfrm>
            <a:off x="5852160" y="4023360"/>
            <a:ext cx="2834640" cy="411480"/>
          </a:xfrm>
          <a:prstGeom prst="rect">
            <a:avLst/>
          </a:prstGeom>
          <a:noFill/>
          <a:ln/>
        </p:spPr>
        <p:txBody>
          <a:bodyPr wrap="square" lIns="0" tIns="0" rIns="0" bIns="0" rtlCol="0" anchor="ctr"/>
          <a:lstStyle/>
          <a:p>
            <a:pPr indent="0" marL="0">
              <a:buNone/>
            </a:pPr>
            <a:r>
              <a:rPr lang="en-US" sz="1800" dirty="0">
                <a:solidFill>
                  <a:srgbClr val="008F7A"/>
                </a:solidFill>
                <a:latin typeface="Arial" pitchFamily="34" charset="0"/>
                <a:ea typeface="Arial" pitchFamily="34" charset="-122"/>
                <a:cs typeface="Arial" pitchFamily="34" charset="-120"/>
              </a:rPr>
              <a:t>kept as reference</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 clean layout of an empty design</a:t>
            </a:r>
            <a:endParaRPr lang="en-US" sz="2800" dirty="0"/>
          </a:p>
        </p:txBody>
      </p:sp>
      <p:sp>
        <p:nvSpPr>
          <p:cNvPr id="3" name="pill PASSED"/>
          <p:cNvSpPr/>
          <p:nvPr/>
        </p:nvSpPr>
        <p:spPr>
          <a:xfrm>
            <a:off x="457200" y="1325880"/>
            <a:ext cx="1097280" cy="329184"/>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325880"/>
            <a:ext cx="1097280" cy="329184"/>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PASSED</a:t>
            </a:r>
            <a:endParaRPr lang="en-US" sz="1200" dirty="0"/>
          </a:p>
        </p:txBody>
      </p:sp>
      <p:sp>
        <p:nvSpPr>
          <p:cNvPr id="5" name="card"/>
          <p:cNvSpPr/>
          <p:nvPr/>
        </p:nvSpPr>
        <p:spPr>
          <a:xfrm>
            <a:off x="457200" y="1783080"/>
            <a:ext cx="1965960" cy="822960"/>
          </a:xfrm>
          <a:prstGeom prst="roundRect">
            <a:avLst>
              <a:gd name="adj" fmla="val 8889"/>
            </a:avLst>
          </a:prstGeom>
          <a:solidFill>
            <a:srgbClr val="E1F0ED"/>
          </a:solidFill>
          <a:ln w="9525">
            <a:solidFill>
              <a:srgbClr val="008F7A"/>
            </a:solidFill>
            <a:prstDash val="solid"/>
          </a:ln>
        </p:spPr>
      </p:sp>
      <p:sp>
        <p:nvSpPr>
          <p:cNvPr id="6" name="Text 4"/>
          <p:cNvSpPr txBox="1"/>
          <p:nvPr/>
        </p:nvSpPr>
        <p:spPr>
          <a:xfrm>
            <a:off x="457200" y="1783080"/>
            <a:ext cx="1965960" cy="822960"/>
          </a:xfrm>
          <a:prstGeom prst="rect">
            <a:avLst/>
          </a:prstGeom>
          <a:noFill/>
          <a:ln/>
        </p:spPr>
        <p:txBody>
          <a:bodyPr wrap="square" lIns="0" tIns="0" rIns="0" bIns="0" rtlCol="0" anchor="ctr"/>
          <a:lstStyle/>
          <a:p>
            <a:pPr algn="ctr" indent="0" marL="0">
              <a:buNone/>
            </a:pPr>
            <a:r>
              <a:rPr lang="en-US" sz="1800" b="1" dirty="0">
                <a:solidFill>
                  <a:srgbClr val="008F7A"/>
                </a:solidFill>
                <a:latin typeface="Arial" pitchFamily="34" charset="0"/>
                <a:ea typeface="Arial" pitchFamily="34" charset="-122"/>
                <a:cs typeface="Arial" pitchFamily="34" charset="-120"/>
              </a:rPr>
              <a:t>RTL simulation</a:t>
            </a:r>
            <a:endParaRPr lang="en-US" sz="1800" dirty="0"/>
          </a:p>
        </p:txBody>
      </p:sp>
      <p:sp>
        <p:nvSpPr>
          <p:cNvPr id="7" name="card"/>
          <p:cNvSpPr/>
          <p:nvPr/>
        </p:nvSpPr>
        <p:spPr>
          <a:xfrm>
            <a:off x="2542032" y="1783080"/>
            <a:ext cx="1965960" cy="822960"/>
          </a:xfrm>
          <a:prstGeom prst="roundRect">
            <a:avLst>
              <a:gd name="adj" fmla="val 8889"/>
            </a:avLst>
          </a:prstGeom>
          <a:solidFill>
            <a:srgbClr val="E1F0ED"/>
          </a:solidFill>
          <a:ln w="9525">
            <a:solidFill>
              <a:srgbClr val="008F7A"/>
            </a:solidFill>
            <a:prstDash val="solid"/>
          </a:ln>
        </p:spPr>
      </p:sp>
      <p:sp>
        <p:nvSpPr>
          <p:cNvPr id="8" name="Text 6"/>
          <p:cNvSpPr txBox="1"/>
          <p:nvPr/>
        </p:nvSpPr>
        <p:spPr>
          <a:xfrm>
            <a:off x="2542032" y="1783080"/>
            <a:ext cx="1965960" cy="822960"/>
          </a:xfrm>
          <a:prstGeom prst="rect">
            <a:avLst/>
          </a:prstGeom>
          <a:noFill/>
          <a:ln/>
        </p:spPr>
        <p:txBody>
          <a:bodyPr wrap="square" lIns="0" tIns="0" rIns="0" bIns="0" rtlCol="0" anchor="ctr"/>
          <a:lstStyle/>
          <a:p>
            <a:pPr algn="ctr" indent="0" marL="0">
              <a:buNone/>
            </a:pPr>
            <a:r>
              <a:rPr lang="en-US" sz="1800" b="1" dirty="0">
                <a:solidFill>
                  <a:srgbClr val="008F7A"/>
                </a:solidFill>
                <a:latin typeface="Arial" pitchFamily="34" charset="0"/>
                <a:ea typeface="Arial" pitchFamily="34" charset="-122"/>
                <a:cs typeface="Arial" pitchFamily="34" charset="-120"/>
              </a:rPr>
              <a:t>DRC</a:t>
            </a:r>
            <a:endParaRPr lang="en-US" sz="1800" dirty="0"/>
          </a:p>
        </p:txBody>
      </p:sp>
      <p:sp>
        <p:nvSpPr>
          <p:cNvPr id="9" name="card"/>
          <p:cNvSpPr/>
          <p:nvPr/>
        </p:nvSpPr>
        <p:spPr>
          <a:xfrm>
            <a:off x="4626864" y="1783080"/>
            <a:ext cx="1965960" cy="822960"/>
          </a:xfrm>
          <a:prstGeom prst="roundRect">
            <a:avLst>
              <a:gd name="adj" fmla="val 8889"/>
            </a:avLst>
          </a:prstGeom>
          <a:solidFill>
            <a:srgbClr val="E1F0ED"/>
          </a:solidFill>
          <a:ln w="9525">
            <a:solidFill>
              <a:srgbClr val="008F7A"/>
            </a:solidFill>
            <a:prstDash val="solid"/>
          </a:ln>
        </p:spPr>
      </p:sp>
      <p:sp>
        <p:nvSpPr>
          <p:cNvPr id="10" name="Text 8"/>
          <p:cNvSpPr txBox="1"/>
          <p:nvPr/>
        </p:nvSpPr>
        <p:spPr>
          <a:xfrm>
            <a:off x="4626864" y="1783080"/>
            <a:ext cx="1965960" cy="822960"/>
          </a:xfrm>
          <a:prstGeom prst="rect">
            <a:avLst/>
          </a:prstGeom>
          <a:noFill/>
          <a:ln/>
        </p:spPr>
        <p:txBody>
          <a:bodyPr wrap="square" lIns="0" tIns="0" rIns="0" bIns="0" rtlCol="0" anchor="ctr"/>
          <a:lstStyle/>
          <a:p>
            <a:pPr algn="ctr" indent="0" marL="0">
              <a:buNone/>
            </a:pPr>
            <a:r>
              <a:rPr lang="en-US" sz="1800" b="1" dirty="0">
                <a:solidFill>
                  <a:srgbClr val="008F7A"/>
                </a:solidFill>
                <a:latin typeface="Arial" pitchFamily="34" charset="0"/>
                <a:ea typeface="Arial" pitchFamily="34" charset="-122"/>
                <a:cs typeface="Arial" pitchFamily="34" charset="-120"/>
              </a:rPr>
              <a:t>LVS</a:t>
            </a:r>
            <a:endParaRPr lang="en-US" sz="1800" dirty="0"/>
          </a:p>
        </p:txBody>
      </p:sp>
      <p:sp>
        <p:nvSpPr>
          <p:cNvPr id="11" name="card"/>
          <p:cNvSpPr/>
          <p:nvPr/>
        </p:nvSpPr>
        <p:spPr>
          <a:xfrm>
            <a:off x="6711696" y="1783080"/>
            <a:ext cx="1965960" cy="822960"/>
          </a:xfrm>
          <a:prstGeom prst="roundRect">
            <a:avLst>
              <a:gd name="adj" fmla="val 8889"/>
            </a:avLst>
          </a:prstGeom>
          <a:solidFill>
            <a:srgbClr val="E1F0ED"/>
          </a:solidFill>
          <a:ln w="9525">
            <a:solidFill>
              <a:srgbClr val="008F7A"/>
            </a:solidFill>
            <a:prstDash val="solid"/>
          </a:ln>
        </p:spPr>
      </p:sp>
      <p:sp>
        <p:nvSpPr>
          <p:cNvPr id="12" name="Text 10"/>
          <p:cNvSpPr txBox="1"/>
          <p:nvPr/>
        </p:nvSpPr>
        <p:spPr>
          <a:xfrm>
            <a:off x="6711696" y="1783080"/>
            <a:ext cx="1965960" cy="822960"/>
          </a:xfrm>
          <a:prstGeom prst="rect">
            <a:avLst/>
          </a:prstGeom>
          <a:noFill/>
          <a:ln/>
        </p:spPr>
        <p:txBody>
          <a:bodyPr wrap="square" lIns="0" tIns="0" rIns="0" bIns="0" rtlCol="0" anchor="ctr"/>
          <a:lstStyle/>
          <a:p>
            <a:pPr algn="ctr" indent="0" marL="0">
              <a:buNone/>
            </a:pPr>
            <a:r>
              <a:rPr lang="en-US" sz="1800" b="1" dirty="0">
                <a:solidFill>
                  <a:srgbClr val="008F7A"/>
                </a:solidFill>
                <a:latin typeface="Arial" pitchFamily="34" charset="0"/>
                <a:ea typeface="Arial" pitchFamily="34" charset="-122"/>
                <a:cs typeface="Arial" pitchFamily="34" charset="-120"/>
              </a:rPr>
              <a:t>Timing</a:t>
            </a:r>
            <a:endParaRPr lang="en-US" sz="1800" dirty="0"/>
          </a:p>
        </p:txBody>
      </p:sp>
      <p:sp>
        <p:nvSpPr>
          <p:cNvPr id="13" name="pill INSIDE"/>
          <p:cNvSpPr/>
          <p:nvPr/>
        </p:nvSpPr>
        <p:spPr>
          <a:xfrm>
            <a:off x="457200" y="2834640"/>
            <a:ext cx="1097280" cy="329184"/>
          </a:xfrm>
          <a:prstGeom prst="roundRect">
            <a:avLst>
              <a:gd name="adj" fmla="val 50000"/>
            </a:avLst>
          </a:prstGeom>
          <a:solidFill>
            <a:srgbClr val="FFE9E4"/>
          </a:solidFill>
          <a:ln w="6350">
            <a:solidFill>
              <a:srgbClr val="FFE9E4"/>
            </a:solidFill>
            <a:prstDash val="solid"/>
          </a:ln>
        </p:spPr>
      </p:sp>
      <p:sp>
        <p:nvSpPr>
          <p:cNvPr id="14" name="Text 12"/>
          <p:cNvSpPr txBox="1"/>
          <p:nvPr/>
        </p:nvSpPr>
        <p:spPr>
          <a:xfrm>
            <a:off x="457200" y="2834640"/>
            <a:ext cx="1097280" cy="329184"/>
          </a:xfrm>
          <a:prstGeom prst="rect">
            <a:avLst/>
          </a:prstGeom>
          <a:noFill/>
          <a:ln/>
        </p:spPr>
        <p:txBody>
          <a:bodyPr wrap="square" lIns="0" tIns="0" rIns="0" bIns="0" rtlCol="0" anchor="ctr"/>
          <a:lstStyle/>
          <a:p>
            <a:pPr algn="ctr" indent="0" marL="0">
              <a:buNone/>
            </a:pPr>
            <a:r>
              <a:rPr lang="en-US" sz="1200" b="1" dirty="0">
                <a:solidFill>
                  <a:srgbClr val="B83A22"/>
                </a:solidFill>
                <a:latin typeface="Arial" pitchFamily="34" charset="0"/>
                <a:ea typeface="Arial" pitchFamily="34" charset="-122"/>
                <a:cs typeface="Arial" pitchFamily="34" charset="-120"/>
              </a:rPr>
              <a:t>INSIDE</a:t>
            </a:r>
            <a:endParaRPr lang="en-US" sz="1200" dirty="0"/>
          </a:p>
        </p:txBody>
      </p:sp>
      <p:sp>
        <p:nvSpPr>
          <p:cNvPr id="15" name="card"/>
          <p:cNvSpPr/>
          <p:nvPr/>
        </p:nvSpPr>
        <p:spPr>
          <a:xfrm>
            <a:off x="457200" y="3291840"/>
            <a:ext cx="8229600" cy="822960"/>
          </a:xfrm>
          <a:prstGeom prst="roundRect">
            <a:avLst>
              <a:gd name="adj" fmla="val 8889"/>
            </a:avLst>
          </a:prstGeom>
          <a:solidFill>
            <a:srgbClr val="FFE9E4"/>
          </a:solidFill>
          <a:ln w="9525">
            <a:solidFill>
              <a:srgbClr val="B83A22"/>
            </a:solidFill>
            <a:prstDash val="solid"/>
          </a:ln>
        </p:spPr>
      </p:sp>
      <p:sp>
        <p:nvSpPr>
          <p:cNvPr id="16" name="Text 14"/>
          <p:cNvSpPr txBox="1"/>
          <p:nvPr/>
        </p:nvSpPr>
        <p:spPr>
          <a:xfrm>
            <a:off x="457200" y="3291840"/>
            <a:ext cx="8229600" cy="822960"/>
          </a:xfrm>
          <a:prstGeom prst="rect">
            <a:avLst/>
          </a:prstGeom>
          <a:noFill/>
          <a:ln/>
        </p:spPr>
        <p:txBody>
          <a:bodyPr wrap="square" lIns="0" tIns="0" rIns="0" bIns="0" rtlCol="0" anchor="ctr"/>
          <a:lstStyle/>
          <a:p>
            <a:pPr algn="ctr" indent="0" marL="0">
              <a:buNone/>
            </a:pPr>
            <a:r>
              <a:rPr lang="en-US" sz="2400" b="1" dirty="0">
                <a:solidFill>
                  <a:srgbClr val="B83A22"/>
                </a:solidFill>
                <a:latin typeface="Arial" pitchFamily="34" charset="0"/>
                <a:ea typeface="Arial" pitchFamily="34" charset="-122"/>
                <a:cs typeface="Arial" pitchFamily="34" charset="-120"/>
              </a:rPr>
              <a:t>almost nothing: the logic had been removed</a:t>
            </a:r>
            <a:endParaRPr lang="en-US" sz="2400" dirty="0"/>
          </a:p>
        </p:txBody>
      </p:sp>
      <p:sp>
        <p:nvSpPr>
          <p:cNvPr id="17" name="Text 15"/>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Found by an audit on 2026-10-05, in counter_wb and ring_osc.</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counter_wb kept 1 flip-flop of about 67</a:t>
            </a:r>
            <a:endParaRPr lang="en-US" sz="2800" dirty="0"/>
          </a:p>
        </p:txBody>
      </p:sp>
      <p:sp>
        <p:nvSpPr>
          <p:cNvPr id="3" name="Text 1"/>
          <p:cNvSpPr txBox="1"/>
          <p:nvPr/>
        </p:nvSpPr>
        <p:spPr>
          <a:xfrm>
            <a:off x="457200" y="1554480"/>
            <a:ext cx="1371600" cy="64008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Original</a:t>
            </a:r>
            <a:endParaRPr lang="en-US" sz="2000" dirty="0"/>
          </a:p>
        </p:txBody>
      </p:sp>
      <p:sp>
        <p:nvSpPr>
          <p:cNvPr id="4" name="bar Original"/>
          <p:cNvSpPr/>
          <p:nvPr/>
        </p:nvSpPr>
        <p:spPr>
          <a:xfrm>
            <a:off x="1920240" y="1600200"/>
            <a:ext cx="109728" cy="548640"/>
          </a:xfrm>
          <a:prstGeom prst="rect">
            <a:avLst/>
          </a:prstGeom>
          <a:solidFill>
            <a:srgbClr val="B83A22"/>
          </a:solidFill>
          <a:ln w="12700">
            <a:solidFill>
              <a:srgbClr val="B83A22"/>
            </a:solidFill>
            <a:prstDash val="solid"/>
          </a:ln>
        </p:spPr>
      </p:sp>
      <p:sp>
        <p:nvSpPr>
          <p:cNvPr id="5" name="Text 3"/>
          <p:cNvSpPr txBox="1"/>
          <p:nvPr/>
        </p:nvSpPr>
        <p:spPr>
          <a:xfrm>
            <a:off x="2167128" y="1554480"/>
            <a:ext cx="1097280" cy="640080"/>
          </a:xfrm>
          <a:prstGeom prst="rect">
            <a:avLst/>
          </a:prstGeom>
          <a:noFill/>
          <a:ln/>
        </p:spPr>
        <p:txBody>
          <a:bodyPr wrap="square" lIns="0" tIns="0" rIns="0" bIns="0" rtlCol="0" anchor="ctr"/>
          <a:lstStyle/>
          <a:p>
            <a:pPr indent="0" marL="0">
              <a:buNone/>
            </a:pPr>
            <a:r>
              <a:rPr lang="en-US" sz="2400" b="1" dirty="0">
                <a:solidFill>
                  <a:srgbClr val="B83A22"/>
                </a:solidFill>
                <a:latin typeface="Arial" pitchFamily="34" charset="0"/>
                <a:ea typeface="Arial" pitchFamily="34" charset="-122"/>
                <a:cs typeface="Arial" pitchFamily="34" charset="-120"/>
              </a:rPr>
              <a:t>1</a:t>
            </a:r>
            <a:endParaRPr lang="en-US" sz="2400" dirty="0"/>
          </a:p>
        </p:txBody>
      </p:sp>
      <p:sp>
        <p:nvSpPr>
          <p:cNvPr id="6" name="Text 4"/>
          <p:cNvSpPr txBox="1"/>
          <p:nvPr/>
        </p:nvSpPr>
        <p:spPr>
          <a:xfrm>
            <a:off x="457200" y="2468880"/>
            <a:ext cx="1371600" cy="64008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Fixed</a:t>
            </a:r>
            <a:endParaRPr lang="en-US" sz="2000" dirty="0"/>
          </a:p>
        </p:txBody>
      </p:sp>
      <p:sp>
        <p:nvSpPr>
          <p:cNvPr id="7" name="bar Fixed"/>
          <p:cNvSpPr/>
          <p:nvPr/>
        </p:nvSpPr>
        <p:spPr>
          <a:xfrm>
            <a:off x="1920240" y="2514600"/>
            <a:ext cx="5852160" cy="548640"/>
          </a:xfrm>
          <a:prstGeom prst="rect">
            <a:avLst/>
          </a:prstGeom>
          <a:solidFill>
            <a:srgbClr val="008F7A"/>
          </a:solidFill>
          <a:ln w="12700">
            <a:solidFill>
              <a:srgbClr val="008F7A"/>
            </a:solidFill>
            <a:prstDash val="solid"/>
          </a:ln>
        </p:spPr>
      </p:sp>
      <p:sp>
        <p:nvSpPr>
          <p:cNvPr id="8" name="Text 6"/>
          <p:cNvSpPr txBox="1"/>
          <p:nvPr/>
        </p:nvSpPr>
        <p:spPr>
          <a:xfrm>
            <a:off x="7909560" y="2468880"/>
            <a:ext cx="1097280" cy="640080"/>
          </a:xfrm>
          <a:prstGeom prst="rect">
            <a:avLst/>
          </a:prstGeom>
          <a:noFill/>
          <a:ln/>
        </p:spPr>
        <p:txBody>
          <a:bodyPr wrap="square" lIns="0" tIns="0" rIns="0" bIns="0" rtlCol="0" anchor="ctr"/>
          <a:lstStyle/>
          <a:p>
            <a:pPr indent="0" marL="0">
              <a:buNone/>
            </a:pPr>
            <a:r>
              <a:rPr lang="en-US" sz="2400" b="1" dirty="0">
                <a:solidFill>
                  <a:srgbClr val="008F7A"/>
                </a:solidFill>
                <a:latin typeface="Arial" pitchFamily="34" charset="0"/>
                <a:ea typeface="Arial" pitchFamily="34" charset="-122"/>
                <a:cs typeface="Arial" pitchFamily="34" charset="-120"/>
              </a:rPr>
              <a:t>67</a:t>
            </a:r>
            <a:endParaRPr lang="en-US" sz="2400" dirty="0"/>
          </a:p>
        </p:txBody>
      </p:sp>
      <p:sp>
        <p:nvSpPr>
          <p:cNvPr id="9" name="Text 7"/>
          <p:cNvSpPr txBox="1"/>
          <p:nvPr/>
        </p:nvSpPr>
        <p:spPr>
          <a:xfrm>
            <a:off x="457200" y="3429000"/>
            <a:ext cx="8229600" cy="32004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flip-flops that survived synthesis</a:t>
            </a:r>
            <a:endParaRPr lang="en-US" sz="1600" dirty="0"/>
          </a:p>
        </p:txBody>
      </p:sp>
      <p:sp>
        <p:nvSpPr>
          <p:cNvPr id="10" name="Text 8"/>
          <p:cNvSpPr txBox="1"/>
          <p:nvPr/>
        </p:nvSpPr>
        <p:spPr>
          <a:xfrm>
            <a:off x="457200" y="3840480"/>
            <a:ext cx="822960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Cause: two always blocks drove the same registers.</a:t>
            </a:r>
            <a:endParaRPr lang="en-US" sz="1800" dirty="0"/>
          </a:p>
        </p:txBody>
      </p:sp>
      <p:sp>
        <p:nvSpPr>
          <p:cNvPr id="11" name="Text 9"/>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Now 1,214 standard cells (was 750).</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ring_osc lost its entire ring of inverters</a:t>
            </a:r>
            <a:endParaRPr lang="en-US" sz="2800" dirty="0"/>
          </a:p>
        </p:txBody>
      </p:sp>
      <p:sp>
        <p:nvSpPr>
          <p:cNvPr id="3" name="block 31 inverting"/>
          <p:cNvSpPr/>
          <p:nvPr/>
        </p:nvSpPr>
        <p:spPr>
          <a:xfrm>
            <a:off x="457200" y="1554480"/>
            <a:ext cx="2438400" cy="1097280"/>
          </a:xfrm>
          <a:prstGeom prst="roundRect">
            <a:avLst>
              <a:gd name="adj" fmla="val 5000"/>
            </a:avLst>
          </a:prstGeom>
          <a:solidFill>
            <a:srgbClr val="E1F0ED"/>
          </a:solidFill>
          <a:ln w="12700">
            <a:solidFill>
              <a:srgbClr val="008F7A"/>
            </a:solidFill>
            <a:prstDash val="solid"/>
          </a:ln>
        </p:spPr>
      </p:sp>
      <p:sp>
        <p:nvSpPr>
          <p:cNvPr id="4" name="Text 2"/>
          <p:cNvSpPr txBox="1"/>
          <p:nvPr/>
        </p:nvSpPr>
        <p:spPr>
          <a:xfrm>
            <a:off x="457200" y="1554480"/>
            <a:ext cx="2438400" cy="1097280"/>
          </a:xfrm>
          <a:prstGeom prst="rect">
            <a:avLst/>
          </a:prstGeom>
          <a:noFill/>
          <a:ln/>
        </p:spPr>
        <p:txBody>
          <a:bodyPr wrap="square" lIns="25400" tIns="25400" rIns="25400" bIns="25400" rtlCol="0" anchor="ctr"/>
          <a:lstStyle/>
          <a:p>
            <a:pPr algn="ctr" indent="0" marL="0">
              <a:buNone/>
            </a:pPr>
            <a:r>
              <a:rPr lang="en-US" sz="1600" b="1" dirty="0">
                <a:solidFill>
                  <a:srgbClr val="12151C"/>
                </a:solidFill>
                <a:latin typeface="Arial" pitchFamily="34" charset="0"/>
                <a:ea typeface="Arial" pitchFamily="34" charset="-122"/>
                <a:cs typeface="Arial" pitchFamily="34" charset="-120"/>
              </a:rPr>
              <a:t>31 inverting</a:t>
            </a:r>
            <a:endParaRPr lang="en-US" sz="1600" dirty="0"/>
          </a:p>
          <a:p>
            <a:pPr algn="ctr" indent="0" marL="0">
              <a:buNone/>
            </a:pPr>
            <a:r>
              <a:rPr lang="en-US" sz="1600" b="1" dirty="0">
                <a:solidFill>
                  <a:srgbClr val="12151C"/>
                </a:solidFill>
                <a:latin typeface="Arial" pitchFamily="34" charset="0"/>
                <a:ea typeface="Arial" pitchFamily="34" charset="-122"/>
                <a:cs typeface="Arial" pitchFamily="34" charset="-120"/>
              </a:rPr>
              <a:t>stages</a:t>
            </a:r>
            <a:endParaRPr lang="en-US" sz="1600" dirty="0"/>
          </a:p>
        </p:txBody>
      </p:sp>
      <p:sp>
        <p:nvSpPr>
          <p:cNvPr id="5" name="arrow"/>
          <p:cNvSpPr/>
          <p:nvPr/>
        </p:nvSpPr>
        <p:spPr>
          <a:xfrm>
            <a:off x="2923032" y="2103120"/>
            <a:ext cx="402336" cy="0"/>
          </a:xfrm>
          <a:prstGeom prst="line">
            <a:avLst/>
          </a:prstGeom>
          <a:noFill/>
          <a:ln w="25400">
            <a:solidFill>
              <a:srgbClr val="FF4D2E"/>
            </a:solidFill>
            <a:prstDash val="solid"/>
            <a:tailEnd type="triangle"/>
          </a:ln>
        </p:spPr>
      </p:sp>
      <p:sp>
        <p:nvSpPr>
          <p:cNvPr id="6" name="block Yosys folds"/>
          <p:cNvSpPr/>
          <p:nvPr/>
        </p:nvSpPr>
        <p:spPr>
          <a:xfrm>
            <a:off x="3352800" y="1554480"/>
            <a:ext cx="2438400" cy="1097280"/>
          </a:xfrm>
          <a:prstGeom prst="roundRect">
            <a:avLst>
              <a:gd name="adj" fmla="val 5000"/>
            </a:avLst>
          </a:prstGeom>
          <a:solidFill>
            <a:srgbClr val="E1F0ED"/>
          </a:solidFill>
          <a:ln w="12700">
            <a:solidFill>
              <a:srgbClr val="008F7A"/>
            </a:solidFill>
            <a:prstDash val="solid"/>
          </a:ln>
        </p:spPr>
      </p:sp>
      <p:sp>
        <p:nvSpPr>
          <p:cNvPr id="7" name="Text 5"/>
          <p:cNvSpPr txBox="1"/>
          <p:nvPr/>
        </p:nvSpPr>
        <p:spPr>
          <a:xfrm>
            <a:off x="3352800" y="1554480"/>
            <a:ext cx="2438400" cy="1097280"/>
          </a:xfrm>
          <a:prstGeom prst="rect">
            <a:avLst/>
          </a:prstGeom>
          <a:noFill/>
          <a:ln/>
        </p:spPr>
        <p:txBody>
          <a:bodyPr wrap="square" lIns="25400" tIns="25400" rIns="25400" bIns="25400" rtlCol="0" anchor="ctr"/>
          <a:lstStyle/>
          <a:p>
            <a:pPr algn="ctr" indent="0" marL="0">
              <a:buNone/>
            </a:pPr>
            <a:r>
              <a:rPr lang="en-US" sz="1600" b="1" dirty="0">
                <a:solidFill>
                  <a:srgbClr val="12151C"/>
                </a:solidFill>
                <a:latin typeface="Arial" pitchFamily="34" charset="0"/>
                <a:ea typeface="Arial" pitchFamily="34" charset="-122"/>
                <a:cs typeface="Arial" pitchFamily="34" charset="-120"/>
              </a:rPr>
              <a:t>Yosys folds</a:t>
            </a:r>
            <a:endParaRPr lang="en-US" sz="1600" dirty="0"/>
          </a:p>
          <a:p>
            <a:pPr algn="ctr" indent="0" marL="0">
              <a:buNone/>
            </a:pPr>
            <a:r>
              <a:rPr lang="en-US" sz="1600" b="1" dirty="0">
                <a:solidFill>
                  <a:srgbClr val="12151C"/>
                </a:solidFill>
                <a:latin typeface="Arial" pitchFamily="34" charset="0"/>
                <a:ea typeface="Arial" pitchFamily="34" charset="-122"/>
                <a:cs typeface="Arial" pitchFamily="34" charset="-120"/>
              </a:rPr>
              <a:t>and deletes</a:t>
            </a:r>
            <a:endParaRPr lang="en-US" sz="1600" dirty="0"/>
          </a:p>
        </p:txBody>
      </p:sp>
      <p:sp>
        <p:nvSpPr>
          <p:cNvPr id="8" name="arrow"/>
          <p:cNvSpPr/>
          <p:nvPr/>
        </p:nvSpPr>
        <p:spPr>
          <a:xfrm>
            <a:off x="5818632" y="2103120"/>
            <a:ext cx="402336" cy="0"/>
          </a:xfrm>
          <a:prstGeom prst="line">
            <a:avLst/>
          </a:prstGeom>
          <a:noFill/>
          <a:ln w="25400">
            <a:solidFill>
              <a:srgbClr val="FF4D2E"/>
            </a:solidFill>
            <a:prstDash val="solid"/>
            <a:tailEnd type="triangle"/>
          </a:ln>
        </p:spPr>
      </p:sp>
      <p:sp>
        <p:nvSpPr>
          <p:cNvPr id="9" name="block no ring in"/>
          <p:cNvSpPr/>
          <p:nvPr/>
        </p:nvSpPr>
        <p:spPr>
          <a:xfrm>
            <a:off x="6248400" y="1554480"/>
            <a:ext cx="2438400" cy="1097280"/>
          </a:xfrm>
          <a:prstGeom prst="roundRect">
            <a:avLst>
              <a:gd name="adj" fmla="val 5000"/>
            </a:avLst>
          </a:prstGeom>
          <a:solidFill>
            <a:srgbClr val="E1F0ED"/>
          </a:solidFill>
          <a:ln w="12700">
            <a:solidFill>
              <a:srgbClr val="008F7A"/>
            </a:solidFill>
            <a:prstDash val="solid"/>
          </a:ln>
        </p:spPr>
      </p:sp>
      <p:sp>
        <p:nvSpPr>
          <p:cNvPr id="10" name="Text 8"/>
          <p:cNvSpPr txBox="1"/>
          <p:nvPr/>
        </p:nvSpPr>
        <p:spPr>
          <a:xfrm>
            <a:off x="6248400" y="1554480"/>
            <a:ext cx="2438400" cy="1097280"/>
          </a:xfrm>
          <a:prstGeom prst="rect">
            <a:avLst/>
          </a:prstGeom>
          <a:noFill/>
          <a:ln/>
        </p:spPr>
        <p:txBody>
          <a:bodyPr wrap="square" lIns="25400" tIns="25400" rIns="25400" bIns="25400" rtlCol="0" anchor="ctr"/>
          <a:lstStyle/>
          <a:p>
            <a:pPr algn="ctr" indent="0" marL="0">
              <a:buNone/>
            </a:pPr>
            <a:r>
              <a:rPr lang="en-US" sz="1600" b="1" dirty="0">
                <a:solidFill>
                  <a:srgbClr val="12151C"/>
                </a:solidFill>
                <a:latin typeface="Arial" pitchFamily="34" charset="0"/>
                <a:ea typeface="Arial" pitchFamily="34" charset="-122"/>
                <a:cs typeface="Arial" pitchFamily="34" charset="-120"/>
              </a:rPr>
              <a:t>no ring in</a:t>
            </a:r>
            <a:endParaRPr lang="en-US" sz="1600" dirty="0"/>
          </a:p>
          <a:p>
            <a:pPr algn="ctr" indent="0" marL="0">
              <a:buNone/>
            </a:pPr>
            <a:r>
              <a:rPr lang="en-US" sz="1600" b="1" dirty="0">
                <a:solidFill>
                  <a:srgbClr val="12151C"/>
                </a:solidFill>
                <a:latin typeface="Arial" pitchFamily="34" charset="0"/>
                <a:ea typeface="Arial" pitchFamily="34" charset="-122"/>
                <a:cs typeface="Arial" pitchFamily="34" charset="-120"/>
              </a:rPr>
              <a:t>the netlist</a:t>
            </a:r>
            <a:endParaRPr lang="en-US" sz="1600" dirty="0"/>
          </a:p>
        </p:txBody>
      </p:sp>
      <p:sp>
        <p:nvSpPr>
          <p:cNvPr id="11" name="Text 9"/>
          <p:cNvSpPr txBox="1"/>
          <p:nvPr/>
        </p:nvSpPr>
        <p:spPr>
          <a:xfrm>
            <a:off x="457200" y="3017520"/>
            <a:ext cx="8229600" cy="3657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66 of 77 flip-flops found; the RTL test used a divider.</a:t>
            </a:r>
            <a:endParaRPr lang="en-US" sz="1800" dirty="0"/>
          </a:p>
        </p:txBody>
      </p:sp>
      <p:sp>
        <p:nvSpPr>
          <p:cNvPr id="12"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800" b="1" dirty="0">
                <a:solidFill>
                  <a:srgbClr val="008F7A"/>
                </a:solidFill>
                <a:latin typeface="Arial" pitchFamily="34" charset="0"/>
                <a:ea typeface="Arial" pitchFamily="34" charset="-122"/>
                <a:cs typeface="Arial" pitchFamily="34" charset="-120"/>
              </a:rPr>
              <a:t>Fixed: the ring is built from explicit sky130 cells.</a:t>
            </a:r>
            <a:endParaRPr lang="en-US" sz="1800" dirty="0"/>
          </a:p>
        </p:txBody>
      </p:sp>
      <p:sp>
        <p:nvSpPr>
          <p:cNvPr id="13" name="Text 11"/>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800" dirty="0">
                <a:solidFill>
                  <a:srgbClr val="5C6573"/>
                </a:solidFill>
                <a:latin typeface="Arial" pitchFamily="34" charset="0"/>
                <a:ea typeface="Arial" pitchFamily="34" charset="-122"/>
                <a:cs typeface="Arial" pitchFamily="34" charset="-120"/>
              </a:rPr>
              <a:t>Now 830 standard cells (was 709).</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Two new permanent checks guard against hollow designs</a:t>
            </a:r>
            <a:endParaRPr lang="en-US" sz="2800" dirty="0"/>
          </a:p>
        </p:txBody>
      </p:sp>
      <p:sp>
        <p:nvSpPr>
          <p:cNvPr id="3" name="card"/>
          <p:cNvSpPr/>
          <p:nvPr/>
        </p:nvSpPr>
        <p:spPr>
          <a:xfrm>
            <a:off x="457200" y="1371600"/>
            <a:ext cx="8229600" cy="1188720"/>
          </a:xfrm>
          <a:prstGeom prst="roundRect">
            <a:avLst>
              <a:gd name="adj" fmla="val 6154"/>
            </a:avLst>
          </a:prstGeom>
          <a:solidFill>
            <a:srgbClr val="FFFFFF"/>
          </a:solidFill>
          <a:ln w="9525">
            <a:solidFill>
              <a:srgbClr val="D5D9DC"/>
            </a:solidFill>
            <a:prstDash val="solid"/>
          </a:ln>
        </p:spPr>
      </p:sp>
      <p:sp>
        <p:nvSpPr>
          <p:cNvPr id="4" name="command"/>
          <p:cNvSpPr/>
          <p:nvPr/>
        </p:nvSpPr>
        <p:spPr>
          <a:xfrm>
            <a:off x="640080" y="1554480"/>
            <a:ext cx="3749040" cy="502920"/>
          </a:xfrm>
          <a:prstGeom prst="roundRect">
            <a:avLst>
              <a:gd name="adj" fmla="val 10909"/>
            </a:avLst>
          </a:prstGeom>
          <a:solidFill>
            <a:srgbClr val="071A36"/>
          </a:solidFill>
          <a:ln w="12700">
            <a:solidFill>
              <a:srgbClr val="071A36"/>
            </a:solidFill>
            <a:prstDash val="solid"/>
          </a:ln>
        </p:spPr>
      </p:sp>
      <p:sp>
        <p:nvSpPr>
          <p:cNvPr id="5" name="Text 3"/>
          <p:cNvSpPr txBox="1"/>
          <p:nvPr/>
        </p:nvSpPr>
        <p:spPr>
          <a:xfrm>
            <a:off x="749808" y="1554480"/>
            <a:ext cx="3566160" cy="50292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gl-counter</a:t>
            </a:r>
            <a:endParaRPr lang="en-US" sz="1800" dirty="0"/>
          </a:p>
        </p:txBody>
      </p:sp>
      <p:sp>
        <p:nvSpPr>
          <p:cNvPr id="6" name="Text 4"/>
          <p:cNvSpPr txBox="1"/>
          <p:nvPr/>
        </p:nvSpPr>
        <p:spPr>
          <a:xfrm>
            <a:off x="4572000" y="1463040"/>
            <a:ext cx="3931920" cy="68580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Simulate the synthesized netlist</a:t>
            </a:r>
            <a:endParaRPr lang="en-US" sz="2000" dirty="0"/>
          </a:p>
        </p:txBody>
      </p:sp>
      <p:sp>
        <p:nvSpPr>
          <p:cNvPr id="7" name="Text 5"/>
          <p:cNvSpPr txBox="1"/>
          <p:nvPr/>
        </p:nvSpPr>
        <p:spPr>
          <a:xfrm>
            <a:off x="640080" y="2148840"/>
            <a:ext cx="3749040" cy="32004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pattern: gl-&lt;name&gt;, e.g. gl-counter</a:t>
            </a:r>
            <a:endParaRPr lang="en-US" sz="1400" dirty="0"/>
          </a:p>
        </p:txBody>
      </p:sp>
      <p:sp>
        <p:nvSpPr>
          <p:cNvPr id="8" name="card"/>
          <p:cNvSpPr/>
          <p:nvPr/>
        </p:nvSpPr>
        <p:spPr>
          <a:xfrm>
            <a:off x="457200" y="2743200"/>
            <a:ext cx="8229600" cy="1188720"/>
          </a:xfrm>
          <a:prstGeom prst="roundRect">
            <a:avLst>
              <a:gd name="adj" fmla="val 6154"/>
            </a:avLst>
          </a:prstGeom>
          <a:solidFill>
            <a:srgbClr val="FFFFFF"/>
          </a:solidFill>
          <a:ln w="9525">
            <a:solidFill>
              <a:srgbClr val="D5D9DC"/>
            </a:solidFill>
            <a:prstDash val="solid"/>
          </a:ln>
        </p:spPr>
      </p:sp>
      <p:sp>
        <p:nvSpPr>
          <p:cNvPr id="9" name="command"/>
          <p:cNvSpPr/>
          <p:nvPr/>
        </p:nvSpPr>
        <p:spPr>
          <a:xfrm>
            <a:off x="640080" y="2926080"/>
            <a:ext cx="3749040" cy="502920"/>
          </a:xfrm>
          <a:prstGeom prst="roundRect">
            <a:avLst>
              <a:gd name="adj" fmla="val 10909"/>
            </a:avLst>
          </a:prstGeom>
          <a:solidFill>
            <a:srgbClr val="071A36"/>
          </a:solidFill>
          <a:ln w="12700">
            <a:solidFill>
              <a:srgbClr val="071A36"/>
            </a:solidFill>
            <a:prstDash val="solid"/>
          </a:ln>
        </p:spPr>
      </p:sp>
      <p:sp>
        <p:nvSpPr>
          <p:cNvPr id="10" name="Text 8"/>
          <p:cNvSpPr txBox="1"/>
          <p:nvPr/>
        </p:nvSpPr>
        <p:spPr>
          <a:xfrm>
            <a:off x="749808" y="2926080"/>
            <a:ext cx="3566160" cy="50292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check-counter</a:t>
            </a:r>
            <a:endParaRPr lang="en-US" sz="1800" dirty="0"/>
          </a:p>
        </p:txBody>
      </p:sp>
      <p:sp>
        <p:nvSpPr>
          <p:cNvPr id="11" name="Text 9"/>
          <p:cNvSpPr txBox="1"/>
          <p:nvPr/>
        </p:nvSpPr>
        <p:spPr>
          <a:xfrm>
            <a:off x="4572000" y="2834640"/>
            <a:ext cx="3931920" cy="68580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Surviving registers = RTL registers</a:t>
            </a:r>
            <a:endParaRPr lang="en-US" sz="2000" dirty="0"/>
          </a:p>
        </p:txBody>
      </p:sp>
      <p:sp>
        <p:nvSpPr>
          <p:cNvPr id="12" name="Text 10"/>
          <p:cNvSpPr txBox="1"/>
          <p:nvPr/>
        </p:nvSpPr>
        <p:spPr>
          <a:xfrm>
            <a:off x="640080" y="3520440"/>
            <a:ext cx="3749040" cy="320040"/>
          </a:xfrm>
          <a:prstGeom prst="rect">
            <a:avLst/>
          </a:prstGeom>
          <a:noFill/>
          <a:ln/>
        </p:spPr>
        <p:txBody>
          <a:bodyPr wrap="square" lIns="0" tIns="0" rIns="0" bIns="0" rtlCol="0" anchor="t"/>
          <a:lstStyle/>
          <a:p>
            <a:pPr indent="0" marL="0">
              <a:buNone/>
            </a:pPr>
            <a:r>
              <a:rPr lang="en-US" sz="1400" dirty="0">
                <a:solidFill>
                  <a:srgbClr val="5C6573"/>
                </a:solidFill>
                <a:latin typeface="Arial" pitchFamily="34" charset="0"/>
                <a:ea typeface="Arial" pitchFamily="34" charset="-122"/>
                <a:cs typeface="Arial" pitchFamily="34" charset="-120"/>
              </a:rPr>
              <a:t>pattern: check-&lt;name&gt;, e.g. check-counter</a:t>
            </a:r>
            <a:endParaRPr lang="en-US" sz="1400" dirty="0"/>
          </a:p>
        </p:txBody>
      </p:sp>
      <p:sp>
        <p:nvSpPr>
          <p:cNvPr id="13" name="Text 11"/>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Run on this Mac's Linux VM only.</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Both new checks pass for all 11 designs</a:t>
            </a:r>
            <a:endParaRPr lang="en-US" sz="2800" dirty="0"/>
          </a:p>
        </p:txBody>
      </p:sp>
      <p:sp>
        <p:nvSpPr>
          <p:cNvPr id="3" name="card"/>
          <p:cNvSpPr/>
          <p:nvPr/>
        </p:nvSpPr>
        <p:spPr>
          <a:xfrm>
            <a:off x="457200" y="1417320"/>
            <a:ext cx="2651760" cy="1737360"/>
          </a:xfrm>
          <a:prstGeom prst="roundRect">
            <a:avLst>
              <a:gd name="adj" fmla="val 4211"/>
            </a:avLst>
          </a:prstGeom>
          <a:solidFill>
            <a:srgbClr val="E1F0ED"/>
          </a:solidFill>
          <a:ln w="9525">
            <a:solidFill>
              <a:srgbClr val="008F7A"/>
            </a:solidFill>
            <a:prstDash val="solid"/>
          </a:ln>
        </p:spPr>
      </p:sp>
      <p:sp>
        <p:nvSpPr>
          <p:cNvPr id="4" name="Text 2"/>
          <p:cNvSpPr txBox="1"/>
          <p:nvPr/>
        </p:nvSpPr>
        <p:spPr>
          <a:xfrm>
            <a:off x="457200" y="1554480"/>
            <a:ext cx="2651760" cy="822960"/>
          </a:xfrm>
          <a:prstGeom prst="rect">
            <a:avLst/>
          </a:prstGeom>
          <a:noFill/>
          <a:ln/>
        </p:spPr>
        <p:txBody>
          <a:bodyPr wrap="square" lIns="0" tIns="0" rIns="0" bIns="0" rtlCol="0" anchor="ctr"/>
          <a:lstStyle/>
          <a:p>
            <a:pPr algn="ctr" indent="0" marL="0">
              <a:buNone/>
            </a:pPr>
            <a:r>
              <a:rPr lang="en-US" sz="3600" b="1" dirty="0">
                <a:solidFill>
                  <a:srgbClr val="008F7A"/>
                </a:solidFill>
                <a:latin typeface="Arial" pitchFamily="34" charset="0"/>
                <a:ea typeface="Arial" pitchFamily="34" charset="-122"/>
                <a:cs typeface="Arial" pitchFamily="34" charset="-120"/>
              </a:rPr>
              <a:t>11 of 11</a:t>
            </a:r>
            <a:endParaRPr lang="en-US" sz="3600" dirty="0"/>
          </a:p>
        </p:txBody>
      </p:sp>
      <p:sp>
        <p:nvSpPr>
          <p:cNvPr id="5" name="Text 3"/>
          <p:cNvSpPr txBox="1"/>
          <p:nvPr/>
        </p:nvSpPr>
        <p:spPr>
          <a:xfrm>
            <a:off x="594360" y="2423160"/>
            <a:ext cx="2377440" cy="640080"/>
          </a:xfrm>
          <a:prstGeom prst="rect">
            <a:avLst/>
          </a:prstGeom>
          <a:noFill/>
          <a:ln/>
        </p:spPr>
        <p:txBody>
          <a:bodyPr wrap="square" lIns="0" tIns="0" rIns="0" bIns="0" rtlCol="0" anchor="t"/>
          <a:lstStyle/>
          <a:p>
            <a:pPr algn="ctr" indent="0" marL="0">
              <a:buNone/>
            </a:pPr>
            <a:r>
              <a:rPr lang="en-US" sz="1800" b="1" dirty="0">
                <a:solidFill>
                  <a:srgbClr val="12151C"/>
                </a:solidFill>
                <a:latin typeface="Arial" pitchFamily="34" charset="0"/>
                <a:ea typeface="Arial" pitchFamily="34" charset="-122"/>
                <a:cs typeface="Arial" pitchFamily="34" charset="-120"/>
              </a:rPr>
              <a:t>gate-level, synthesized netlist</a:t>
            </a:r>
            <a:endParaRPr lang="en-US" sz="1800" dirty="0"/>
          </a:p>
        </p:txBody>
      </p:sp>
      <p:sp>
        <p:nvSpPr>
          <p:cNvPr id="6" name="card"/>
          <p:cNvSpPr/>
          <p:nvPr/>
        </p:nvSpPr>
        <p:spPr>
          <a:xfrm>
            <a:off x="3246120" y="1417320"/>
            <a:ext cx="2651760" cy="1737360"/>
          </a:xfrm>
          <a:prstGeom prst="roundRect">
            <a:avLst>
              <a:gd name="adj" fmla="val 4211"/>
            </a:avLst>
          </a:prstGeom>
          <a:solidFill>
            <a:srgbClr val="E1F0ED"/>
          </a:solidFill>
          <a:ln w="9525">
            <a:solidFill>
              <a:srgbClr val="008F7A"/>
            </a:solidFill>
            <a:prstDash val="solid"/>
          </a:ln>
        </p:spPr>
      </p:sp>
      <p:sp>
        <p:nvSpPr>
          <p:cNvPr id="7" name="Text 5"/>
          <p:cNvSpPr txBox="1"/>
          <p:nvPr/>
        </p:nvSpPr>
        <p:spPr>
          <a:xfrm>
            <a:off x="3246120" y="1554480"/>
            <a:ext cx="2651760" cy="822960"/>
          </a:xfrm>
          <a:prstGeom prst="rect">
            <a:avLst/>
          </a:prstGeom>
          <a:noFill/>
          <a:ln/>
        </p:spPr>
        <p:txBody>
          <a:bodyPr wrap="square" lIns="0" tIns="0" rIns="0" bIns="0" rtlCol="0" anchor="ctr"/>
          <a:lstStyle/>
          <a:p>
            <a:pPr algn="ctr" indent="0" marL="0">
              <a:buNone/>
            </a:pPr>
            <a:r>
              <a:rPr lang="en-US" sz="3600" b="1" dirty="0">
                <a:solidFill>
                  <a:srgbClr val="008F7A"/>
                </a:solidFill>
                <a:latin typeface="Arial" pitchFamily="34" charset="0"/>
                <a:ea typeface="Arial" pitchFamily="34" charset="-122"/>
                <a:cs typeface="Arial" pitchFamily="34" charset="-120"/>
              </a:rPr>
              <a:t>11 of 11</a:t>
            </a:r>
            <a:endParaRPr lang="en-US" sz="3600" dirty="0"/>
          </a:p>
        </p:txBody>
      </p:sp>
      <p:sp>
        <p:nvSpPr>
          <p:cNvPr id="8" name="Text 6"/>
          <p:cNvSpPr txBox="1"/>
          <p:nvPr/>
        </p:nvSpPr>
        <p:spPr>
          <a:xfrm>
            <a:off x="3383280" y="2423160"/>
            <a:ext cx="2377440" cy="640080"/>
          </a:xfrm>
          <a:prstGeom prst="rect">
            <a:avLst/>
          </a:prstGeom>
          <a:noFill/>
          <a:ln/>
        </p:spPr>
        <p:txBody>
          <a:bodyPr wrap="square" lIns="0" tIns="0" rIns="0" bIns="0" rtlCol="0" anchor="t"/>
          <a:lstStyle/>
          <a:p>
            <a:pPr algn="ctr" indent="0" marL="0">
              <a:buNone/>
            </a:pPr>
            <a:r>
              <a:rPr lang="en-US" sz="1800" b="1" dirty="0">
                <a:solidFill>
                  <a:srgbClr val="12151C"/>
                </a:solidFill>
                <a:latin typeface="Arial" pitchFamily="34" charset="0"/>
                <a:ea typeface="Arial" pitchFamily="34" charset="-122"/>
                <a:cs typeface="Arial" pitchFamily="34" charset="-120"/>
              </a:rPr>
              <a:t>gate-level, routed netlist</a:t>
            </a:r>
            <a:endParaRPr lang="en-US" sz="1800" dirty="0"/>
          </a:p>
        </p:txBody>
      </p:sp>
      <p:sp>
        <p:nvSpPr>
          <p:cNvPr id="9" name="card"/>
          <p:cNvSpPr/>
          <p:nvPr/>
        </p:nvSpPr>
        <p:spPr>
          <a:xfrm>
            <a:off x="6035040" y="1417320"/>
            <a:ext cx="2651760" cy="1737360"/>
          </a:xfrm>
          <a:prstGeom prst="roundRect">
            <a:avLst>
              <a:gd name="adj" fmla="val 4211"/>
            </a:avLst>
          </a:prstGeom>
          <a:solidFill>
            <a:srgbClr val="E1F0ED"/>
          </a:solidFill>
          <a:ln w="9525">
            <a:solidFill>
              <a:srgbClr val="008F7A"/>
            </a:solidFill>
            <a:prstDash val="solid"/>
          </a:ln>
        </p:spPr>
      </p:sp>
      <p:sp>
        <p:nvSpPr>
          <p:cNvPr id="10" name="Text 8"/>
          <p:cNvSpPr txBox="1"/>
          <p:nvPr/>
        </p:nvSpPr>
        <p:spPr>
          <a:xfrm>
            <a:off x="6035040" y="1554480"/>
            <a:ext cx="2651760" cy="822960"/>
          </a:xfrm>
          <a:prstGeom prst="rect">
            <a:avLst/>
          </a:prstGeom>
          <a:noFill/>
          <a:ln/>
        </p:spPr>
        <p:txBody>
          <a:bodyPr wrap="square" lIns="0" tIns="0" rIns="0" bIns="0" rtlCol="0" anchor="ctr"/>
          <a:lstStyle/>
          <a:p>
            <a:pPr algn="ctr" indent="0" marL="0">
              <a:buNone/>
            </a:pPr>
            <a:r>
              <a:rPr lang="en-US" sz="3600" b="1" dirty="0">
                <a:solidFill>
                  <a:srgbClr val="008F7A"/>
                </a:solidFill>
                <a:latin typeface="Arial" pitchFamily="34" charset="0"/>
                <a:ea typeface="Arial" pitchFamily="34" charset="-122"/>
                <a:cs typeface="Arial" pitchFamily="34" charset="-120"/>
              </a:rPr>
              <a:t>11 of 11</a:t>
            </a:r>
            <a:endParaRPr lang="en-US" sz="3600" dirty="0"/>
          </a:p>
        </p:txBody>
      </p:sp>
      <p:sp>
        <p:nvSpPr>
          <p:cNvPr id="11" name="Text 9"/>
          <p:cNvSpPr txBox="1"/>
          <p:nvPr/>
        </p:nvSpPr>
        <p:spPr>
          <a:xfrm>
            <a:off x="6172200" y="2423160"/>
            <a:ext cx="2377440" cy="640080"/>
          </a:xfrm>
          <a:prstGeom prst="rect">
            <a:avLst/>
          </a:prstGeom>
          <a:noFill/>
          <a:ln/>
        </p:spPr>
        <p:txBody>
          <a:bodyPr wrap="square" lIns="0" tIns="0" rIns="0" bIns="0" rtlCol="0" anchor="t"/>
          <a:lstStyle/>
          <a:p>
            <a:pPr algn="ctr" indent="0" marL="0">
              <a:buNone/>
            </a:pPr>
            <a:r>
              <a:rPr lang="en-US" sz="1800" b="1" dirty="0">
                <a:solidFill>
                  <a:srgbClr val="12151C"/>
                </a:solidFill>
                <a:latin typeface="Arial" pitchFamily="34" charset="0"/>
                <a:ea typeface="Arial" pitchFamily="34" charset="-122"/>
                <a:cs typeface="Arial" pitchFamily="34" charset="-120"/>
              </a:rPr>
              <a:t>registers survive</a:t>
            </a:r>
            <a:endParaRPr lang="en-US" sz="1800" dirty="0"/>
          </a:p>
        </p:txBody>
      </p:sp>
      <p:sp>
        <p:nvSpPr>
          <p:cNvPr id="12" name="Text 10"/>
          <p:cNvSpPr txBox="1"/>
          <p:nvPr/>
        </p:nvSpPr>
        <p:spPr>
          <a:xfrm>
            <a:off x="457200" y="3383280"/>
            <a:ext cx="2743200" cy="320040"/>
          </a:xfrm>
          <a:prstGeom prst="rect">
            <a:avLst/>
          </a:prstGeom>
          <a:noFill/>
          <a:ln/>
        </p:spPr>
        <p:txBody>
          <a:bodyPr wrap="square" lIns="0" tIns="0" rIns="0" bIns="0" rtlCol="0" anchor="t"/>
          <a:lstStyle/>
          <a:p>
            <a:pPr indent="0" marL="0">
              <a:buNone/>
            </a:pPr>
            <a:r>
              <a:rPr lang="en-US" sz="1600" b="1" dirty="0">
                <a:solidFill>
                  <a:srgbClr val="B83A22"/>
                </a:solidFill>
                <a:latin typeface="Arial" pitchFamily="34" charset="0"/>
                <a:ea typeface="Arial" pitchFamily="34" charset="-122"/>
                <a:cs typeface="Arial" pitchFamily="34" charset="-120"/>
              </a:rPr>
              <a:t>Before the fix</a:t>
            </a:r>
            <a:endParaRPr lang="en-US" sz="1600" dirty="0"/>
          </a:p>
        </p:txBody>
      </p:sp>
      <p:sp>
        <p:nvSpPr>
          <p:cNvPr id="13" name="Text 11"/>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counter_wb: 1 of about 67 flip-flops kept</a:t>
            </a:r>
            <a:endParaRPr lang="en-US" sz="1800" dirty="0"/>
          </a:p>
        </p:txBody>
      </p:sp>
      <p:sp>
        <p:nvSpPr>
          <p:cNvPr id="14" name="Text 12"/>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ring_osc: the whole ring gone from the netlist</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p:nvPr>
            <p:ph idx="101" type="title" hasCustomPrompt="1"/>
          </p:nvPr>
        </p:nvSpPr>
        <p:spPr>
          <a:xfrm>
            <a:off x="640080" y="914400"/>
            <a:ext cx="768096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Road to silicon</a:t>
            </a:r>
            <a:endParaRPr lang="en-US" sz="3600" dirty="0"/>
          </a:p>
        </p:txBody>
      </p:sp>
      <p:sp>
        <p:nvSpPr>
          <p:cNvPr id="3" name="Text 1"/>
          <p:cNvSpPr txBox="1"/>
          <p:nvPr/>
        </p:nvSpPr>
        <p:spPr>
          <a:xfrm>
            <a:off x="640080" y="2148840"/>
            <a:ext cx="7498080" cy="822960"/>
          </a:xfrm>
          <a:prstGeom prst="rect">
            <a:avLst/>
          </a:prstGeom>
          <a:noFill/>
          <a:ln/>
        </p:spPr>
        <p:txBody>
          <a:bodyPr wrap="square" lIns="0" tIns="0" rIns="0" bIns="0" rtlCol="0" anchor="t"/>
          <a:lstStyle/>
          <a:p>
            <a:pPr indent="0" marL="0">
              <a:buNone/>
            </a:pPr>
            <a:r>
              <a:rPr lang="en-US" sz="2000" dirty="0">
                <a:solidFill>
                  <a:srgbClr val="D6DCE6"/>
                </a:solidFill>
                <a:latin typeface="Arial" pitchFamily="34" charset="0"/>
                <a:ea typeface="Arial" pitchFamily="34" charset="-122"/>
                <a:cs typeface="Arial" pitchFamily="34" charset="-120"/>
              </a:rPr>
              <a:t>Run it yourself afterwards; then Caravel and ChipIgnite, clearly marked as planned</a:t>
            </a:r>
            <a:endParaRPr lang="en-US" sz="2000" dirty="0"/>
          </a:p>
        </p:txBody>
      </p:sp>
      <p:sp>
        <p:nvSpPr>
          <p:cNvPr id="4" name="progress A"/>
          <p:cNvSpPr/>
          <p:nvPr/>
        </p:nvSpPr>
        <p:spPr>
          <a:xfrm>
            <a:off x="640080" y="3840480"/>
            <a:ext cx="484632" cy="201168"/>
          </a:xfrm>
          <a:prstGeom prst="rect">
            <a:avLst/>
          </a:prstGeom>
          <a:solidFill>
            <a:srgbClr val="2C3E5C"/>
          </a:solidFill>
          <a:ln w="12700">
            <a:solidFill>
              <a:srgbClr val="2C3E5C"/>
            </a:solidFill>
            <a:prstDash val="solid"/>
          </a:ln>
        </p:spPr>
      </p:sp>
      <p:sp>
        <p:nvSpPr>
          <p:cNvPr id="5" name="progress B"/>
          <p:cNvSpPr/>
          <p:nvPr/>
        </p:nvSpPr>
        <p:spPr>
          <a:xfrm>
            <a:off x="1152144" y="3840480"/>
            <a:ext cx="1508760" cy="201168"/>
          </a:xfrm>
          <a:prstGeom prst="rect">
            <a:avLst/>
          </a:prstGeom>
          <a:solidFill>
            <a:srgbClr val="2C3E5C"/>
          </a:solidFill>
          <a:ln w="12700">
            <a:solidFill>
              <a:srgbClr val="2C3E5C"/>
            </a:solidFill>
            <a:prstDash val="solid"/>
          </a:ln>
        </p:spPr>
      </p:sp>
      <p:sp>
        <p:nvSpPr>
          <p:cNvPr id="6" name="progress C"/>
          <p:cNvSpPr/>
          <p:nvPr/>
        </p:nvSpPr>
        <p:spPr>
          <a:xfrm>
            <a:off x="2688336" y="3840480"/>
            <a:ext cx="996696" cy="201168"/>
          </a:xfrm>
          <a:prstGeom prst="rect">
            <a:avLst/>
          </a:prstGeom>
          <a:solidFill>
            <a:srgbClr val="2C3E5C"/>
          </a:solidFill>
          <a:ln w="12700">
            <a:solidFill>
              <a:srgbClr val="2C3E5C"/>
            </a:solidFill>
            <a:prstDash val="solid"/>
          </a:ln>
        </p:spPr>
      </p:sp>
      <p:sp>
        <p:nvSpPr>
          <p:cNvPr id="7" name="progress D"/>
          <p:cNvSpPr/>
          <p:nvPr/>
        </p:nvSpPr>
        <p:spPr>
          <a:xfrm>
            <a:off x="3712464" y="3840480"/>
            <a:ext cx="1252728" cy="201168"/>
          </a:xfrm>
          <a:prstGeom prst="rect">
            <a:avLst/>
          </a:prstGeom>
          <a:solidFill>
            <a:srgbClr val="2C3E5C"/>
          </a:solidFill>
          <a:ln w="12700">
            <a:solidFill>
              <a:srgbClr val="2C3E5C"/>
            </a:solidFill>
            <a:prstDash val="solid"/>
          </a:ln>
        </p:spPr>
      </p:sp>
      <p:sp>
        <p:nvSpPr>
          <p:cNvPr id="8" name="progress E"/>
          <p:cNvSpPr/>
          <p:nvPr/>
        </p:nvSpPr>
        <p:spPr>
          <a:xfrm>
            <a:off x="4992624" y="3840480"/>
            <a:ext cx="996696" cy="201168"/>
          </a:xfrm>
          <a:prstGeom prst="rect">
            <a:avLst/>
          </a:prstGeom>
          <a:solidFill>
            <a:srgbClr val="2C3E5C"/>
          </a:solidFill>
          <a:ln w="12700">
            <a:solidFill>
              <a:srgbClr val="2C3E5C"/>
            </a:solidFill>
            <a:prstDash val="solid"/>
          </a:ln>
        </p:spPr>
      </p:sp>
      <p:sp>
        <p:nvSpPr>
          <p:cNvPr id="9" name="progress F"/>
          <p:cNvSpPr/>
          <p:nvPr/>
        </p:nvSpPr>
        <p:spPr>
          <a:xfrm>
            <a:off x="6016752" y="3840480"/>
            <a:ext cx="996696" cy="201168"/>
          </a:xfrm>
          <a:prstGeom prst="rect">
            <a:avLst/>
          </a:prstGeom>
          <a:solidFill>
            <a:srgbClr val="2C3E5C"/>
          </a:solidFill>
          <a:ln w="12700">
            <a:solidFill>
              <a:srgbClr val="2C3E5C"/>
            </a:solidFill>
            <a:prstDash val="solid"/>
          </a:ln>
        </p:spPr>
      </p:sp>
      <p:sp>
        <p:nvSpPr>
          <p:cNvPr id="10" name="progress G"/>
          <p:cNvSpPr/>
          <p:nvPr/>
        </p:nvSpPr>
        <p:spPr>
          <a:xfrm>
            <a:off x="7040880" y="3840480"/>
            <a:ext cx="740664" cy="201168"/>
          </a:xfrm>
          <a:prstGeom prst="rect">
            <a:avLst/>
          </a:prstGeom>
          <a:solidFill>
            <a:srgbClr val="FF4D2E"/>
          </a:solidFill>
          <a:ln w="12700">
            <a:solidFill>
              <a:srgbClr val="FF4D2E"/>
            </a:solidFill>
            <a:prstDash val="solid"/>
          </a:ln>
        </p:spPr>
      </p:sp>
      <p:sp>
        <p:nvSpPr>
          <p:cNvPr id="11" name="progress H"/>
          <p:cNvSpPr/>
          <p:nvPr/>
        </p:nvSpPr>
        <p:spPr>
          <a:xfrm>
            <a:off x="7808976" y="3840480"/>
            <a:ext cx="484632" cy="201168"/>
          </a:xfrm>
          <a:prstGeom prst="rect">
            <a:avLst/>
          </a:prstGeom>
          <a:solidFill>
            <a:srgbClr val="2C3E5C"/>
          </a:solidFill>
          <a:ln w="12700">
            <a:solidFill>
              <a:srgbClr val="2C3E5C"/>
            </a:solidFill>
            <a:prstDash val="solid"/>
          </a:ln>
        </p:spPr>
      </p:sp>
      <p:sp>
        <p:nvSpPr>
          <p:cNvPr id="12" name="Text 10"/>
          <p:cNvSpPr txBox="1"/>
          <p:nvPr/>
        </p:nvSpPr>
        <p:spPr>
          <a:xfrm>
            <a:off x="640080" y="4114800"/>
            <a:ext cx="768096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Minutes 125–140 of 150</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make lunch: one unattended command</a:t>
            </a:r>
            <a:endParaRPr lang="en-US" sz="2800" dirty="0"/>
          </a:p>
        </p:txBody>
      </p:sp>
      <p:sp>
        <p:nvSpPr>
          <p:cNvPr id="3" name="pill RUN"/>
          <p:cNvSpPr/>
          <p:nvPr/>
        </p:nvSpPr>
        <p:spPr>
          <a:xfrm>
            <a:off x="457200" y="1371600"/>
            <a:ext cx="822960" cy="329184"/>
          </a:xfrm>
          <a:prstGeom prst="roundRect">
            <a:avLst>
              <a:gd name="adj" fmla="val 50000"/>
            </a:avLst>
          </a:prstGeom>
          <a:solidFill>
            <a:srgbClr val="FF4D2E"/>
          </a:solidFill>
          <a:ln w="6350">
            <a:solidFill>
              <a:srgbClr val="FF4D2E"/>
            </a:solidFill>
            <a:prstDash val="solid"/>
          </a:ln>
        </p:spPr>
      </p:sp>
      <p:sp>
        <p:nvSpPr>
          <p:cNvPr id="4" name="Text 2"/>
          <p:cNvSpPr txBox="1"/>
          <p:nvPr/>
        </p:nvSpPr>
        <p:spPr>
          <a:xfrm>
            <a:off x="457200" y="1371600"/>
            <a:ext cx="8229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RUN</a:t>
            </a:r>
            <a:endParaRPr lang="en-US" sz="1200" dirty="0"/>
          </a:p>
        </p:txBody>
      </p:sp>
      <p:sp>
        <p:nvSpPr>
          <p:cNvPr id="5" name="command"/>
          <p:cNvSpPr/>
          <p:nvPr/>
        </p:nvSpPr>
        <p:spPr>
          <a:xfrm>
            <a:off x="1417320" y="1298448"/>
            <a:ext cx="2926080" cy="475488"/>
          </a:xfrm>
          <a:prstGeom prst="roundRect">
            <a:avLst>
              <a:gd name="adj" fmla="val 11538"/>
            </a:avLst>
          </a:prstGeom>
          <a:solidFill>
            <a:srgbClr val="071A36"/>
          </a:solidFill>
          <a:ln w="12700">
            <a:solidFill>
              <a:srgbClr val="071A36"/>
            </a:solidFill>
            <a:prstDash val="solid"/>
          </a:ln>
        </p:spPr>
      </p:sp>
      <p:sp>
        <p:nvSpPr>
          <p:cNvPr id="6" name="Text 4"/>
          <p:cNvSpPr txBox="1"/>
          <p:nvPr/>
        </p:nvSpPr>
        <p:spPr>
          <a:xfrm>
            <a:off x="1527048" y="1298448"/>
            <a:ext cx="2743200" cy="475488"/>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lunch</a:t>
            </a:r>
            <a:endParaRPr lang="en-US" sz="1800" dirty="0"/>
          </a:p>
        </p:txBody>
      </p:sp>
      <p:sp>
        <p:nvSpPr>
          <p:cNvPr id="7" name="Text 5"/>
          <p:cNvSpPr txBox="1"/>
          <p:nvPr/>
        </p:nvSpPr>
        <p:spPr>
          <a:xfrm>
            <a:off x="4572000" y="1298448"/>
            <a:ext cx="4114800" cy="475488"/>
          </a:xfrm>
          <a:prstGeom prst="rect">
            <a:avLst/>
          </a:prstGeom>
          <a:noFill/>
          <a:ln/>
        </p:spPr>
        <p:txBody>
          <a:bodyPr wrap="square" lIns="0" tIns="0" rIns="0" bIns="0" rtlCol="0" anchor="ctr"/>
          <a:lstStyle/>
          <a:p>
            <a:pPr indent="0" marL="0">
              <a:buNone/>
            </a:pPr>
            <a:r>
              <a:rPr lang="en-US" sz="1800" dirty="0">
                <a:solidFill>
                  <a:srgbClr val="5C6573"/>
                </a:solidFill>
                <a:latin typeface="Arial" pitchFamily="34" charset="0"/>
                <a:ea typeface="Arial" pitchFamily="34" charset="-122"/>
                <a:cs typeface="Arial" pitchFamily="34" charset="-120"/>
              </a:rPr>
              <a:t>bnn_mnist by default</a:t>
            </a:r>
            <a:endParaRPr lang="en-US" sz="1800" dirty="0"/>
          </a:p>
        </p:txBody>
      </p:sp>
      <p:sp>
        <p:nvSpPr>
          <p:cNvPr id="8" name="card"/>
          <p:cNvSpPr/>
          <p:nvPr/>
        </p:nvSpPr>
        <p:spPr>
          <a:xfrm>
            <a:off x="457200" y="2103120"/>
            <a:ext cx="2651760" cy="1554480"/>
          </a:xfrm>
          <a:prstGeom prst="roundRect">
            <a:avLst>
              <a:gd name="adj" fmla="val 4706"/>
            </a:avLst>
          </a:prstGeom>
          <a:solidFill>
            <a:srgbClr val="FFFFFF"/>
          </a:solidFill>
          <a:ln w="9525">
            <a:solidFill>
              <a:srgbClr val="D5D9DC"/>
            </a:solidFill>
            <a:prstDash val="solid"/>
          </a:ln>
        </p:spPr>
      </p:sp>
      <p:sp>
        <p:nvSpPr>
          <p:cNvPr id="9" name="Text 7"/>
          <p:cNvSpPr txBox="1"/>
          <p:nvPr/>
        </p:nvSpPr>
        <p:spPr>
          <a:xfrm>
            <a:off x="457200" y="2240280"/>
            <a:ext cx="2651760" cy="731520"/>
          </a:xfrm>
          <a:prstGeom prst="rect">
            <a:avLst/>
          </a:prstGeom>
          <a:noFill/>
          <a:ln/>
        </p:spPr>
        <p:txBody>
          <a:bodyPr wrap="square" lIns="0" tIns="0" rIns="0" bIns="0" rtlCol="0" anchor="ctr"/>
          <a:lstStyle/>
          <a:p>
            <a:pPr algn="ctr" indent="0" marL="0">
              <a:buNone/>
            </a:pPr>
            <a:r>
              <a:rPr lang="en-US" sz="3200" b="1" dirty="0">
                <a:solidFill>
                  <a:srgbClr val="008F7A"/>
                </a:solidFill>
                <a:latin typeface="Arial" pitchFamily="34" charset="0"/>
                <a:ea typeface="Arial" pitchFamily="34" charset="-122"/>
                <a:cs typeface="Arial" pitchFamily="34" charset="-120"/>
              </a:rPr>
              <a:t>7 min 48 s</a:t>
            </a:r>
            <a:endParaRPr lang="en-US" sz="3200" dirty="0"/>
          </a:p>
        </p:txBody>
      </p:sp>
      <p:sp>
        <p:nvSpPr>
          <p:cNvPr id="10" name="Text 8"/>
          <p:cNvSpPr txBox="1"/>
          <p:nvPr/>
        </p:nvSpPr>
        <p:spPr>
          <a:xfrm>
            <a:off x="594360" y="3017520"/>
            <a:ext cx="2377440" cy="594360"/>
          </a:xfrm>
          <a:prstGeom prst="rect">
            <a:avLst/>
          </a:prstGeom>
          <a:noFill/>
          <a:ln/>
        </p:spPr>
        <p:txBody>
          <a:bodyPr wrap="square" lIns="0" tIns="0" rIns="0" bIns="0" rtlCol="0" anchor="t"/>
          <a:lstStyle/>
          <a:p>
            <a:pPr algn="ctr" indent="0" marL="0">
              <a:buNone/>
            </a:pPr>
            <a:r>
              <a:rPr lang="en-US" sz="1600" dirty="0">
                <a:solidFill>
                  <a:srgbClr val="5C6573"/>
                </a:solidFill>
                <a:latin typeface="Arial" pitchFamily="34" charset="0"/>
                <a:ea typeface="Arial" pitchFamily="34" charset="-122"/>
                <a:cs typeface="Arial" pitchFamily="34" charset="-120"/>
              </a:rPr>
              <a:t>bnn_mnist, Docker, development Mac</a:t>
            </a:r>
            <a:endParaRPr lang="en-US" sz="1600" dirty="0"/>
          </a:p>
        </p:txBody>
      </p:sp>
      <p:sp>
        <p:nvSpPr>
          <p:cNvPr id="11" name="card"/>
          <p:cNvSpPr/>
          <p:nvPr/>
        </p:nvSpPr>
        <p:spPr>
          <a:xfrm>
            <a:off x="3246120" y="2103120"/>
            <a:ext cx="2651760" cy="1554480"/>
          </a:xfrm>
          <a:prstGeom prst="roundRect">
            <a:avLst>
              <a:gd name="adj" fmla="val 4706"/>
            </a:avLst>
          </a:prstGeom>
          <a:solidFill>
            <a:srgbClr val="FFFFFF"/>
          </a:solidFill>
          <a:ln w="9525">
            <a:solidFill>
              <a:srgbClr val="D5D9DC"/>
            </a:solidFill>
            <a:prstDash val="solid"/>
          </a:ln>
        </p:spPr>
      </p:sp>
      <p:sp>
        <p:nvSpPr>
          <p:cNvPr id="12" name="Text 10"/>
          <p:cNvSpPr txBox="1"/>
          <p:nvPr/>
        </p:nvSpPr>
        <p:spPr>
          <a:xfrm>
            <a:off x="3246120" y="2240280"/>
            <a:ext cx="2651760" cy="731520"/>
          </a:xfrm>
          <a:prstGeom prst="rect">
            <a:avLst/>
          </a:prstGeom>
          <a:noFill/>
          <a:ln/>
        </p:spPr>
        <p:txBody>
          <a:bodyPr wrap="square" lIns="0" tIns="0" rIns="0" bIns="0" rtlCol="0" anchor="ctr"/>
          <a:lstStyle/>
          <a:p>
            <a:pPr algn="ctr" indent="0" marL="0">
              <a:buNone/>
            </a:pPr>
            <a:r>
              <a:rPr lang="en-US" sz="3200" b="1" dirty="0">
                <a:solidFill>
                  <a:srgbClr val="008F7A"/>
                </a:solidFill>
                <a:latin typeface="Arial" pitchFamily="34" charset="0"/>
                <a:ea typeface="Arial" pitchFamily="34" charset="-122"/>
                <a:cs typeface="Arial" pitchFamily="34" charset="-120"/>
              </a:rPr>
              <a:t>14 s</a:t>
            </a:r>
            <a:endParaRPr lang="en-US" sz="3200" dirty="0"/>
          </a:p>
        </p:txBody>
      </p:sp>
      <p:sp>
        <p:nvSpPr>
          <p:cNvPr id="13" name="Text 11"/>
          <p:cNvSpPr txBox="1"/>
          <p:nvPr/>
        </p:nvSpPr>
        <p:spPr>
          <a:xfrm>
            <a:off x="3383280" y="3017520"/>
            <a:ext cx="2377440" cy="594360"/>
          </a:xfrm>
          <a:prstGeom prst="rect">
            <a:avLst/>
          </a:prstGeom>
          <a:noFill/>
          <a:ln/>
        </p:spPr>
        <p:txBody>
          <a:bodyPr wrap="square" lIns="0" tIns="0" rIns="0" bIns="0" rtlCol="0" anchor="t"/>
          <a:lstStyle/>
          <a:p>
            <a:pPr algn="ctr" indent="0" marL="0">
              <a:buNone/>
            </a:pPr>
            <a:r>
              <a:rPr lang="en-US" sz="1600" dirty="0">
                <a:solidFill>
                  <a:srgbClr val="5C6573"/>
                </a:solidFill>
                <a:latin typeface="Arial" pitchFamily="34" charset="0"/>
                <a:ea typeface="Arial" pitchFamily="34" charset="-122"/>
                <a:cs typeface="Arial" pitchFamily="34" charset="-120"/>
              </a:rPr>
              <a:t>the same, on a re-run</a:t>
            </a:r>
            <a:endParaRPr lang="en-US" sz="1600" dirty="0"/>
          </a:p>
        </p:txBody>
      </p:sp>
      <p:sp>
        <p:nvSpPr>
          <p:cNvPr id="14" name="card"/>
          <p:cNvSpPr/>
          <p:nvPr/>
        </p:nvSpPr>
        <p:spPr>
          <a:xfrm>
            <a:off x="6035040" y="2103120"/>
            <a:ext cx="2651760" cy="1554480"/>
          </a:xfrm>
          <a:prstGeom prst="roundRect">
            <a:avLst>
              <a:gd name="adj" fmla="val 4706"/>
            </a:avLst>
          </a:prstGeom>
          <a:solidFill>
            <a:srgbClr val="FFFFFF"/>
          </a:solidFill>
          <a:ln w="9525">
            <a:solidFill>
              <a:srgbClr val="D5D9DC"/>
            </a:solidFill>
            <a:prstDash val="solid"/>
          </a:ln>
        </p:spPr>
      </p:sp>
      <p:sp>
        <p:nvSpPr>
          <p:cNvPr id="15" name="Text 13"/>
          <p:cNvSpPr txBox="1"/>
          <p:nvPr/>
        </p:nvSpPr>
        <p:spPr>
          <a:xfrm>
            <a:off x="6035040" y="2240280"/>
            <a:ext cx="2651760" cy="731520"/>
          </a:xfrm>
          <a:prstGeom prst="rect">
            <a:avLst/>
          </a:prstGeom>
          <a:noFill/>
          <a:ln/>
        </p:spPr>
        <p:txBody>
          <a:bodyPr wrap="square" lIns="0" tIns="0" rIns="0" bIns="0" rtlCol="0" anchor="ctr"/>
          <a:lstStyle/>
          <a:p>
            <a:pPr algn="ctr" indent="0" marL="0">
              <a:buNone/>
            </a:pPr>
            <a:r>
              <a:rPr lang="en-US" sz="3200" b="1" dirty="0">
                <a:solidFill>
                  <a:srgbClr val="008F7A"/>
                </a:solidFill>
                <a:latin typeface="Arial" pitchFamily="34" charset="0"/>
                <a:ea typeface="Arial" pitchFamily="34" charset="-122"/>
                <a:cs typeface="Arial" pitchFamily="34" charset="-120"/>
              </a:rPr>
              <a:t>437 s</a:t>
            </a:r>
            <a:endParaRPr lang="en-US" sz="3200" dirty="0"/>
          </a:p>
        </p:txBody>
      </p:sp>
      <p:sp>
        <p:nvSpPr>
          <p:cNvPr id="16" name="Text 14"/>
          <p:cNvSpPr txBox="1"/>
          <p:nvPr/>
        </p:nvSpPr>
        <p:spPr>
          <a:xfrm>
            <a:off x="6172200" y="3017520"/>
            <a:ext cx="2377440" cy="594360"/>
          </a:xfrm>
          <a:prstGeom prst="rect">
            <a:avLst/>
          </a:prstGeom>
          <a:noFill/>
          <a:ln/>
        </p:spPr>
        <p:txBody>
          <a:bodyPr wrap="square" lIns="0" tIns="0" rIns="0" bIns="0" rtlCol="0" anchor="t"/>
          <a:lstStyle/>
          <a:p>
            <a:pPr algn="ctr" indent="0" marL="0">
              <a:buNone/>
            </a:pPr>
            <a:r>
              <a:rPr lang="en-US" sz="1600" dirty="0">
                <a:solidFill>
                  <a:srgbClr val="5C6573"/>
                </a:solidFill>
                <a:latin typeface="Arial" pitchFamily="34" charset="0"/>
                <a:ea typeface="Arial" pitchFamily="34" charset="-122"/>
                <a:cs typeface="Arial" pitchFamily="34" charset="-120"/>
              </a:rPr>
              <a:t>bnn_mnist, Docker-free Ubuntu container</a:t>
            </a:r>
            <a:endParaRPr lang="en-US" sz="1600" dirty="0"/>
          </a:p>
        </p:txBody>
      </p:sp>
      <p:sp>
        <p:nvSpPr>
          <p:cNvPr id="17" name="Text 15"/>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Container: 2 CPUs, 8 GB, arm64. A re-run skips finished stages.</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Running it yourself: where things stand today</a:t>
            </a:r>
            <a:endParaRPr lang="en-US" sz="2800" dirty="0"/>
          </a:p>
        </p:txBody>
      </p:sp>
      <p:sp>
        <p:nvSpPr>
          <p:cNvPr id="3" name="pill DONE"/>
          <p:cNvSpPr/>
          <p:nvPr/>
        </p:nvSpPr>
        <p:spPr>
          <a:xfrm>
            <a:off x="457200" y="1508760"/>
            <a:ext cx="822960" cy="329184"/>
          </a:xfrm>
          <a:prstGeom prst="roundRect">
            <a:avLst>
              <a:gd name="adj" fmla="val 50000"/>
            </a:avLst>
          </a:prstGeom>
          <a:solidFill>
            <a:srgbClr val="E1F0ED"/>
          </a:solidFill>
          <a:ln w="6350">
            <a:solidFill>
              <a:srgbClr val="E1F0ED"/>
            </a:solidFill>
            <a:prstDash val="solid"/>
          </a:ln>
        </p:spPr>
      </p:sp>
      <p:sp>
        <p:nvSpPr>
          <p:cNvPr id="4" name="Text 2"/>
          <p:cNvSpPr txBox="1"/>
          <p:nvPr/>
        </p:nvSpPr>
        <p:spPr>
          <a:xfrm>
            <a:off x="457200" y="1508760"/>
            <a:ext cx="822960" cy="329184"/>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DONE</a:t>
            </a:r>
            <a:endParaRPr lang="en-US" sz="1200" dirty="0"/>
          </a:p>
        </p:txBody>
      </p:sp>
      <p:sp>
        <p:nvSpPr>
          <p:cNvPr id="5" name="Text 3"/>
          <p:cNvSpPr txBox="1"/>
          <p:nvPr/>
        </p:nvSpPr>
        <p:spPr>
          <a:xfrm>
            <a:off x="1463040" y="1325880"/>
            <a:ext cx="2103120" cy="73152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GitHub Actions</a:t>
            </a:r>
            <a:endParaRPr lang="en-US" sz="2000" dirty="0"/>
          </a:p>
        </p:txBody>
      </p:sp>
      <p:sp>
        <p:nvSpPr>
          <p:cNvPr id="6" name="Text 4"/>
          <p:cNvSpPr txBox="1"/>
          <p:nvPr/>
        </p:nvSpPr>
        <p:spPr>
          <a:xfrm>
            <a:off x="3611880" y="1325880"/>
            <a:ext cx="5074920" cy="731520"/>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tests and RTL simulation passed twice; hardening, gate-level and lunch workflows not run there</a:t>
            </a:r>
            <a:endParaRPr lang="en-US" sz="1600" dirty="0"/>
          </a:p>
        </p:txBody>
      </p:sp>
      <p:sp>
        <p:nvSpPr>
          <p:cNvPr id="7" name="pill OPEN"/>
          <p:cNvSpPr/>
          <p:nvPr/>
        </p:nvSpPr>
        <p:spPr>
          <a:xfrm>
            <a:off x="457200" y="2331720"/>
            <a:ext cx="822960" cy="329184"/>
          </a:xfrm>
          <a:prstGeom prst="roundRect">
            <a:avLst>
              <a:gd name="adj" fmla="val 50000"/>
            </a:avLst>
          </a:prstGeom>
          <a:solidFill>
            <a:srgbClr val="FFE9E4"/>
          </a:solidFill>
          <a:ln w="6350">
            <a:solidFill>
              <a:srgbClr val="FFE9E4"/>
            </a:solidFill>
            <a:prstDash val="solid"/>
          </a:ln>
        </p:spPr>
      </p:sp>
      <p:sp>
        <p:nvSpPr>
          <p:cNvPr id="8" name="Text 6"/>
          <p:cNvSpPr txBox="1"/>
          <p:nvPr/>
        </p:nvSpPr>
        <p:spPr>
          <a:xfrm>
            <a:off x="457200" y="2331720"/>
            <a:ext cx="822960" cy="329184"/>
          </a:xfrm>
          <a:prstGeom prst="rect">
            <a:avLst/>
          </a:prstGeom>
          <a:noFill/>
          <a:ln/>
        </p:spPr>
        <p:txBody>
          <a:bodyPr wrap="square" lIns="0" tIns="0" rIns="0" bIns="0" rtlCol="0" anchor="ctr"/>
          <a:lstStyle/>
          <a:p>
            <a:pPr algn="ctr" indent="0" marL="0">
              <a:buNone/>
            </a:pPr>
            <a:r>
              <a:rPr lang="en-US" sz="1200" b="1" dirty="0">
                <a:solidFill>
                  <a:srgbClr val="B83A22"/>
                </a:solidFill>
                <a:latin typeface="Arial" pitchFamily="34" charset="0"/>
                <a:ea typeface="Arial" pitchFamily="34" charset="-122"/>
                <a:cs typeface="Arial" pitchFamily="34" charset="-120"/>
              </a:rPr>
              <a:t>OPEN</a:t>
            </a:r>
            <a:endParaRPr lang="en-US" sz="1200" dirty="0"/>
          </a:p>
        </p:txBody>
      </p:sp>
      <p:sp>
        <p:nvSpPr>
          <p:cNvPr id="9" name="Text 7"/>
          <p:cNvSpPr txBox="1"/>
          <p:nvPr/>
        </p:nvSpPr>
        <p:spPr>
          <a:xfrm>
            <a:off x="1463040" y="2148840"/>
            <a:ext cx="2103120" cy="73152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Colab notebook</a:t>
            </a:r>
            <a:endParaRPr lang="en-US" sz="2000" dirty="0"/>
          </a:p>
        </p:txBody>
      </p:sp>
      <p:sp>
        <p:nvSpPr>
          <p:cNvPr id="10" name="Text 8"/>
          <p:cNvSpPr txBox="1"/>
          <p:nvPr/>
        </p:nvSpPr>
        <p:spPr>
          <a:xfrm>
            <a:off x="3611880" y="2148840"/>
            <a:ext cx="5074920" cy="731520"/>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exists; ran as a script in a container, not run on Colab</a:t>
            </a:r>
            <a:endParaRPr lang="en-US" sz="1600" dirty="0"/>
          </a:p>
        </p:txBody>
      </p:sp>
      <p:sp>
        <p:nvSpPr>
          <p:cNvPr id="11" name="pill OPEN"/>
          <p:cNvSpPr/>
          <p:nvPr/>
        </p:nvSpPr>
        <p:spPr>
          <a:xfrm>
            <a:off x="457200" y="3154680"/>
            <a:ext cx="822960" cy="329184"/>
          </a:xfrm>
          <a:prstGeom prst="roundRect">
            <a:avLst>
              <a:gd name="adj" fmla="val 50000"/>
            </a:avLst>
          </a:prstGeom>
          <a:solidFill>
            <a:srgbClr val="FFE9E4"/>
          </a:solidFill>
          <a:ln w="6350">
            <a:solidFill>
              <a:srgbClr val="FFE9E4"/>
            </a:solidFill>
            <a:prstDash val="solid"/>
          </a:ln>
        </p:spPr>
      </p:sp>
      <p:sp>
        <p:nvSpPr>
          <p:cNvPr id="12" name="Text 10"/>
          <p:cNvSpPr txBox="1"/>
          <p:nvPr/>
        </p:nvSpPr>
        <p:spPr>
          <a:xfrm>
            <a:off x="457200" y="3154680"/>
            <a:ext cx="822960" cy="329184"/>
          </a:xfrm>
          <a:prstGeom prst="rect">
            <a:avLst/>
          </a:prstGeom>
          <a:noFill/>
          <a:ln/>
        </p:spPr>
        <p:txBody>
          <a:bodyPr wrap="square" lIns="0" tIns="0" rIns="0" bIns="0" rtlCol="0" anchor="ctr"/>
          <a:lstStyle/>
          <a:p>
            <a:pPr algn="ctr" indent="0" marL="0">
              <a:buNone/>
            </a:pPr>
            <a:r>
              <a:rPr lang="en-US" sz="1200" b="1" dirty="0">
                <a:solidFill>
                  <a:srgbClr val="B83A22"/>
                </a:solidFill>
                <a:latin typeface="Arial" pitchFamily="34" charset="0"/>
                <a:ea typeface="Arial" pitchFamily="34" charset="-122"/>
                <a:cs typeface="Arial" pitchFamily="34" charset="-120"/>
              </a:rPr>
              <a:t>OPEN</a:t>
            </a:r>
            <a:endParaRPr lang="en-US" sz="1200" dirty="0"/>
          </a:p>
        </p:txBody>
      </p:sp>
      <p:sp>
        <p:nvSpPr>
          <p:cNvPr id="13" name="Text 11"/>
          <p:cNvSpPr txBox="1"/>
          <p:nvPr/>
        </p:nvSpPr>
        <p:spPr>
          <a:xfrm>
            <a:off x="1463040" y="2971800"/>
            <a:ext cx="2103120" cy="73152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Codespaces</a:t>
            </a:r>
            <a:endParaRPr lang="en-US" sz="2000" dirty="0"/>
          </a:p>
        </p:txBody>
      </p:sp>
      <p:sp>
        <p:nvSpPr>
          <p:cNvPr id="14" name="Text 12"/>
          <p:cNvSpPr txBox="1"/>
          <p:nvPr/>
        </p:nvSpPr>
        <p:spPr>
          <a:xfrm>
            <a:off x="3611880" y="2971800"/>
            <a:ext cx="5074920" cy="731520"/>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nothing run in a real Codespace</a:t>
            </a:r>
            <a:endParaRPr lang="en-US" sz="1600" dirty="0"/>
          </a:p>
        </p:txBody>
      </p:sp>
      <p:sp>
        <p:nvSpPr>
          <p:cNvPr id="15" name="pill OPEN"/>
          <p:cNvSpPr/>
          <p:nvPr/>
        </p:nvSpPr>
        <p:spPr>
          <a:xfrm>
            <a:off x="457200" y="3977640"/>
            <a:ext cx="822960" cy="329184"/>
          </a:xfrm>
          <a:prstGeom prst="roundRect">
            <a:avLst>
              <a:gd name="adj" fmla="val 50000"/>
            </a:avLst>
          </a:prstGeom>
          <a:solidFill>
            <a:srgbClr val="FFE9E4"/>
          </a:solidFill>
          <a:ln w="6350">
            <a:solidFill>
              <a:srgbClr val="FFE9E4"/>
            </a:solidFill>
            <a:prstDash val="solid"/>
          </a:ln>
        </p:spPr>
      </p:sp>
      <p:sp>
        <p:nvSpPr>
          <p:cNvPr id="16" name="Text 14"/>
          <p:cNvSpPr txBox="1"/>
          <p:nvPr/>
        </p:nvSpPr>
        <p:spPr>
          <a:xfrm>
            <a:off x="457200" y="3977640"/>
            <a:ext cx="822960" cy="329184"/>
          </a:xfrm>
          <a:prstGeom prst="rect">
            <a:avLst/>
          </a:prstGeom>
          <a:noFill/>
          <a:ln/>
        </p:spPr>
        <p:txBody>
          <a:bodyPr wrap="square" lIns="0" tIns="0" rIns="0" bIns="0" rtlCol="0" anchor="ctr"/>
          <a:lstStyle/>
          <a:p>
            <a:pPr algn="ctr" indent="0" marL="0">
              <a:buNone/>
            </a:pPr>
            <a:r>
              <a:rPr lang="en-US" sz="1200" b="1" dirty="0">
                <a:solidFill>
                  <a:srgbClr val="B83A22"/>
                </a:solidFill>
                <a:latin typeface="Arial" pitchFamily="34" charset="0"/>
                <a:ea typeface="Arial" pitchFamily="34" charset="-122"/>
                <a:cs typeface="Arial" pitchFamily="34" charset="-120"/>
              </a:rPr>
              <a:t>OPEN</a:t>
            </a:r>
            <a:endParaRPr lang="en-US" sz="1200" dirty="0"/>
          </a:p>
        </p:txBody>
      </p:sp>
      <p:sp>
        <p:nvSpPr>
          <p:cNvPr id="17" name="Text 15"/>
          <p:cNvSpPr txBox="1"/>
          <p:nvPr/>
        </p:nvSpPr>
        <p:spPr>
          <a:xfrm>
            <a:off x="1463040" y="3794760"/>
            <a:ext cx="2103120" cy="73152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Repository</a:t>
            </a:r>
            <a:endParaRPr lang="en-US" sz="2000" dirty="0"/>
          </a:p>
        </p:txBody>
      </p:sp>
      <p:sp>
        <p:nvSpPr>
          <p:cNvPr id="18" name="Text 16"/>
          <p:cNvSpPr txBox="1"/>
          <p:nvPr/>
        </p:nvSpPr>
        <p:spPr>
          <a:xfrm>
            <a:off x="3611880" y="3794760"/>
            <a:ext cx="5074920" cy="731520"/>
          </a:xfrm>
          <a:prstGeom prst="rect">
            <a:avLst/>
          </a:prstGeom>
          <a:noFill/>
          <a:ln/>
        </p:spPr>
        <p:txBody>
          <a:bodyPr wrap="square" lIns="0" tIns="0" rIns="0" bIns="0" rtlCol="0" anchor="ctr"/>
          <a:lstStyle/>
          <a:p>
            <a:pPr indent="0" marL="0">
              <a:buNone/>
            </a:pPr>
            <a:r>
              <a:rPr lang="en-US" sz="1600" dirty="0">
                <a:solidFill>
                  <a:srgbClr val="5C6573"/>
                </a:solidFill>
                <a:latin typeface="Arial" pitchFamily="34" charset="0"/>
                <a:ea typeface="Arial" pitchFamily="34" charset="-122"/>
                <a:cs typeface="Arial" pitchFamily="34" charset="-120"/>
              </a:rPr>
              <a:t>private</a:t>
            </a:r>
            <a:endParaRPr lang="en-US" sz="1600" dirty="0"/>
          </a:p>
        </p:txBody>
      </p:sp>
      <p:sp>
        <p:nvSpPr>
          <p:cNvPr id="19" name="Text 17"/>
          <p:cNvSpPr txBox="1"/>
          <p:nvPr/>
        </p:nvSpPr>
        <p:spPr>
          <a:xfrm>
            <a:off x="457200" y="4526280"/>
            <a:ext cx="8229600" cy="274320"/>
          </a:xfrm>
          <a:prstGeom prst="rect">
            <a:avLst/>
          </a:prstGeom>
          <a:noFill/>
          <a:ln/>
        </p:spPr>
        <p:txBody>
          <a:bodyPr wrap="square" lIns="0" tIns="0" rIns="0" bIns="0" rtlCol="0" anchor="t"/>
          <a:lstStyle/>
          <a:p>
            <a:pPr indent="0" marL="0">
              <a:buNone/>
            </a:pPr>
            <a:r>
              <a:rPr lang="en-US" sz="1600" b="1" dirty="0">
                <a:solidFill>
                  <a:srgbClr val="B83A22"/>
                </a:solidFill>
                <a:latin typeface="Arial" pitchFamily="34" charset="0"/>
                <a:ea typeface="Arial" pitchFamily="34" charset="-122"/>
                <a:cs typeface="Arial" pitchFamily="34" charset="-120"/>
              </a:rPr>
              <a:t>The labs have run on one Mac's Linux VM only.</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Next, a design could go to silicon through ChipIgnite</a:t>
            </a:r>
            <a:endParaRPr lang="en-US" sz="2800" dirty="0"/>
          </a:p>
        </p:txBody>
      </p:sp>
      <p:sp>
        <p:nvSpPr>
          <p:cNvPr id="3" name="pill PLANNED, NOT DONE"/>
          <p:cNvSpPr/>
          <p:nvPr/>
        </p:nvSpPr>
        <p:spPr>
          <a:xfrm>
            <a:off x="457200" y="1325880"/>
            <a:ext cx="2194560" cy="329184"/>
          </a:xfrm>
          <a:prstGeom prst="roundRect">
            <a:avLst>
              <a:gd name="adj" fmla="val 50000"/>
            </a:avLst>
          </a:prstGeom>
          <a:solidFill>
            <a:srgbClr val="FFE9E4"/>
          </a:solidFill>
          <a:ln w="6350">
            <a:solidFill>
              <a:srgbClr val="FFE9E4"/>
            </a:solidFill>
            <a:prstDash val="solid"/>
          </a:ln>
        </p:spPr>
      </p:sp>
      <p:sp>
        <p:nvSpPr>
          <p:cNvPr id="4" name="Text 2"/>
          <p:cNvSpPr txBox="1"/>
          <p:nvPr/>
        </p:nvSpPr>
        <p:spPr>
          <a:xfrm>
            <a:off x="457200" y="1325880"/>
            <a:ext cx="2194560" cy="329184"/>
          </a:xfrm>
          <a:prstGeom prst="rect">
            <a:avLst/>
          </a:prstGeom>
          <a:noFill/>
          <a:ln/>
        </p:spPr>
        <p:txBody>
          <a:bodyPr wrap="square" lIns="0" tIns="0" rIns="0" bIns="0" rtlCol="0" anchor="ctr"/>
          <a:lstStyle/>
          <a:p>
            <a:pPr algn="ctr" indent="0" marL="0">
              <a:buNone/>
            </a:pPr>
            <a:r>
              <a:rPr lang="en-US" sz="1200" b="1" dirty="0">
                <a:solidFill>
                  <a:srgbClr val="B83A22"/>
                </a:solidFill>
                <a:latin typeface="Arial" pitchFamily="34" charset="0"/>
                <a:ea typeface="Arial" pitchFamily="34" charset="-122"/>
                <a:cs typeface="Arial" pitchFamily="34" charset="-120"/>
              </a:rPr>
              <a:t>PLANNED, NOT DONE</a:t>
            </a:r>
            <a:endParaRPr lang="en-US" sz="1200" dirty="0"/>
          </a:p>
        </p:txBody>
      </p:sp>
      <p:sp>
        <p:nvSpPr>
          <p:cNvPr id="5" name="block Harden"/>
          <p:cNvSpPr/>
          <p:nvPr/>
        </p:nvSpPr>
        <p:spPr>
          <a:xfrm>
            <a:off x="457200" y="1920240"/>
            <a:ext cx="1851660" cy="1280160"/>
          </a:xfrm>
          <a:prstGeom prst="roundRect">
            <a:avLst>
              <a:gd name="adj" fmla="val 4286"/>
            </a:avLst>
          </a:prstGeom>
          <a:solidFill>
            <a:srgbClr val="FFFFFF"/>
          </a:solidFill>
          <a:ln w="12700">
            <a:solidFill>
              <a:srgbClr val="008F7A"/>
            </a:solidFill>
            <a:prstDash val="solid"/>
          </a:ln>
        </p:spPr>
      </p:sp>
      <p:sp>
        <p:nvSpPr>
          <p:cNvPr id="6" name="Text 4"/>
          <p:cNvSpPr txBox="1"/>
          <p:nvPr/>
        </p:nvSpPr>
        <p:spPr>
          <a:xfrm>
            <a:off x="457200" y="1920240"/>
            <a:ext cx="1851660" cy="1280160"/>
          </a:xfrm>
          <a:prstGeom prst="rect">
            <a:avLst/>
          </a:prstGeom>
          <a:noFill/>
          <a:ln/>
        </p:spPr>
        <p:txBody>
          <a:bodyPr wrap="square" lIns="25400" tIns="25400" rIns="25400" bIns="25400" rtlCol="0" anchor="ctr"/>
          <a:lstStyle/>
          <a:p>
            <a:pPr algn="ctr" indent="0" marL="0">
              <a:buNone/>
            </a:pPr>
            <a:r>
              <a:rPr lang="en-US" sz="1600" b="1" dirty="0">
                <a:solidFill>
                  <a:srgbClr val="12151C"/>
                </a:solidFill>
                <a:latin typeface="Arial" pitchFamily="34" charset="0"/>
                <a:ea typeface="Arial" pitchFamily="34" charset="-122"/>
                <a:cs typeface="Arial" pitchFamily="34" charset="-120"/>
              </a:rPr>
              <a:t>Harden</a:t>
            </a:r>
            <a:endParaRPr lang="en-US" sz="1600" dirty="0"/>
          </a:p>
          <a:p>
            <a:pPr algn="ctr" indent="0" marL="0">
              <a:buNone/>
            </a:pPr>
            <a:r>
              <a:rPr lang="en-US" sz="1600" b="1" dirty="0">
                <a:solidFill>
                  <a:srgbClr val="12151C"/>
                </a:solidFill>
                <a:latin typeface="Arial" pitchFamily="34" charset="0"/>
                <a:ea typeface="Arial" pitchFamily="34" charset="-122"/>
                <a:cs typeface="Arial" pitchFamily="34" charset="-120"/>
              </a:rPr>
              <a:t>bnn_mnist</a:t>
            </a:r>
            <a:endParaRPr lang="en-US" sz="1600" dirty="0"/>
          </a:p>
        </p:txBody>
      </p:sp>
      <p:sp>
        <p:nvSpPr>
          <p:cNvPr id="7" name="arrow"/>
          <p:cNvSpPr/>
          <p:nvPr/>
        </p:nvSpPr>
        <p:spPr>
          <a:xfrm>
            <a:off x="2336292" y="2560320"/>
            <a:ext cx="219456" cy="0"/>
          </a:xfrm>
          <a:prstGeom prst="line">
            <a:avLst/>
          </a:prstGeom>
          <a:noFill/>
          <a:ln w="25400">
            <a:solidFill>
              <a:srgbClr val="FF4D2E"/>
            </a:solidFill>
            <a:prstDash val="solid"/>
            <a:tailEnd type="triangle"/>
          </a:ln>
        </p:spPr>
      </p:sp>
      <p:sp>
        <p:nvSpPr>
          <p:cNvPr id="8" name="block Wrap in"/>
          <p:cNvSpPr/>
          <p:nvPr/>
        </p:nvSpPr>
        <p:spPr>
          <a:xfrm>
            <a:off x="2583180" y="1920240"/>
            <a:ext cx="1851660" cy="1280160"/>
          </a:xfrm>
          <a:prstGeom prst="roundRect">
            <a:avLst>
              <a:gd name="adj" fmla="val 4286"/>
            </a:avLst>
          </a:prstGeom>
          <a:solidFill>
            <a:srgbClr val="FFFFFF"/>
          </a:solidFill>
          <a:ln w="12700">
            <a:solidFill>
              <a:srgbClr val="008F7A"/>
            </a:solidFill>
            <a:prstDash val="solid"/>
          </a:ln>
        </p:spPr>
      </p:sp>
      <p:sp>
        <p:nvSpPr>
          <p:cNvPr id="9" name="Text 7"/>
          <p:cNvSpPr txBox="1"/>
          <p:nvPr/>
        </p:nvSpPr>
        <p:spPr>
          <a:xfrm>
            <a:off x="2583180" y="1920240"/>
            <a:ext cx="1851660" cy="1280160"/>
          </a:xfrm>
          <a:prstGeom prst="rect">
            <a:avLst/>
          </a:prstGeom>
          <a:noFill/>
          <a:ln/>
        </p:spPr>
        <p:txBody>
          <a:bodyPr wrap="square" lIns="25400" tIns="25400" rIns="25400" bIns="25400" rtlCol="0" anchor="ctr"/>
          <a:lstStyle/>
          <a:p>
            <a:pPr algn="ctr" indent="0" marL="0">
              <a:buNone/>
            </a:pPr>
            <a:r>
              <a:rPr lang="en-US" sz="1600" b="1" dirty="0">
                <a:solidFill>
                  <a:srgbClr val="12151C"/>
                </a:solidFill>
                <a:latin typeface="Arial" pitchFamily="34" charset="0"/>
                <a:ea typeface="Arial" pitchFamily="34" charset="-122"/>
                <a:cs typeface="Arial" pitchFamily="34" charset="-120"/>
              </a:rPr>
              <a:t>Wrap in</a:t>
            </a:r>
            <a:endParaRPr lang="en-US" sz="1600" dirty="0"/>
          </a:p>
          <a:p>
            <a:pPr algn="ctr" indent="0" marL="0">
              <a:buNone/>
            </a:pPr>
            <a:r>
              <a:rPr lang="en-US" sz="1600" b="1" dirty="0">
                <a:solidFill>
                  <a:srgbClr val="12151C"/>
                </a:solidFill>
                <a:latin typeface="Arial" pitchFamily="34" charset="0"/>
                <a:ea typeface="Arial" pitchFamily="34" charset="-122"/>
                <a:cs typeface="Arial" pitchFamily="34" charset="-120"/>
              </a:rPr>
              <a:t>Caravel</a:t>
            </a:r>
            <a:endParaRPr lang="en-US" sz="1600" dirty="0"/>
          </a:p>
        </p:txBody>
      </p:sp>
      <p:sp>
        <p:nvSpPr>
          <p:cNvPr id="10" name="arrow"/>
          <p:cNvSpPr/>
          <p:nvPr/>
        </p:nvSpPr>
        <p:spPr>
          <a:xfrm>
            <a:off x="4462272" y="2560320"/>
            <a:ext cx="219456" cy="0"/>
          </a:xfrm>
          <a:prstGeom prst="line">
            <a:avLst/>
          </a:prstGeom>
          <a:noFill/>
          <a:ln w="25400">
            <a:solidFill>
              <a:srgbClr val="FF4D2E"/>
            </a:solidFill>
            <a:prstDash val="solid"/>
            <a:tailEnd type="triangle"/>
          </a:ln>
        </p:spPr>
      </p:sp>
      <p:sp>
        <p:nvSpPr>
          <p:cNvPr id="11" name="block Pass"/>
          <p:cNvSpPr/>
          <p:nvPr/>
        </p:nvSpPr>
        <p:spPr>
          <a:xfrm>
            <a:off x="4709160" y="1920240"/>
            <a:ext cx="1851660" cy="1280160"/>
          </a:xfrm>
          <a:prstGeom prst="roundRect">
            <a:avLst>
              <a:gd name="adj" fmla="val 4286"/>
            </a:avLst>
          </a:prstGeom>
          <a:solidFill>
            <a:srgbClr val="FFFFFF"/>
          </a:solidFill>
          <a:ln w="12700">
            <a:solidFill>
              <a:srgbClr val="008F7A"/>
            </a:solidFill>
            <a:prstDash val="solid"/>
          </a:ln>
        </p:spPr>
      </p:sp>
      <p:sp>
        <p:nvSpPr>
          <p:cNvPr id="12" name="Text 10"/>
          <p:cNvSpPr txBox="1"/>
          <p:nvPr/>
        </p:nvSpPr>
        <p:spPr>
          <a:xfrm>
            <a:off x="4709160" y="1920240"/>
            <a:ext cx="1851660" cy="1280160"/>
          </a:xfrm>
          <a:prstGeom prst="rect">
            <a:avLst/>
          </a:prstGeom>
          <a:noFill/>
          <a:ln/>
        </p:spPr>
        <p:txBody>
          <a:bodyPr wrap="square" lIns="25400" tIns="25400" rIns="25400" bIns="25400" rtlCol="0" anchor="ctr"/>
          <a:lstStyle/>
          <a:p>
            <a:pPr algn="ctr" indent="0" marL="0">
              <a:buNone/>
            </a:pPr>
            <a:r>
              <a:rPr lang="en-US" sz="1600" b="1" dirty="0">
                <a:solidFill>
                  <a:srgbClr val="12151C"/>
                </a:solidFill>
                <a:latin typeface="Arial" pitchFamily="34" charset="0"/>
                <a:ea typeface="Arial" pitchFamily="34" charset="-122"/>
                <a:cs typeface="Arial" pitchFamily="34" charset="-120"/>
              </a:rPr>
              <a:t>Pass</a:t>
            </a:r>
            <a:endParaRPr lang="en-US" sz="1600" dirty="0"/>
          </a:p>
          <a:p>
            <a:pPr algn="ctr" indent="0" marL="0">
              <a:buNone/>
            </a:pPr>
            <a:r>
              <a:rPr lang="en-US" sz="1600" b="1" dirty="0">
                <a:solidFill>
                  <a:srgbClr val="12151C"/>
                </a:solidFill>
                <a:latin typeface="Arial" pitchFamily="34" charset="0"/>
                <a:ea typeface="Arial" pitchFamily="34" charset="-122"/>
                <a:cs typeface="Arial" pitchFamily="34" charset="-120"/>
              </a:rPr>
              <a:t>precheck</a:t>
            </a:r>
            <a:endParaRPr lang="en-US" sz="1600" dirty="0"/>
          </a:p>
        </p:txBody>
      </p:sp>
      <p:sp>
        <p:nvSpPr>
          <p:cNvPr id="13" name="arrow"/>
          <p:cNvSpPr/>
          <p:nvPr/>
        </p:nvSpPr>
        <p:spPr>
          <a:xfrm>
            <a:off x="6588252" y="2560320"/>
            <a:ext cx="219456" cy="0"/>
          </a:xfrm>
          <a:prstGeom prst="line">
            <a:avLst/>
          </a:prstGeom>
          <a:noFill/>
          <a:ln w="25400">
            <a:solidFill>
              <a:srgbClr val="FF4D2E"/>
            </a:solidFill>
            <a:prstDash val="solid"/>
            <a:tailEnd type="triangle"/>
          </a:ln>
        </p:spPr>
      </p:sp>
      <p:sp>
        <p:nvSpPr>
          <p:cNvPr id="14" name="block Submit"/>
          <p:cNvSpPr/>
          <p:nvPr/>
        </p:nvSpPr>
        <p:spPr>
          <a:xfrm>
            <a:off x="6835140" y="1920240"/>
            <a:ext cx="1851660" cy="1280160"/>
          </a:xfrm>
          <a:prstGeom prst="roundRect">
            <a:avLst>
              <a:gd name="adj" fmla="val 4286"/>
            </a:avLst>
          </a:prstGeom>
          <a:solidFill>
            <a:srgbClr val="FFFFFF"/>
          </a:solidFill>
          <a:ln w="12700">
            <a:solidFill>
              <a:srgbClr val="008F7A"/>
            </a:solidFill>
            <a:prstDash val="solid"/>
          </a:ln>
        </p:spPr>
      </p:sp>
      <p:sp>
        <p:nvSpPr>
          <p:cNvPr id="15" name="Text 13"/>
          <p:cNvSpPr txBox="1"/>
          <p:nvPr/>
        </p:nvSpPr>
        <p:spPr>
          <a:xfrm>
            <a:off x="6835140" y="1920240"/>
            <a:ext cx="1851660" cy="1280160"/>
          </a:xfrm>
          <a:prstGeom prst="rect">
            <a:avLst/>
          </a:prstGeom>
          <a:noFill/>
          <a:ln/>
        </p:spPr>
        <p:txBody>
          <a:bodyPr wrap="square" lIns="25400" tIns="25400" rIns="25400" bIns="25400" rtlCol="0" anchor="ctr"/>
          <a:lstStyle/>
          <a:p>
            <a:pPr algn="ctr" indent="0" marL="0">
              <a:buNone/>
            </a:pPr>
            <a:r>
              <a:rPr lang="en-US" sz="1600" b="1" dirty="0">
                <a:solidFill>
                  <a:srgbClr val="12151C"/>
                </a:solidFill>
                <a:latin typeface="Arial" pitchFamily="34" charset="0"/>
                <a:ea typeface="Arial" pitchFamily="34" charset="-122"/>
                <a:cs typeface="Arial" pitchFamily="34" charset="-120"/>
              </a:rPr>
              <a:t>Submit</a:t>
            </a:r>
            <a:endParaRPr lang="en-US" sz="1600" dirty="0"/>
          </a:p>
          <a:p>
            <a:pPr algn="ctr" indent="0" marL="0">
              <a:buNone/>
            </a:pPr>
            <a:r>
              <a:rPr lang="en-US" sz="1600" b="1" dirty="0">
                <a:solidFill>
                  <a:srgbClr val="12151C"/>
                </a:solidFill>
                <a:latin typeface="Arial" pitchFamily="34" charset="0"/>
                <a:ea typeface="Arial" pitchFamily="34" charset="-122"/>
                <a:cs typeface="Arial" pitchFamily="34" charset="-120"/>
              </a:rPr>
              <a:t>(a human)</a:t>
            </a:r>
            <a:endParaRPr lang="en-US" sz="1600" dirty="0"/>
          </a:p>
        </p:txBody>
      </p:sp>
      <p:sp>
        <p:nvSpPr>
          <p:cNvPr id="16" name="Text 14"/>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800" b="1" dirty="0">
                <a:solidFill>
                  <a:srgbClr val="B83A22"/>
                </a:solidFill>
                <a:latin typeface="Arial" pitchFamily="34" charset="0"/>
                <a:ea typeface="Arial" pitchFamily="34" charset="-122"/>
                <a:cs typeface="Arial" pitchFamily="34" charset="-120"/>
              </a:rPr>
              <a:t>The wrapper and the precheck are not done yet.</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What stands between this and a shuttle</a:t>
            </a:r>
            <a:endParaRPr lang="en-US" sz="2800" dirty="0"/>
          </a:p>
        </p:txBody>
      </p:sp>
      <p:sp>
        <p:nvSpPr>
          <p:cNvPr id="3" name="pill OPEN"/>
          <p:cNvSpPr/>
          <p:nvPr/>
        </p:nvSpPr>
        <p:spPr>
          <a:xfrm>
            <a:off x="457200" y="1508760"/>
            <a:ext cx="822960" cy="329184"/>
          </a:xfrm>
          <a:prstGeom prst="roundRect">
            <a:avLst>
              <a:gd name="adj" fmla="val 50000"/>
            </a:avLst>
          </a:prstGeom>
          <a:solidFill>
            <a:srgbClr val="FFE9E4"/>
          </a:solidFill>
          <a:ln w="6350">
            <a:solidFill>
              <a:srgbClr val="FFE9E4"/>
            </a:solidFill>
            <a:prstDash val="solid"/>
          </a:ln>
        </p:spPr>
      </p:sp>
      <p:sp>
        <p:nvSpPr>
          <p:cNvPr id="4" name="Text 2"/>
          <p:cNvSpPr txBox="1"/>
          <p:nvPr/>
        </p:nvSpPr>
        <p:spPr>
          <a:xfrm>
            <a:off x="457200" y="1508760"/>
            <a:ext cx="822960" cy="329184"/>
          </a:xfrm>
          <a:prstGeom prst="rect">
            <a:avLst/>
          </a:prstGeom>
          <a:noFill/>
          <a:ln/>
        </p:spPr>
        <p:txBody>
          <a:bodyPr wrap="square" lIns="0" tIns="0" rIns="0" bIns="0" rtlCol="0" anchor="ctr"/>
          <a:lstStyle/>
          <a:p>
            <a:pPr algn="ctr" indent="0" marL="0">
              <a:buNone/>
            </a:pPr>
            <a:r>
              <a:rPr lang="en-US" sz="1200" b="1" dirty="0">
                <a:solidFill>
                  <a:srgbClr val="B83A22"/>
                </a:solidFill>
                <a:latin typeface="Arial" pitchFamily="34" charset="0"/>
                <a:ea typeface="Arial" pitchFamily="34" charset="-122"/>
                <a:cs typeface="Arial" pitchFamily="34" charset="-120"/>
              </a:rPr>
              <a:t>OPEN</a:t>
            </a:r>
            <a:endParaRPr lang="en-US" sz="1200" dirty="0"/>
          </a:p>
        </p:txBody>
      </p:sp>
      <p:sp>
        <p:nvSpPr>
          <p:cNvPr id="5" name="Text 3"/>
          <p:cNvSpPr txBox="1"/>
          <p:nvPr/>
        </p:nvSpPr>
        <p:spPr>
          <a:xfrm>
            <a:off x="1463040" y="1325880"/>
            <a:ext cx="4480560" cy="685800"/>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Caravel wrapper and ChipFoundry precheck</a:t>
            </a:r>
            <a:endParaRPr lang="en-US" sz="1800" dirty="0"/>
          </a:p>
        </p:txBody>
      </p:sp>
      <p:sp>
        <p:nvSpPr>
          <p:cNvPr id="6" name="Text 4"/>
          <p:cNvSpPr txBox="1"/>
          <p:nvPr/>
        </p:nvSpPr>
        <p:spPr>
          <a:xfrm>
            <a:off x="6035040" y="1325880"/>
            <a:ext cx="2651760" cy="685800"/>
          </a:xfrm>
          <a:prstGeom prst="rect">
            <a:avLst/>
          </a:prstGeom>
          <a:noFill/>
          <a:ln/>
        </p:spPr>
        <p:txBody>
          <a:bodyPr wrap="square" lIns="0" tIns="0" rIns="0" bIns="0" rtlCol="0" anchor="ctr"/>
          <a:lstStyle/>
          <a:p>
            <a:pPr indent="0" marL="0">
              <a:buNone/>
            </a:pPr>
            <a:r>
              <a:rPr lang="en-US" sz="1800" dirty="0">
                <a:solidFill>
                  <a:srgbClr val="5C6573"/>
                </a:solidFill>
                <a:latin typeface="Arial" pitchFamily="34" charset="0"/>
                <a:ea typeface="Arial" pitchFamily="34" charset="-122"/>
                <a:cs typeface="Arial" pitchFamily="34" charset="-120"/>
              </a:rPr>
              <a:t>not started</a:t>
            </a:r>
            <a:endParaRPr lang="en-US" sz="1800" dirty="0"/>
          </a:p>
        </p:txBody>
      </p:sp>
      <p:sp>
        <p:nvSpPr>
          <p:cNvPr id="7" name="pill DONE"/>
          <p:cNvSpPr/>
          <p:nvPr/>
        </p:nvSpPr>
        <p:spPr>
          <a:xfrm>
            <a:off x="457200" y="2240280"/>
            <a:ext cx="822960" cy="329184"/>
          </a:xfrm>
          <a:prstGeom prst="roundRect">
            <a:avLst>
              <a:gd name="adj" fmla="val 50000"/>
            </a:avLst>
          </a:prstGeom>
          <a:solidFill>
            <a:srgbClr val="E1F0ED"/>
          </a:solidFill>
          <a:ln w="6350">
            <a:solidFill>
              <a:srgbClr val="E1F0ED"/>
            </a:solidFill>
            <a:prstDash val="solid"/>
          </a:ln>
        </p:spPr>
      </p:sp>
      <p:sp>
        <p:nvSpPr>
          <p:cNvPr id="8" name="Text 6"/>
          <p:cNvSpPr txBox="1"/>
          <p:nvPr/>
        </p:nvSpPr>
        <p:spPr>
          <a:xfrm>
            <a:off x="457200" y="2240280"/>
            <a:ext cx="822960" cy="329184"/>
          </a:xfrm>
          <a:prstGeom prst="rect">
            <a:avLst/>
          </a:prstGeom>
          <a:noFill/>
          <a:ln/>
        </p:spPr>
        <p:txBody>
          <a:bodyPr wrap="square" lIns="0" tIns="0" rIns="0" bIns="0" rtlCol="0" anchor="ctr"/>
          <a:lstStyle/>
          <a:p>
            <a:pPr algn="ctr" indent="0" marL="0">
              <a:buNone/>
            </a:pPr>
            <a:r>
              <a:rPr lang="en-US" sz="1200" b="1" dirty="0">
                <a:solidFill>
                  <a:srgbClr val="008F7A"/>
                </a:solidFill>
                <a:latin typeface="Arial" pitchFamily="34" charset="0"/>
                <a:ea typeface="Arial" pitchFamily="34" charset="-122"/>
                <a:cs typeface="Arial" pitchFamily="34" charset="-120"/>
              </a:rPr>
              <a:t>DONE</a:t>
            </a:r>
            <a:endParaRPr lang="en-US" sz="1200" dirty="0"/>
          </a:p>
        </p:txBody>
      </p:sp>
      <p:sp>
        <p:nvSpPr>
          <p:cNvPr id="9" name="Text 7"/>
          <p:cNvSpPr txBox="1"/>
          <p:nvPr/>
        </p:nvSpPr>
        <p:spPr>
          <a:xfrm>
            <a:off x="1463040" y="2057400"/>
            <a:ext cx="4480560" cy="685800"/>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Gate-level and no-logic-lost checks</a:t>
            </a:r>
            <a:endParaRPr lang="en-US" sz="1800" dirty="0"/>
          </a:p>
        </p:txBody>
      </p:sp>
      <p:sp>
        <p:nvSpPr>
          <p:cNvPr id="10" name="Text 8"/>
          <p:cNvSpPr txBox="1"/>
          <p:nvPr/>
        </p:nvSpPr>
        <p:spPr>
          <a:xfrm>
            <a:off x="6035040" y="2057400"/>
            <a:ext cx="2651760" cy="685800"/>
          </a:xfrm>
          <a:prstGeom prst="rect">
            <a:avLst/>
          </a:prstGeom>
          <a:noFill/>
          <a:ln/>
        </p:spPr>
        <p:txBody>
          <a:bodyPr wrap="square" lIns="0" tIns="0" rIns="0" bIns="0" rtlCol="0" anchor="ctr"/>
          <a:lstStyle/>
          <a:p>
            <a:pPr indent="0" marL="0">
              <a:buNone/>
            </a:pPr>
            <a:r>
              <a:rPr lang="en-US" sz="1800" dirty="0">
                <a:solidFill>
                  <a:srgbClr val="5C6573"/>
                </a:solidFill>
                <a:latin typeface="Arial" pitchFamily="34" charset="0"/>
                <a:ea typeface="Arial" pitchFamily="34" charset="-122"/>
                <a:cs typeface="Arial" pitchFamily="34" charset="-120"/>
              </a:rPr>
              <a:t>in place</a:t>
            </a:r>
            <a:endParaRPr lang="en-US" sz="1800" dirty="0"/>
          </a:p>
        </p:txBody>
      </p:sp>
      <p:sp>
        <p:nvSpPr>
          <p:cNvPr id="11" name="pill OPEN"/>
          <p:cNvSpPr/>
          <p:nvPr/>
        </p:nvSpPr>
        <p:spPr>
          <a:xfrm>
            <a:off x="457200" y="2971800"/>
            <a:ext cx="822960" cy="329184"/>
          </a:xfrm>
          <a:prstGeom prst="roundRect">
            <a:avLst>
              <a:gd name="adj" fmla="val 50000"/>
            </a:avLst>
          </a:prstGeom>
          <a:solidFill>
            <a:srgbClr val="FFE9E4"/>
          </a:solidFill>
          <a:ln w="6350">
            <a:solidFill>
              <a:srgbClr val="FFE9E4"/>
            </a:solidFill>
            <a:prstDash val="solid"/>
          </a:ln>
        </p:spPr>
      </p:sp>
      <p:sp>
        <p:nvSpPr>
          <p:cNvPr id="12" name="Text 10"/>
          <p:cNvSpPr txBox="1"/>
          <p:nvPr/>
        </p:nvSpPr>
        <p:spPr>
          <a:xfrm>
            <a:off x="457200" y="2971800"/>
            <a:ext cx="822960" cy="329184"/>
          </a:xfrm>
          <a:prstGeom prst="rect">
            <a:avLst/>
          </a:prstGeom>
          <a:noFill/>
          <a:ln/>
        </p:spPr>
        <p:txBody>
          <a:bodyPr wrap="square" lIns="0" tIns="0" rIns="0" bIns="0" rtlCol="0" anchor="ctr"/>
          <a:lstStyle/>
          <a:p>
            <a:pPr algn="ctr" indent="0" marL="0">
              <a:buNone/>
            </a:pPr>
            <a:r>
              <a:rPr lang="en-US" sz="1200" b="1" dirty="0">
                <a:solidFill>
                  <a:srgbClr val="B83A22"/>
                </a:solidFill>
                <a:latin typeface="Arial" pitchFamily="34" charset="0"/>
                <a:ea typeface="Arial" pitchFamily="34" charset="-122"/>
                <a:cs typeface="Arial" pitchFamily="34" charset="-120"/>
              </a:rPr>
              <a:t>OPEN</a:t>
            </a:r>
            <a:endParaRPr lang="en-US" sz="1200" dirty="0"/>
          </a:p>
        </p:txBody>
      </p:sp>
      <p:sp>
        <p:nvSpPr>
          <p:cNvPr id="13" name="Text 11"/>
          <p:cNvSpPr txBox="1"/>
          <p:nvPr/>
        </p:nvSpPr>
        <p:spPr>
          <a:xfrm>
            <a:off x="1463040" y="2788920"/>
            <a:ext cx="4480560" cy="685800"/>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Max-slew violations</a:t>
            </a:r>
            <a:endParaRPr lang="en-US" sz="1800" dirty="0"/>
          </a:p>
        </p:txBody>
      </p:sp>
      <p:sp>
        <p:nvSpPr>
          <p:cNvPr id="14" name="Text 12"/>
          <p:cNvSpPr txBox="1"/>
          <p:nvPr/>
        </p:nvSpPr>
        <p:spPr>
          <a:xfrm>
            <a:off x="6035040" y="2788920"/>
            <a:ext cx="2651760" cy="685800"/>
          </a:xfrm>
          <a:prstGeom prst="rect">
            <a:avLst/>
          </a:prstGeom>
          <a:noFill/>
          <a:ln/>
        </p:spPr>
        <p:txBody>
          <a:bodyPr wrap="square" lIns="0" tIns="0" rIns="0" bIns="0" rtlCol="0" anchor="ctr"/>
          <a:lstStyle/>
          <a:p>
            <a:pPr indent="0" marL="0">
              <a:buNone/>
            </a:pPr>
            <a:r>
              <a:rPr lang="en-US" sz="1800" dirty="0">
                <a:solidFill>
                  <a:srgbClr val="5C6573"/>
                </a:solidFill>
                <a:latin typeface="Arial" pitchFamily="34" charset="0"/>
                <a:ea typeface="Arial" pitchFamily="34" charset="-122"/>
                <a:cs typeface="Arial" pitchFamily="34" charset="-120"/>
              </a:rPr>
              <a:t>remain in 8 designs</a:t>
            </a:r>
            <a:endParaRPr lang="en-US" sz="1800" dirty="0"/>
          </a:p>
        </p:txBody>
      </p:sp>
      <p:sp>
        <p:nvSpPr>
          <p:cNvPr id="15" name="pill OPEN"/>
          <p:cNvSpPr/>
          <p:nvPr/>
        </p:nvSpPr>
        <p:spPr>
          <a:xfrm>
            <a:off x="457200" y="3703320"/>
            <a:ext cx="822960" cy="329184"/>
          </a:xfrm>
          <a:prstGeom prst="roundRect">
            <a:avLst>
              <a:gd name="adj" fmla="val 50000"/>
            </a:avLst>
          </a:prstGeom>
          <a:solidFill>
            <a:srgbClr val="FFE9E4"/>
          </a:solidFill>
          <a:ln w="6350">
            <a:solidFill>
              <a:srgbClr val="FFE9E4"/>
            </a:solidFill>
            <a:prstDash val="solid"/>
          </a:ln>
        </p:spPr>
      </p:sp>
      <p:sp>
        <p:nvSpPr>
          <p:cNvPr id="16" name="Text 14"/>
          <p:cNvSpPr txBox="1"/>
          <p:nvPr/>
        </p:nvSpPr>
        <p:spPr>
          <a:xfrm>
            <a:off x="457200" y="3703320"/>
            <a:ext cx="822960" cy="329184"/>
          </a:xfrm>
          <a:prstGeom prst="rect">
            <a:avLst/>
          </a:prstGeom>
          <a:noFill/>
          <a:ln/>
        </p:spPr>
        <p:txBody>
          <a:bodyPr wrap="square" lIns="0" tIns="0" rIns="0" bIns="0" rtlCol="0" anchor="ctr"/>
          <a:lstStyle/>
          <a:p>
            <a:pPr algn="ctr" indent="0" marL="0">
              <a:buNone/>
            </a:pPr>
            <a:r>
              <a:rPr lang="en-US" sz="1200" b="1" dirty="0">
                <a:solidFill>
                  <a:srgbClr val="B83A22"/>
                </a:solidFill>
                <a:latin typeface="Arial" pitchFamily="34" charset="0"/>
                <a:ea typeface="Arial" pitchFamily="34" charset="-122"/>
                <a:cs typeface="Arial" pitchFamily="34" charset="-120"/>
              </a:rPr>
              <a:t>OPEN</a:t>
            </a:r>
            <a:endParaRPr lang="en-US" sz="1200" dirty="0"/>
          </a:p>
        </p:txBody>
      </p:sp>
      <p:sp>
        <p:nvSpPr>
          <p:cNvPr id="17" name="Text 15"/>
          <p:cNvSpPr txBox="1"/>
          <p:nvPr/>
        </p:nvSpPr>
        <p:spPr>
          <a:xfrm>
            <a:off x="1463040" y="3520440"/>
            <a:ext cx="4480560" cy="685800"/>
          </a:xfrm>
          <a:prstGeom prst="rect">
            <a:avLst/>
          </a:prstGeom>
          <a:noFill/>
          <a:ln/>
        </p:spPr>
        <p:txBody>
          <a:bodyPr wrap="square" lIns="0" tIns="0" rIns="0" bIns="0" rtlCol="0" anchor="ctr"/>
          <a:lstStyle/>
          <a:p>
            <a:pPr indent="0" marL="0">
              <a:buNone/>
            </a:pPr>
            <a:r>
              <a:rPr lang="en-US" sz="1800" b="1" dirty="0">
                <a:solidFill>
                  <a:srgbClr val="12151C"/>
                </a:solidFill>
                <a:latin typeface="Arial" pitchFamily="34" charset="0"/>
                <a:ea typeface="Arial" pitchFamily="34" charset="-122"/>
                <a:cs typeface="Arial" pitchFamily="34" charset="-120"/>
              </a:rPr>
              <a:t>Fabricated</a:t>
            </a:r>
            <a:endParaRPr lang="en-US" sz="1800" dirty="0"/>
          </a:p>
        </p:txBody>
      </p:sp>
      <p:sp>
        <p:nvSpPr>
          <p:cNvPr id="18" name="Text 16"/>
          <p:cNvSpPr txBox="1"/>
          <p:nvPr/>
        </p:nvSpPr>
        <p:spPr>
          <a:xfrm>
            <a:off x="6035040" y="3520440"/>
            <a:ext cx="2651760" cy="685800"/>
          </a:xfrm>
          <a:prstGeom prst="rect">
            <a:avLst/>
          </a:prstGeom>
          <a:noFill/>
          <a:ln/>
        </p:spPr>
        <p:txBody>
          <a:bodyPr wrap="square" lIns="0" tIns="0" rIns="0" bIns="0" rtlCol="0" anchor="ctr"/>
          <a:lstStyle/>
          <a:p>
            <a:pPr indent="0" marL="0">
              <a:buNone/>
            </a:pPr>
            <a:r>
              <a:rPr lang="en-US" sz="1800" dirty="0">
                <a:solidFill>
                  <a:srgbClr val="5C6573"/>
                </a:solidFill>
                <a:latin typeface="Arial" pitchFamily="34" charset="0"/>
                <a:ea typeface="Arial" pitchFamily="34" charset="-122"/>
                <a:cs typeface="Arial" pitchFamily="34" charset="-120"/>
              </a:rPr>
              <a:t>nothing</a:t>
            </a:r>
            <a:endParaRPr lang="en-US" sz="1800" dirty="0"/>
          </a:p>
        </p:txBody>
      </p:sp>
      <p:sp>
        <p:nvSpPr>
          <p:cNvPr id="19" name="Text 17"/>
          <p:cNvSpPr txBox="1"/>
          <p:nvPr/>
        </p:nvSpPr>
        <p:spPr>
          <a:xfrm>
            <a:off x="457200" y="4343400"/>
            <a:ext cx="8229600" cy="41148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spm_ref, counter_wb, uart, ring_osc, sigma_delta, aes128, fcnn_mnist, user_proj_example</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 shuttle slot costs money and needs a decision</a:t>
            </a:r>
            <a:endParaRPr lang="en-US" sz="2800" dirty="0"/>
          </a:p>
        </p:txBody>
      </p:sp>
      <p:sp>
        <p:nvSpPr>
          <p:cNvPr id="3" name="card"/>
          <p:cNvSpPr/>
          <p:nvPr/>
        </p:nvSpPr>
        <p:spPr>
          <a:xfrm>
            <a:off x="457200" y="1463040"/>
            <a:ext cx="2651760" cy="1737360"/>
          </a:xfrm>
          <a:prstGeom prst="roundRect">
            <a:avLst>
              <a:gd name="adj" fmla="val 4211"/>
            </a:avLst>
          </a:prstGeom>
          <a:solidFill>
            <a:srgbClr val="FFFFFF"/>
          </a:solidFill>
          <a:ln w="9525">
            <a:solidFill>
              <a:srgbClr val="D5D9DC"/>
            </a:solidFill>
            <a:prstDash val="solid"/>
          </a:ln>
        </p:spPr>
      </p:sp>
      <p:sp>
        <p:nvSpPr>
          <p:cNvPr id="4" name="Text 2"/>
          <p:cNvSpPr txBox="1"/>
          <p:nvPr/>
        </p:nvSpPr>
        <p:spPr>
          <a:xfrm>
            <a:off x="457200" y="1737360"/>
            <a:ext cx="2651760" cy="731520"/>
          </a:xfrm>
          <a:prstGeom prst="rect">
            <a:avLst/>
          </a:prstGeom>
          <a:noFill/>
          <a:ln/>
        </p:spPr>
        <p:txBody>
          <a:bodyPr wrap="square" lIns="0" tIns="0" rIns="0" bIns="0" rtlCol="0" anchor="ctr">
            <a:normAutofit/>
          </a:bodyPr>
          <a:lstStyle/>
          <a:p>
            <a:pPr algn="ctr" indent="0" marL="0">
              <a:buNone/>
            </a:pPr>
            <a:r>
              <a:rPr lang="en-US" sz="3000" b="1" dirty="0">
                <a:solidFill>
                  <a:srgbClr val="008F7A"/>
                </a:solidFill>
                <a:latin typeface="Arial" pitchFamily="34" charset="0"/>
                <a:ea typeface="Arial" pitchFamily="34" charset="-122"/>
                <a:cs typeface="Arial" pitchFamily="34" charset="-120"/>
              </a:rPr>
              <a:t>$14,950</a:t>
            </a:r>
            <a:endParaRPr lang="en-US" sz="3000" dirty="0"/>
          </a:p>
        </p:txBody>
      </p:sp>
      <p:sp>
        <p:nvSpPr>
          <p:cNvPr id="5" name="Text 3"/>
          <p:cNvSpPr txBox="1"/>
          <p:nvPr/>
        </p:nvSpPr>
        <p:spPr>
          <a:xfrm>
            <a:off x="457200" y="2560320"/>
            <a:ext cx="2651760" cy="45720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per project</a:t>
            </a:r>
            <a:endParaRPr lang="en-US" sz="1800" dirty="0"/>
          </a:p>
        </p:txBody>
      </p:sp>
      <p:sp>
        <p:nvSpPr>
          <p:cNvPr id="6" name="card"/>
          <p:cNvSpPr/>
          <p:nvPr/>
        </p:nvSpPr>
        <p:spPr>
          <a:xfrm>
            <a:off x="3246120" y="1463040"/>
            <a:ext cx="2651760" cy="1737360"/>
          </a:xfrm>
          <a:prstGeom prst="roundRect">
            <a:avLst>
              <a:gd name="adj" fmla="val 4211"/>
            </a:avLst>
          </a:prstGeom>
          <a:solidFill>
            <a:srgbClr val="FFFFFF"/>
          </a:solidFill>
          <a:ln w="9525">
            <a:solidFill>
              <a:srgbClr val="D5D9DC"/>
            </a:solidFill>
            <a:prstDash val="solid"/>
          </a:ln>
        </p:spPr>
      </p:sp>
      <p:sp>
        <p:nvSpPr>
          <p:cNvPr id="7" name="Text 5"/>
          <p:cNvSpPr txBox="1"/>
          <p:nvPr/>
        </p:nvSpPr>
        <p:spPr>
          <a:xfrm>
            <a:off x="3246120" y="1737360"/>
            <a:ext cx="2651760" cy="731520"/>
          </a:xfrm>
          <a:prstGeom prst="rect">
            <a:avLst/>
          </a:prstGeom>
          <a:noFill/>
          <a:ln/>
        </p:spPr>
        <p:txBody>
          <a:bodyPr wrap="square" lIns="0" tIns="0" rIns="0" bIns="0" rtlCol="0" anchor="ctr">
            <a:normAutofit/>
          </a:bodyPr>
          <a:lstStyle/>
          <a:p>
            <a:pPr algn="ctr" indent="0" marL="0">
              <a:buNone/>
            </a:pPr>
            <a:r>
              <a:rPr lang="en-US" sz="3000" b="1" dirty="0">
                <a:solidFill>
                  <a:srgbClr val="008F7A"/>
                </a:solidFill>
                <a:latin typeface="Arial" pitchFamily="34" charset="0"/>
                <a:ea typeface="Arial" pitchFamily="34" charset="-122"/>
                <a:cs typeface="Arial" pitchFamily="34" charset="-120"/>
              </a:rPr>
              <a:t>2026-12-07</a:t>
            </a:r>
            <a:endParaRPr lang="en-US" sz="3000" dirty="0"/>
          </a:p>
        </p:txBody>
      </p:sp>
      <p:sp>
        <p:nvSpPr>
          <p:cNvPr id="8" name="Text 6"/>
          <p:cNvSpPr txBox="1"/>
          <p:nvPr/>
        </p:nvSpPr>
        <p:spPr>
          <a:xfrm>
            <a:off x="3246120" y="2560320"/>
            <a:ext cx="2651760" cy="45720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tapeout date</a:t>
            </a:r>
            <a:endParaRPr lang="en-US" sz="1800" dirty="0"/>
          </a:p>
        </p:txBody>
      </p:sp>
      <p:sp>
        <p:nvSpPr>
          <p:cNvPr id="9" name="card"/>
          <p:cNvSpPr/>
          <p:nvPr/>
        </p:nvSpPr>
        <p:spPr>
          <a:xfrm>
            <a:off x="6035040" y="1463040"/>
            <a:ext cx="2651760" cy="1737360"/>
          </a:xfrm>
          <a:prstGeom prst="roundRect">
            <a:avLst>
              <a:gd name="adj" fmla="val 4211"/>
            </a:avLst>
          </a:prstGeom>
          <a:solidFill>
            <a:srgbClr val="FFFFFF"/>
          </a:solidFill>
          <a:ln w="9525">
            <a:solidFill>
              <a:srgbClr val="D5D9DC"/>
            </a:solidFill>
            <a:prstDash val="solid"/>
          </a:ln>
        </p:spPr>
      </p:sp>
      <p:sp>
        <p:nvSpPr>
          <p:cNvPr id="10" name="Text 8"/>
          <p:cNvSpPr txBox="1"/>
          <p:nvPr/>
        </p:nvSpPr>
        <p:spPr>
          <a:xfrm>
            <a:off x="6035040" y="1737360"/>
            <a:ext cx="2651760" cy="731520"/>
          </a:xfrm>
          <a:prstGeom prst="rect">
            <a:avLst/>
          </a:prstGeom>
          <a:noFill/>
          <a:ln/>
        </p:spPr>
        <p:txBody>
          <a:bodyPr wrap="square" lIns="0" tIns="0" rIns="0" bIns="0" rtlCol="0" anchor="ctr">
            <a:normAutofit/>
          </a:bodyPr>
          <a:lstStyle/>
          <a:p>
            <a:pPr algn="ctr" indent="0" marL="0">
              <a:buNone/>
            </a:pPr>
            <a:r>
              <a:rPr lang="en-US" sz="3000" b="1" dirty="0">
                <a:solidFill>
                  <a:srgbClr val="008F7A"/>
                </a:solidFill>
                <a:latin typeface="Arial" pitchFamily="34" charset="0"/>
                <a:ea typeface="Arial" pitchFamily="34" charset="-122"/>
                <a:cs typeface="Arial" pitchFamily="34" charset="-120"/>
              </a:rPr>
              <a:t>20</a:t>
            </a:r>
            <a:endParaRPr lang="en-US" sz="3000" dirty="0"/>
          </a:p>
        </p:txBody>
      </p:sp>
      <p:sp>
        <p:nvSpPr>
          <p:cNvPr id="11" name="Text 9"/>
          <p:cNvSpPr txBox="1"/>
          <p:nvPr/>
        </p:nvSpPr>
        <p:spPr>
          <a:xfrm>
            <a:off x="6035040" y="2560320"/>
            <a:ext cx="2651760" cy="45720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projects needed</a:t>
            </a:r>
            <a:endParaRPr lang="en-US" sz="1800" dirty="0"/>
          </a:p>
        </p:txBody>
      </p:sp>
      <p:sp>
        <p:nvSpPr>
          <p:cNvPr id="12"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Shuttle CI2612. Facts from web research, not re-verified.</a:t>
            </a:r>
            <a:endParaRPr lang="en-US" sz="1800" dirty="0"/>
          </a:p>
        </p:txBody>
      </p:sp>
      <p:sp>
        <p:nvSpPr>
          <p:cNvPr id="13" name="Text 11"/>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Whether to buy a slot is still the owner's decision.</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Three things to take away</a:t>
            </a:r>
            <a:endParaRPr lang="en-US" sz="2800" dirty="0"/>
          </a:p>
        </p:txBody>
      </p:sp>
      <p:sp>
        <p:nvSpPr>
          <p:cNvPr id="3" name="card"/>
          <p:cNvSpPr/>
          <p:nvPr/>
        </p:nvSpPr>
        <p:spPr>
          <a:xfrm>
            <a:off x="457200" y="1371600"/>
            <a:ext cx="8229600" cy="822960"/>
          </a:xfrm>
          <a:prstGeom prst="roundRect">
            <a:avLst>
              <a:gd name="adj" fmla="val 8889"/>
            </a:avLst>
          </a:prstGeom>
          <a:solidFill>
            <a:srgbClr val="FFFFFF"/>
          </a:solidFill>
          <a:ln w="9525">
            <a:solidFill>
              <a:srgbClr val="D5D9DC"/>
            </a:solidFill>
            <a:prstDash val="solid"/>
          </a:ln>
        </p:spPr>
      </p:sp>
      <p:sp>
        <p:nvSpPr>
          <p:cNvPr id="4" name="Shape 2"/>
          <p:cNvSpPr/>
          <p:nvPr/>
        </p:nvSpPr>
        <p:spPr>
          <a:xfrm>
            <a:off x="685800" y="1508760"/>
            <a:ext cx="548640" cy="548640"/>
          </a:xfrm>
          <a:prstGeom prst="ellipse">
            <a:avLst/>
          </a:prstGeom>
          <a:solidFill>
            <a:srgbClr val="071A36"/>
          </a:solidFill>
          <a:ln w="12700">
            <a:solidFill>
              <a:srgbClr val="071A36"/>
            </a:solidFill>
            <a:prstDash val="solid"/>
          </a:ln>
        </p:spPr>
      </p:sp>
      <p:sp>
        <p:nvSpPr>
          <p:cNvPr id="5" name="Text 3"/>
          <p:cNvSpPr txBox="1"/>
          <p:nvPr/>
        </p:nvSpPr>
        <p:spPr>
          <a:xfrm>
            <a:off x="685800" y="15087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6" name="Text 4"/>
          <p:cNvSpPr txBox="1"/>
          <p:nvPr/>
        </p:nvSpPr>
        <p:spPr>
          <a:xfrm>
            <a:off x="1508760" y="1371600"/>
            <a:ext cx="7040880" cy="82296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A chip flow is small steps you can run and inspect</a:t>
            </a:r>
            <a:endParaRPr lang="en-US" sz="2000" dirty="0"/>
          </a:p>
        </p:txBody>
      </p:sp>
      <p:sp>
        <p:nvSpPr>
          <p:cNvPr id="7" name="card"/>
          <p:cNvSpPr/>
          <p:nvPr/>
        </p:nvSpPr>
        <p:spPr>
          <a:xfrm>
            <a:off x="457200" y="2377440"/>
            <a:ext cx="8229600" cy="822960"/>
          </a:xfrm>
          <a:prstGeom prst="roundRect">
            <a:avLst>
              <a:gd name="adj" fmla="val 8889"/>
            </a:avLst>
          </a:prstGeom>
          <a:solidFill>
            <a:srgbClr val="FFFFFF"/>
          </a:solidFill>
          <a:ln w="9525">
            <a:solidFill>
              <a:srgbClr val="D5D9DC"/>
            </a:solidFill>
            <a:prstDash val="solid"/>
          </a:ln>
        </p:spPr>
      </p:sp>
      <p:sp>
        <p:nvSpPr>
          <p:cNvPr id="8" name="Shape 6"/>
          <p:cNvSpPr/>
          <p:nvPr/>
        </p:nvSpPr>
        <p:spPr>
          <a:xfrm>
            <a:off x="685800" y="2514600"/>
            <a:ext cx="548640" cy="548640"/>
          </a:xfrm>
          <a:prstGeom prst="ellipse">
            <a:avLst/>
          </a:prstGeom>
          <a:solidFill>
            <a:srgbClr val="071A36"/>
          </a:solidFill>
          <a:ln w="12700">
            <a:solidFill>
              <a:srgbClr val="071A36"/>
            </a:solidFill>
            <a:prstDash val="solid"/>
          </a:ln>
        </p:spPr>
      </p:sp>
      <p:sp>
        <p:nvSpPr>
          <p:cNvPr id="9" name="Text 7"/>
          <p:cNvSpPr txBox="1"/>
          <p:nvPr/>
        </p:nvSpPr>
        <p:spPr>
          <a:xfrm>
            <a:off x="685800" y="25146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0" name="Text 8"/>
          <p:cNvSpPr txBox="1"/>
          <p:nvPr/>
        </p:nvSpPr>
        <p:spPr>
          <a:xfrm>
            <a:off x="1508760" y="2377440"/>
            <a:ext cx="7040880" cy="82296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Open tools and an open PDK make every step visible</a:t>
            </a:r>
            <a:endParaRPr lang="en-US" sz="2000" dirty="0"/>
          </a:p>
        </p:txBody>
      </p:sp>
      <p:sp>
        <p:nvSpPr>
          <p:cNvPr id="11" name="card"/>
          <p:cNvSpPr/>
          <p:nvPr/>
        </p:nvSpPr>
        <p:spPr>
          <a:xfrm>
            <a:off x="457200" y="3383280"/>
            <a:ext cx="8229600" cy="822960"/>
          </a:xfrm>
          <a:prstGeom prst="roundRect">
            <a:avLst>
              <a:gd name="adj" fmla="val 8889"/>
            </a:avLst>
          </a:prstGeom>
          <a:solidFill>
            <a:srgbClr val="FFFFFF"/>
          </a:solidFill>
          <a:ln w="9525">
            <a:solidFill>
              <a:srgbClr val="D5D9DC"/>
            </a:solidFill>
            <a:prstDash val="solid"/>
          </a:ln>
        </p:spPr>
      </p:sp>
      <p:sp>
        <p:nvSpPr>
          <p:cNvPr id="12" name="Shape 10"/>
          <p:cNvSpPr/>
          <p:nvPr/>
        </p:nvSpPr>
        <p:spPr>
          <a:xfrm>
            <a:off x="685800" y="3520440"/>
            <a:ext cx="548640" cy="548640"/>
          </a:xfrm>
          <a:prstGeom prst="ellipse">
            <a:avLst/>
          </a:prstGeom>
          <a:solidFill>
            <a:srgbClr val="071A36"/>
          </a:solidFill>
          <a:ln w="12700">
            <a:solidFill>
              <a:srgbClr val="071A36"/>
            </a:solidFill>
            <a:prstDash val="solid"/>
          </a:ln>
        </p:spPr>
      </p:sp>
      <p:sp>
        <p:nvSpPr>
          <p:cNvPr id="13" name="Text 11"/>
          <p:cNvSpPr txBox="1"/>
          <p:nvPr/>
        </p:nvSpPr>
        <p:spPr>
          <a:xfrm>
            <a:off x="685800" y="35204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4" name="Text 12"/>
          <p:cNvSpPr txBox="1"/>
          <p:nvPr/>
        </p:nvSpPr>
        <p:spPr>
          <a:xfrm>
            <a:off x="1508760" y="3383280"/>
            <a:ext cx="7040880" cy="822960"/>
          </a:xfrm>
          <a:prstGeom prst="rect">
            <a:avLst/>
          </a:prstGeom>
          <a:noFill/>
          <a:ln/>
        </p:spPr>
        <p:txBody>
          <a:bodyPr wrap="square" lIns="0" tIns="0" rIns="0" bIns="0" rtlCol="0" anchor="ctr"/>
          <a:lstStyle/>
          <a:p>
            <a:pPr indent="0" marL="0">
              <a:buNone/>
            </a:pPr>
            <a:r>
              <a:rPr lang="en-US" sz="2000" b="1" dirty="0">
                <a:solidFill>
                  <a:srgbClr val="12151C"/>
                </a:solidFill>
                <a:latin typeface="Arial" pitchFamily="34" charset="0"/>
                <a:ea typeface="Arial" pitchFamily="34" charset="-122"/>
                <a:cs typeface="Arial" pitchFamily="34" charset="-120"/>
              </a:rPr>
              <a:t>Clean checks are not enough: verify the logic survived</a:t>
            </a:r>
            <a:endParaRPr lang="en-US" sz="20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Twelve designs, one open flow, nothing fabricated yet</a:t>
            </a:r>
            <a:endParaRPr lang="en-US" sz="2800" dirty="0"/>
          </a:p>
        </p:txBody>
      </p:sp>
      <p:sp>
        <p:nvSpPr>
          <p:cNvPr id="3" name="card"/>
          <p:cNvSpPr/>
          <p:nvPr/>
        </p:nvSpPr>
        <p:spPr>
          <a:xfrm>
            <a:off x="457200" y="1371600"/>
            <a:ext cx="1965960" cy="1920240"/>
          </a:xfrm>
          <a:prstGeom prst="roundRect">
            <a:avLst>
              <a:gd name="adj" fmla="val 3810"/>
            </a:avLst>
          </a:prstGeom>
          <a:solidFill>
            <a:srgbClr val="FFFFFF"/>
          </a:solidFill>
          <a:ln w="9525">
            <a:solidFill>
              <a:srgbClr val="D5D9DC"/>
            </a:solidFill>
            <a:prstDash val="solid"/>
          </a:ln>
        </p:spPr>
      </p:sp>
      <p:sp>
        <p:nvSpPr>
          <p:cNvPr id="4" name="Text 2"/>
          <p:cNvSpPr txBox="1"/>
          <p:nvPr/>
        </p:nvSpPr>
        <p:spPr>
          <a:xfrm>
            <a:off x="457200" y="1554480"/>
            <a:ext cx="19659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12</a:t>
            </a:r>
            <a:endParaRPr lang="en-US" sz="4400" dirty="0"/>
          </a:p>
        </p:txBody>
      </p:sp>
      <p:sp>
        <p:nvSpPr>
          <p:cNvPr id="5" name="Text 3"/>
          <p:cNvSpPr txBox="1"/>
          <p:nvPr/>
        </p:nvSpPr>
        <p:spPr>
          <a:xfrm>
            <a:off x="548640" y="2468880"/>
            <a:ext cx="1783080" cy="73152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designs</a:t>
            </a:r>
            <a:endParaRPr lang="en-US" sz="1800" dirty="0"/>
          </a:p>
        </p:txBody>
      </p:sp>
      <p:sp>
        <p:nvSpPr>
          <p:cNvPr id="6" name="card"/>
          <p:cNvSpPr/>
          <p:nvPr/>
        </p:nvSpPr>
        <p:spPr>
          <a:xfrm>
            <a:off x="2542032" y="1371600"/>
            <a:ext cx="1965960" cy="1920240"/>
          </a:xfrm>
          <a:prstGeom prst="roundRect">
            <a:avLst>
              <a:gd name="adj" fmla="val 3810"/>
            </a:avLst>
          </a:prstGeom>
          <a:solidFill>
            <a:srgbClr val="FFFFFF"/>
          </a:solidFill>
          <a:ln w="9525">
            <a:solidFill>
              <a:srgbClr val="D5D9DC"/>
            </a:solidFill>
            <a:prstDash val="solid"/>
          </a:ln>
        </p:spPr>
      </p:sp>
      <p:sp>
        <p:nvSpPr>
          <p:cNvPr id="7" name="Text 5"/>
          <p:cNvSpPr txBox="1"/>
          <p:nvPr/>
        </p:nvSpPr>
        <p:spPr>
          <a:xfrm>
            <a:off x="2542032" y="1554480"/>
            <a:ext cx="19659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11</a:t>
            </a:r>
            <a:endParaRPr lang="en-US" sz="4400" dirty="0"/>
          </a:p>
        </p:txBody>
      </p:sp>
      <p:sp>
        <p:nvSpPr>
          <p:cNvPr id="8" name="Text 6"/>
          <p:cNvSpPr txBox="1"/>
          <p:nvPr/>
        </p:nvSpPr>
        <p:spPr>
          <a:xfrm>
            <a:off x="2633472" y="2468880"/>
            <a:ext cx="1783080" cy="73152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rebuilt on 2 CPUs / 8 GB</a:t>
            </a:r>
            <a:endParaRPr lang="en-US" sz="1800" dirty="0"/>
          </a:p>
        </p:txBody>
      </p:sp>
      <p:sp>
        <p:nvSpPr>
          <p:cNvPr id="9" name="card"/>
          <p:cNvSpPr/>
          <p:nvPr/>
        </p:nvSpPr>
        <p:spPr>
          <a:xfrm>
            <a:off x="4626864" y="1371600"/>
            <a:ext cx="1965960" cy="1920240"/>
          </a:xfrm>
          <a:prstGeom prst="roundRect">
            <a:avLst>
              <a:gd name="adj" fmla="val 3810"/>
            </a:avLst>
          </a:prstGeom>
          <a:solidFill>
            <a:srgbClr val="FFFFFF"/>
          </a:solidFill>
          <a:ln w="9525">
            <a:solidFill>
              <a:srgbClr val="D5D9DC"/>
            </a:solidFill>
            <a:prstDash val="solid"/>
          </a:ln>
        </p:spPr>
      </p:sp>
      <p:sp>
        <p:nvSpPr>
          <p:cNvPr id="10" name="Text 8"/>
          <p:cNvSpPr txBox="1"/>
          <p:nvPr/>
        </p:nvSpPr>
        <p:spPr>
          <a:xfrm>
            <a:off x="4626864" y="1554480"/>
            <a:ext cx="19659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0</a:t>
            </a:r>
            <a:endParaRPr lang="en-US" sz="4400" dirty="0"/>
          </a:p>
        </p:txBody>
      </p:sp>
      <p:sp>
        <p:nvSpPr>
          <p:cNvPr id="11" name="Text 9"/>
          <p:cNvSpPr txBox="1"/>
          <p:nvPr/>
        </p:nvSpPr>
        <p:spPr>
          <a:xfrm>
            <a:off x="4718304" y="2468880"/>
            <a:ext cx="1783080" cy="73152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builds pending</a:t>
            </a:r>
            <a:endParaRPr lang="en-US" sz="1800" dirty="0"/>
          </a:p>
        </p:txBody>
      </p:sp>
      <p:sp>
        <p:nvSpPr>
          <p:cNvPr id="12" name="card"/>
          <p:cNvSpPr/>
          <p:nvPr/>
        </p:nvSpPr>
        <p:spPr>
          <a:xfrm>
            <a:off x="6711696" y="1371600"/>
            <a:ext cx="1965960" cy="1920240"/>
          </a:xfrm>
          <a:prstGeom prst="roundRect">
            <a:avLst>
              <a:gd name="adj" fmla="val 3810"/>
            </a:avLst>
          </a:prstGeom>
          <a:solidFill>
            <a:srgbClr val="FFFFFF"/>
          </a:solidFill>
          <a:ln w="9525">
            <a:solidFill>
              <a:srgbClr val="D5D9DC"/>
            </a:solidFill>
            <a:prstDash val="solid"/>
          </a:ln>
        </p:spPr>
      </p:sp>
      <p:sp>
        <p:nvSpPr>
          <p:cNvPr id="13" name="Text 11"/>
          <p:cNvSpPr txBox="1"/>
          <p:nvPr/>
        </p:nvSpPr>
        <p:spPr>
          <a:xfrm>
            <a:off x="6711696" y="1554480"/>
            <a:ext cx="1965960" cy="822960"/>
          </a:xfrm>
          <a:prstGeom prst="rect">
            <a:avLst/>
          </a:prstGeom>
          <a:noFill/>
          <a:ln/>
        </p:spPr>
        <p:txBody>
          <a:bodyPr wrap="square" lIns="0" tIns="0" rIns="0" bIns="0" rtlCol="0" anchor="ctr"/>
          <a:lstStyle/>
          <a:p>
            <a:pPr algn="ctr" indent="0" marL="0">
              <a:buNone/>
            </a:pPr>
            <a:r>
              <a:rPr lang="en-US" sz="4400" b="1" dirty="0">
                <a:solidFill>
                  <a:srgbClr val="008F7A"/>
                </a:solidFill>
                <a:latin typeface="Arial" pitchFamily="34" charset="0"/>
                <a:ea typeface="Arial" pitchFamily="34" charset="-122"/>
                <a:cs typeface="Arial" pitchFamily="34" charset="-120"/>
              </a:rPr>
              <a:t>0</a:t>
            </a:r>
            <a:endParaRPr lang="en-US" sz="4400" dirty="0"/>
          </a:p>
        </p:txBody>
      </p:sp>
      <p:sp>
        <p:nvSpPr>
          <p:cNvPr id="14" name="Text 12"/>
          <p:cNvSpPr txBox="1"/>
          <p:nvPr/>
        </p:nvSpPr>
        <p:spPr>
          <a:xfrm>
            <a:off x="6803136" y="2468880"/>
            <a:ext cx="1783080" cy="731520"/>
          </a:xfrm>
          <a:prstGeom prst="rect">
            <a:avLst/>
          </a:prstGeom>
          <a:noFill/>
          <a:ln/>
        </p:spPr>
        <p:txBody>
          <a:bodyPr wrap="square" lIns="0" tIns="0" rIns="0" bIns="0" rtlCol="0" anchor="t"/>
          <a:lstStyle/>
          <a:p>
            <a:pPr algn="ctr" indent="0" marL="0">
              <a:buNone/>
            </a:pPr>
            <a:r>
              <a:rPr lang="en-US" sz="1800" dirty="0">
                <a:solidFill>
                  <a:srgbClr val="5C6573"/>
                </a:solidFill>
                <a:latin typeface="Arial" pitchFamily="34" charset="0"/>
                <a:ea typeface="Arial" pitchFamily="34" charset="-122"/>
                <a:cs typeface="Arial" pitchFamily="34" charset="-120"/>
              </a:rPr>
              <a:t>chips fabricated</a:t>
            </a:r>
            <a:endParaRPr lang="en-US" sz="1800" dirty="0"/>
          </a:p>
        </p:txBody>
      </p:sp>
      <p:sp>
        <p:nvSpPr>
          <p:cNvPr id="15" name="Text 13"/>
          <p:cNvSpPr txBox="1"/>
          <p:nvPr/>
        </p:nvSpPr>
        <p:spPr>
          <a:xfrm>
            <a:off x="457200" y="3520440"/>
            <a:ext cx="8229600" cy="365760"/>
          </a:xfrm>
          <a:prstGeom prst="rect">
            <a:avLst/>
          </a:prstGeom>
          <a:noFill/>
          <a:ln/>
        </p:spPr>
        <p:txBody>
          <a:bodyPr wrap="square" lIns="0" tIns="0" rIns="0" bIns="0" rtlCol="0" anchor="t"/>
          <a:lstStyle/>
          <a:p>
            <a:pPr indent="0" marL="0">
              <a:buNone/>
            </a:pPr>
            <a:r>
              <a:rPr lang="en-US" sz="1800" b="1" dirty="0">
                <a:solidFill>
                  <a:srgbClr val="12151C"/>
                </a:solidFill>
                <a:latin typeface="Arial" pitchFamily="34" charset="0"/>
                <a:ea typeface="Arial" pitchFamily="34" charset="-122"/>
                <a:cs typeface="Arial" pitchFamily="34" charset="-120"/>
              </a:rPr>
              <a:t>Standard cells = design__instance__count__stdcell:</a:t>
            </a:r>
            <a:endParaRPr lang="en-US" sz="1800" dirty="0"/>
          </a:p>
        </p:txBody>
      </p:sp>
      <p:sp>
        <p:nvSpPr>
          <p:cNvPr id="16" name="Text 14"/>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800" dirty="0">
                <a:solidFill>
                  <a:srgbClr val="12151C"/>
                </a:solidFill>
                <a:latin typeface="Arial" pitchFamily="34" charset="0"/>
                <a:ea typeface="Arial" pitchFamily="34" charset="-122"/>
                <a:cs typeface="Arial" pitchFamily="34" charset="-120"/>
              </a:rPr>
              <a:t>it counts tap cells, not fill.</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Where to go next: run it again, on your own</a:t>
            </a:r>
            <a:endParaRPr lang="en-US" sz="2800" dirty="0"/>
          </a:p>
        </p:txBody>
      </p:sp>
      <p:sp>
        <p:nvSpPr>
          <p:cNvPr id="3" name="command"/>
          <p:cNvSpPr/>
          <p:nvPr/>
        </p:nvSpPr>
        <p:spPr>
          <a:xfrm>
            <a:off x="457200" y="1325880"/>
            <a:ext cx="4754880" cy="1737360"/>
          </a:xfrm>
          <a:prstGeom prst="roundRect">
            <a:avLst>
              <a:gd name="adj" fmla="val 3158"/>
            </a:avLst>
          </a:prstGeom>
          <a:solidFill>
            <a:srgbClr val="071A36"/>
          </a:solidFill>
          <a:ln w="12700">
            <a:solidFill>
              <a:srgbClr val="071A36"/>
            </a:solidFill>
            <a:prstDash val="solid"/>
          </a:ln>
        </p:spPr>
      </p:sp>
      <p:sp>
        <p:nvSpPr>
          <p:cNvPr id="4" name="Text 2"/>
          <p:cNvSpPr txBox="1"/>
          <p:nvPr/>
        </p:nvSpPr>
        <p:spPr>
          <a:xfrm>
            <a:off x="566928" y="1325880"/>
            <a:ext cx="4572000" cy="173736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make lunch</a:t>
            </a:r>
            <a:endParaRPr lang="en-US" sz="1800" dirty="0"/>
          </a:p>
          <a:p>
            <a:pPr indent="0" marL="0">
              <a:buNone/>
            </a:pPr>
            <a:r>
              <a:rPr lang="en-US" sz="1800" b="1" dirty="0">
                <a:solidFill>
                  <a:srgbClr val="FFFFFF"/>
                </a:solidFill>
                <a:latin typeface="Courier New" pitchFamily="34" charset="0"/>
                <a:ea typeface="Courier New" pitchFamily="34" charset="-122"/>
                <a:cs typeface="Courier New" pitchFamily="34" charset="-120"/>
              </a:rPr>
              <a:t>make lab-setup</a:t>
            </a:r>
            <a:endParaRPr lang="en-US" sz="1800" dirty="0"/>
          </a:p>
          <a:p>
            <a:pPr indent="0" marL="0">
              <a:buNone/>
            </a:pPr>
            <a:r>
              <a:rPr lang="en-US" sz="1800" b="1" dirty="0">
                <a:solidFill>
                  <a:srgbClr val="FFFFFF"/>
                </a:solidFill>
                <a:latin typeface="Courier New" pitchFamily="34" charset="0"/>
                <a:ea typeface="Courier New" pitchFamily="34" charset="-122"/>
                <a:cs typeface="Courier New" pitchFamily="34" charset="-120"/>
              </a:rPr>
              <a:t>make lab N=1</a:t>
            </a:r>
            <a:endParaRPr lang="en-US" sz="1800" dirty="0"/>
          </a:p>
          <a:p>
            <a:pPr indent="0" marL="0">
              <a:buNone/>
            </a:pPr>
            <a:r>
              <a:rPr lang="en-US" sz="1800" b="1" dirty="0">
                <a:solidFill>
                  <a:srgbClr val="FFFFFF"/>
                </a:solidFill>
                <a:latin typeface="Courier New" pitchFamily="34" charset="0"/>
                <a:ea typeface="Courier New" pitchFamily="34" charset="-122"/>
                <a:cs typeface="Courier New" pitchFamily="34" charset="-120"/>
              </a:rPr>
              <a:t>make gl-counter</a:t>
            </a:r>
            <a:endParaRPr lang="en-US" sz="1800" dirty="0"/>
          </a:p>
        </p:txBody>
      </p:sp>
      <p:sp>
        <p:nvSpPr>
          <p:cNvPr id="5" name="Text 3"/>
          <p:cNvSpPr txBox="1"/>
          <p:nvPr/>
        </p:nvSpPr>
        <p:spPr>
          <a:xfrm>
            <a:off x="5440680" y="1325880"/>
            <a:ext cx="3246120" cy="1737360"/>
          </a:xfrm>
          <a:prstGeom prst="rect">
            <a:avLst/>
          </a:prstGeom>
          <a:noFill/>
          <a:ln/>
        </p:spPr>
        <p:txBody>
          <a:bodyPr wrap="square" lIns="0" tIns="0" rIns="0" bIns="0" rtlCol="0" anchor="ctr"/>
          <a:lstStyle/>
          <a:p>
            <a:pPr indent="0" marL="0">
              <a:buNone/>
            </a:pPr>
            <a:r>
              <a:rPr lang="en-US" sz="1800" dirty="0">
                <a:solidFill>
                  <a:srgbClr val="5C6573"/>
                </a:solidFill>
                <a:latin typeface="Arial" pitchFamily="34" charset="0"/>
                <a:ea typeface="Arial" pitchFamily="34" charset="-122"/>
                <a:cs typeface="Arial" pitchFamily="34" charset="-120"/>
              </a:rPr>
              <a:t>One run, the labs, the gate-level check</a:t>
            </a:r>
            <a:endParaRPr lang="en-US" sz="1800" dirty="0"/>
          </a:p>
        </p:txBody>
      </p:sp>
      <p:sp>
        <p:nvSpPr>
          <p:cNvPr id="6" name="Text 4"/>
          <p:cNvSpPr txBox="1"/>
          <p:nvPr/>
        </p:nvSpPr>
        <p:spPr>
          <a:xfrm>
            <a:off x="457200" y="3383280"/>
            <a:ext cx="8229600" cy="457200"/>
          </a:xfrm>
          <a:prstGeom prst="rect">
            <a:avLst/>
          </a:prstGeom>
          <a:noFill/>
          <a:ln/>
        </p:spPr>
        <p:txBody>
          <a:bodyPr wrap="square" lIns="0" tIns="0" rIns="0" bIns="0" rtlCol="0" anchor="t"/>
          <a:lstStyle/>
          <a:p>
            <a:pPr indent="0" marL="0">
              <a:buNone/>
            </a:pPr>
            <a:r>
              <a:rPr lang="en-US" sz="2400" b="1" dirty="0">
                <a:solidFill>
                  <a:srgbClr val="008F7A"/>
                </a:solidFill>
                <a:latin typeface="Arial" pitchFamily="34" charset="0"/>
                <a:ea typeface="Arial" pitchFamily="34" charset="-122"/>
                <a:cs typeface="Arial" pitchFamily="34" charset="-120"/>
              </a:rPr>
              <a:t>github.com/rajaghv-dev/open-ai-silicon</a:t>
            </a:r>
            <a:endParaRPr lang="en-US" sz="2400" dirty="0"/>
          </a:p>
        </p:txBody>
      </p:sp>
      <p:sp>
        <p:nvSpPr>
          <p:cNvPr id="7" name="Text 5"/>
          <p:cNvSpPr txBox="1"/>
          <p:nvPr/>
        </p:nvSpPr>
        <p:spPr>
          <a:xfrm>
            <a:off x="457200" y="3977640"/>
            <a:ext cx="8229600" cy="365760"/>
          </a:xfrm>
          <a:prstGeom prst="rect">
            <a:avLst/>
          </a:prstGeom>
          <a:noFill/>
          <a:ln/>
        </p:spPr>
        <p:txBody>
          <a:bodyPr wrap="square" lIns="0" tIns="0" rIns="0" bIns="0" rtlCol="0" anchor="t"/>
          <a:lstStyle/>
          <a:p>
            <a:pPr indent="0" marL="0">
              <a:buNone/>
            </a:pPr>
            <a:r>
              <a:rPr lang="en-US" sz="1800" b="1" dirty="0">
                <a:solidFill>
                  <a:srgbClr val="B83A22"/>
                </a:solidFill>
                <a:latin typeface="Arial" pitchFamily="34" charset="0"/>
                <a:ea typeface="Arial" pitchFamily="34" charset="-122"/>
                <a:cs typeface="Arial" pitchFamily="34" charset="-120"/>
              </a:rPr>
              <a:t>The repository is private for now.</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1" type="title" hasCustomPrompt="1"/>
          </p:nvPr>
        </p:nvSpPr>
        <p:spPr>
          <a:xfrm>
            <a:off x="640080" y="914400"/>
            <a:ext cx="768096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Questions</a:t>
            </a:r>
            <a:endParaRPr lang="en-US" sz="3600" dirty="0"/>
          </a:p>
        </p:txBody>
      </p:sp>
      <p:sp>
        <p:nvSpPr>
          <p:cNvPr id="3" name="Text 1"/>
          <p:cNvSpPr txBox="1"/>
          <p:nvPr/>
        </p:nvSpPr>
        <p:spPr>
          <a:xfrm>
            <a:off x="640080" y="2194560"/>
            <a:ext cx="7315200" cy="36576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Raja Gopal  ·  Prepared for Open Source India</a:t>
            </a:r>
            <a:endParaRPr lang="en-US" sz="2000" dirty="0"/>
          </a:p>
        </p:txBody>
      </p:sp>
      <p:sp>
        <p:nvSpPr>
          <p:cNvPr id="4" name="Text 2"/>
          <p:cNvSpPr txBox="1"/>
          <p:nvPr/>
        </p:nvSpPr>
        <p:spPr>
          <a:xfrm>
            <a:off x="640080" y="2651760"/>
            <a:ext cx="7315200" cy="457200"/>
          </a:xfrm>
          <a:prstGeom prst="rect">
            <a:avLst/>
          </a:prstGeom>
          <a:noFill/>
          <a:ln/>
        </p:spPr>
        <p:txBody>
          <a:bodyPr wrap="square" lIns="0" tIns="0" rIns="0" bIns="0" rtlCol="0" anchor="t"/>
          <a:lstStyle/>
          <a:p>
            <a:pPr indent="0" marL="0">
              <a:buNone/>
            </a:pPr>
            <a:r>
              <a:rPr lang="en-US" sz="2400" b="1" dirty="0">
                <a:solidFill>
                  <a:srgbClr val="7FD6C6"/>
                </a:solidFill>
                <a:latin typeface="Arial" pitchFamily="34" charset="0"/>
                <a:ea typeface="Arial" pitchFamily="34" charset="-122"/>
                <a:cs typeface="Arial" pitchFamily="34" charset="-120"/>
              </a:rPr>
              <a:t>github.com/rajaghv-dev/open-ai-silicon</a:t>
            </a:r>
            <a:endParaRPr lang="en-US" sz="2400" dirty="0"/>
          </a:p>
        </p:txBody>
      </p:sp>
      <p:sp>
        <p:nvSpPr>
          <p:cNvPr id="5" name="progress A"/>
          <p:cNvSpPr/>
          <p:nvPr/>
        </p:nvSpPr>
        <p:spPr>
          <a:xfrm>
            <a:off x="640080" y="3840480"/>
            <a:ext cx="484632" cy="201168"/>
          </a:xfrm>
          <a:prstGeom prst="rect">
            <a:avLst/>
          </a:prstGeom>
          <a:solidFill>
            <a:srgbClr val="2C3E5C"/>
          </a:solidFill>
          <a:ln w="12700">
            <a:solidFill>
              <a:srgbClr val="2C3E5C"/>
            </a:solidFill>
            <a:prstDash val="solid"/>
          </a:ln>
        </p:spPr>
      </p:sp>
      <p:sp>
        <p:nvSpPr>
          <p:cNvPr id="6" name="progress B"/>
          <p:cNvSpPr/>
          <p:nvPr/>
        </p:nvSpPr>
        <p:spPr>
          <a:xfrm>
            <a:off x="1152144" y="3840480"/>
            <a:ext cx="1508760" cy="201168"/>
          </a:xfrm>
          <a:prstGeom prst="rect">
            <a:avLst/>
          </a:prstGeom>
          <a:solidFill>
            <a:srgbClr val="2C3E5C"/>
          </a:solidFill>
          <a:ln w="12700">
            <a:solidFill>
              <a:srgbClr val="2C3E5C"/>
            </a:solidFill>
            <a:prstDash val="solid"/>
          </a:ln>
        </p:spPr>
      </p:sp>
      <p:sp>
        <p:nvSpPr>
          <p:cNvPr id="7" name="progress C"/>
          <p:cNvSpPr/>
          <p:nvPr/>
        </p:nvSpPr>
        <p:spPr>
          <a:xfrm>
            <a:off x="2688336" y="3840480"/>
            <a:ext cx="996696" cy="201168"/>
          </a:xfrm>
          <a:prstGeom prst="rect">
            <a:avLst/>
          </a:prstGeom>
          <a:solidFill>
            <a:srgbClr val="2C3E5C"/>
          </a:solidFill>
          <a:ln w="12700">
            <a:solidFill>
              <a:srgbClr val="2C3E5C"/>
            </a:solidFill>
            <a:prstDash val="solid"/>
          </a:ln>
        </p:spPr>
      </p:sp>
      <p:sp>
        <p:nvSpPr>
          <p:cNvPr id="8" name="progress D"/>
          <p:cNvSpPr/>
          <p:nvPr/>
        </p:nvSpPr>
        <p:spPr>
          <a:xfrm>
            <a:off x="3712464" y="3840480"/>
            <a:ext cx="1252728" cy="201168"/>
          </a:xfrm>
          <a:prstGeom prst="rect">
            <a:avLst/>
          </a:prstGeom>
          <a:solidFill>
            <a:srgbClr val="2C3E5C"/>
          </a:solidFill>
          <a:ln w="12700">
            <a:solidFill>
              <a:srgbClr val="2C3E5C"/>
            </a:solidFill>
            <a:prstDash val="solid"/>
          </a:ln>
        </p:spPr>
      </p:sp>
      <p:sp>
        <p:nvSpPr>
          <p:cNvPr id="9" name="progress E"/>
          <p:cNvSpPr/>
          <p:nvPr/>
        </p:nvSpPr>
        <p:spPr>
          <a:xfrm>
            <a:off x="4992624" y="3840480"/>
            <a:ext cx="996696" cy="201168"/>
          </a:xfrm>
          <a:prstGeom prst="rect">
            <a:avLst/>
          </a:prstGeom>
          <a:solidFill>
            <a:srgbClr val="2C3E5C"/>
          </a:solidFill>
          <a:ln w="12700">
            <a:solidFill>
              <a:srgbClr val="2C3E5C"/>
            </a:solidFill>
            <a:prstDash val="solid"/>
          </a:ln>
        </p:spPr>
      </p:sp>
      <p:sp>
        <p:nvSpPr>
          <p:cNvPr id="10" name="progress F"/>
          <p:cNvSpPr/>
          <p:nvPr/>
        </p:nvSpPr>
        <p:spPr>
          <a:xfrm>
            <a:off x="6016752" y="3840480"/>
            <a:ext cx="996696" cy="201168"/>
          </a:xfrm>
          <a:prstGeom prst="rect">
            <a:avLst/>
          </a:prstGeom>
          <a:solidFill>
            <a:srgbClr val="2C3E5C"/>
          </a:solidFill>
          <a:ln w="12700">
            <a:solidFill>
              <a:srgbClr val="2C3E5C"/>
            </a:solidFill>
            <a:prstDash val="solid"/>
          </a:ln>
        </p:spPr>
      </p:sp>
      <p:sp>
        <p:nvSpPr>
          <p:cNvPr id="11" name="progress G"/>
          <p:cNvSpPr/>
          <p:nvPr/>
        </p:nvSpPr>
        <p:spPr>
          <a:xfrm>
            <a:off x="7040880" y="3840480"/>
            <a:ext cx="740664" cy="201168"/>
          </a:xfrm>
          <a:prstGeom prst="rect">
            <a:avLst/>
          </a:prstGeom>
          <a:solidFill>
            <a:srgbClr val="2C3E5C"/>
          </a:solidFill>
          <a:ln w="12700">
            <a:solidFill>
              <a:srgbClr val="2C3E5C"/>
            </a:solidFill>
            <a:prstDash val="solid"/>
          </a:ln>
        </p:spPr>
      </p:sp>
      <p:sp>
        <p:nvSpPr>
          <p:cNvPr id="12" name="progress H"/>
          <p:cNvSpPr/>
          <p:nvPr/>
        </p:nvSpPr>
        <p:spPr>
          <a:xfrm>
            <a:off x="7808976" y="3840480"/>
            <a:ext cx="484632" cy="201168"/>
          </a:xfrm>
          <a:prstGeom prst="rect">
            <a:avLst/>
          </a:prstGeom>
          <a:solidFill>
            <a:srgbClr val="FF4D2E"/>
          </a:solidFill>
          <a:ln w="12700">
            <a:solidFill>
              <a:srgbClr val="FF4D2E"/>
            </a:solidFill>
            <a:prstDash val="solid"/>
          </a:ln>
        </p:spPr>
      </p:sp>
      <p:sp>
        <p:nvSpPr>
          <p:cNvPr id="13" name="Text 11"/>
          <p:cNvSpPr txBox="1"/>
          <p:nvPr/>
        </p:nvSpPr>
        <p:spPr>
          <a:xfrm>
            <a:off x="640080" y="4114800"/>
            <a:ext cx="768096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Minutes 140–150 of 150</a:t>
            </a:r>
            <a:endParaRPr lang="en-US" sz="18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Arial"/>
                <a:ea typeface="Arial"/>
                <a:cs typeface="Aria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p:nvPr>
            <p:ph idx="101" type="title" hasCustomPrompt="1"/>
          </p:nvPr>
        </p:nvSpPr>
        <p:spPr>
          <a:xfrm>
            <a:off x="640080" y="914400"/>
            <a:ext cx="768096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Appendix</a:t>
            </a:r>
            <a:endParaRPr lang="en-US" sz="3600" dirty="0"/>
          </a:p>
        </p:txBody>
      </p:sp>
      <p:sp>
        <p:nvSpPr>
          <p:cNvPr id="3" name="Text 1"/>
          <p:cNvSpPr txBox="1"/>
          <p:nvPr/>
        </p:nvSpPr>
        <p:spPr>
          <a:xfrm>
            <a:off x="640080" y="2148840"/>
            <a:ext cx="7315200" cy="548640"/>
          </a:xfrm>
          <a:prstGeom prst="rect">
            <a:avLst/>
          </a:prstGeom>
          <a:noFill/>
          <a:ln/>
        </p:spPr>
        <p:txBody>
          <a:bodyPr wrap="square" lIns="0" tIns="0" rIns="0" bIns="0" rtlCol="0" anchor="t"/>
          <a:lstStyle/>
          <a:p>
            <a:pPr indent="0" marL="0">
              <a:buNone/>
            </a:pPr>
            <a:r>
              <a:rPr lang="en-US" sz="2000" dirty="0">
                <a:solidFill>
                  <a:srgbClr val="D6DCE6"/>
                </a:solidFill>
                <a:latin typeface="Arial" pitchFamily="34" charset="0"/>
                <a:ea typeface="Arial" pitchFamily="34" charset="-122"/>
                <a:cs typeface="Arial" pitchFamily="34" charset="-120"/>
              </a:rPr>
              <a:t>Full tables and command reference</a:t>
            </a:r>
            <a:endParaRPr lang="en-US" sz="20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Arial"/>
                <a:ea typeface="Arial"/>
                <a:cs typeface="Aria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Appendix: build numbers per design</a:t>
            </a:r>
            <a:endParaRPr lang="en-US" sz="28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554480"/>
                <a:gridCol w="777240"/>
                <a:gridCol w="1005840"/>
                <a:gridCol w="777240"/>
                <a:gridCol w="640080"/>
                <a:gridCol w="777240"/>
                <a:gridCol w="640080"/>
                <a:gridCol w="777240"/>
                <a:gridCol w="640080"/>
              </a:tblGrid>
              <a:tr h="237744">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Design</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Std cells*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Die (µm)</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Setup ns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Hold ns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Peak mem</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Wall</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spm_ref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140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59.1 × 69.8</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+1.61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+0.10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min_ff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0.64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42 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counter_wb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1,214</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200 × 200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+8.05</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+0.11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min_ff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0.60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70 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uart</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2,026</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300 × 300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+13.19</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+0.11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min_ff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0.84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112 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ring_osc</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830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150 × 150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+8.44</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+0.11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min_ff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0.60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57 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pwm_dac</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524</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150 × 150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+13.87</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+0.12</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min_ff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0.57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51 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sigma_delta</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1,026</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200 × 200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+10.76</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+0.11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min_ff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0.63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74 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aes128</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9,403</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400 × 400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+8.61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+0.06</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min_ff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1.62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7.5 min</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bnn_mnist</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7,466</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360 × 360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+11.35</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+0.11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min_ff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1.21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7.1 min</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fcnn_mnist</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12,212</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450 × 450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+9.65</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+0.08</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1.54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8.0 min</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user_proj_example</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12,361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450 × 450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+9.61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+0.10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1.57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7.7 min</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cnn_lite</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7,700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360 × 360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+11.62</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+0.07</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min_ff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1.38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6.9 min</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cnn_fp16</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531,505</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2800 × 1760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3A22"/>
                          </a:solidFill>
                          <a:latin typeface="Arial" pitchFamily="34" charset="0"/>
                          <a:ea typeface="Arial" pitchFamily="34" charset="-122"/>
                          <a:cs typeface="Arial" pitchFamily="34" charset="-120"/>
                        </a:rPr>
                        <a:t>−5.18</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3A22"/>
                          </a:solidFill>
                          <a:latin typeface="Arial" pitchFamily="34" charset="0"/>
                          <a:ea typeface="Arial" pitchFamily="34" charset="-122"/>
                          <a:cs typeface="Arial" pitchFamily="34" charset="-120"/>
                        </a:rPr>
                        <a:t>−0.49</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6573"/>
                          </a:solidFill>
                          <a:latin typeface="Arial" pitchFamily="34" charset="0"/>
                          <a:ea typeface="Arial" pitchFamily="34" charset="-122"/>
                          <a:cs typeface="Arial" pitchFamily="34" charset="-120"/>
                        </a:rPr>
                        <a:t>max_ss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23 GB†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~3.5 h†</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000" dirty="0">
                <a:solidFill>
                  <a:srgbClr val="5C6573"/>
                </a:solidFill>
                <a:latin typeface="Arial" pitchFamily="34" charset="0"/>
                <a:ea typeface="Arial" pitchFamily="34" charset="-122"/>
                <a:cs typeface="Arial" pitchFamily="34" charset="-120"/>
              </a:rPr>
              <a:t>*Std cells: design__instance__count__stdcell (taps in, fill out). †cnn_fp16: docs/RESULTS.md. ss = slow, ff = fast corner.</a:t>
            </a:r>
            <a:endParaRPr lang="en-US" sz="10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Appendix: signoff counts per design</a:t>
            </a:r>
            <a:endParaRPr lang="en-US" sz="28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554480"/>
                <a:gridCol w="953589"/>
                <a:gridCol w="953589"/>
                <a:gridCol w="953589"/>
                <a:gridCol w="953589"/>
                <a:gridCol w="953589"/>
                <a:gridCol w="953589"/>
                <a:gridCol w="953589"/>
              </a:tblGrid>
              <a:tr h="237744">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Design</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Magic DRC</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KLayout</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LVS</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Antenna</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XOR</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Max-slew</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Max-cap</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spm_ref</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A22"/>
                          </a:solidFill>
                          <a:latin typeface="Arial" pitchFamily="34" charset="0"/>
                          <a:ea typeface="Arial" pitchFamily="34" charset="-122"/>
                          <a:cs typeface="Arial" pitchFamily="34" charset="-120"/>
                        </a:rPr>
                        <a:t>11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counter_wb</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A22"/>
                          </a:solidFill>
                          <a:latin typeface="Arial" pitchFamily="34" charset="0"/>
                          <a:ea typeface="Arial" pitchFamily="34" charset="-122"/>
                          <a:cs typeface="Arial" pitchFamily="34" charset="-120"/>
                        </a:rPr>
                        <a:t>41</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uart</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A22"/>
                          </a:solidFill>
                          <a:latin typeface="Arial" pitchFamily="34" charset="0"/>
                          <a:ea typeface="Arial" pitchFamily="34" charset="-122"/>
                          <a:cs typeface="Arial" pitchFamily="34" charset="-120"/>
                        </a:rPr>
                        <a:t>24</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ring_osc</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A22"/>
                          </a:solidFill>
                          <a:latin typeface="Arial" pitchFamily="34" charset="0"/>
                          <a:ea typeface="Arial" pitchFamily="34" charset="-122"/>
                          <a:cs typeface="Arial" pitchFamily="34" charset="-120"/>
                        </a:rPr>
                        <a:t>27</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pwm_dac</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sigma_delta</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A22"/>
                          </a:solidFill>
                          <a:latin typeface="Arial" pitchFamily="34" charset="0"/>
                          <a:ea typeface="Arial" pitchFamily="34" charset="-122"/>
                          <a:cs typeface="Arial" pitchFamily="34" charset="-120"/>
                        </a:rPr>
                        <a:t>18</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aes128</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A22"/>
                          </a:solidFill>
                          <a:latin typeface="Arial" pitchFamily="34" charset="0"/>
                          <a:ea typeface="Arial" pitchFamily="34" charset="-122"/>
                          <a:cs typeface="Arial" pitchFamily="34" charset="-120"/>
                        </a:rPr>
                        <a:t>40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bnn_mnist</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fcnn_mnist</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A22"/>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user_proj_example</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A22"/>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cnn_lite</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cnn_fp16</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A22"/>
                          </a:solidFill>
                          <a:latin typeface="Arial" pitchFamily="34" charset="0"/>
                          <a:ea typeface="Arial" pitchFamily="34" charset="-122"/>
                          <a:cs typeface="Arial" pitchFamily="34" charset="-120"/>
                        </a:rPr>
                        <a:t>142,619</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A22"/>
                          </a:solidFill>
                          <a:latin typeface="Arial" pitchFamily="34" charset="0"/>
                          <a:ea typeface="Arial" pitchFamily="34" charset="-122"/>
                          <a:cs typeface="Arial" pitchFamily="34" charset="-120"/>
                        </a:rPr>
                        <a:t>2,207</a:t>
                      </a:r>
                      <a:endParaRPr lang="en-US" sz="1000" dirty="0">
                        <a:latin typeface="Arial" charset="0"/>
                        <a:ea typeface="Arial" charset="0"/>
                        <a:cs typeface="Arial" charset="0"/>
                      </a:endParaRPr>
                    </a:p>
                  </a:txBody>
                  <a:tcPr marL="45720" marR="45720" marT="0" marB="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000" dirty="0">
                <a:solidFill>
                  <a:srgbClr val="5C6573"/>
                </a:solidFill>
                <a:latin typeface="Arial" pitchFamily="34" charset="0"/>
                <a:ea typeface="Arial" pitchFamily="34" charset="-122"/>
                <a:cs typeface="Arial" pitchFamily="34" charset="-120"/>
              </a:rPr>
              <a:t>Orange = remaining max-slew / max-cap violations. </a:t>
            </a:r>
            <a:endParaRPr lang="en-US" sz="10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Appendix: how each design was verified (1 of 2)</a:t>
            </a:r>
            <a:endParaRPr lang="en-US" sz="28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71600"/>
                <a:gridCol w="6858000"/>
              </a:tblGrid>
              <a:tr h="27432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Design</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Verification</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spm_ref</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Self-checking testbench compares every product bit with a x b computed in the testbench: 67,286 multiplications, 1,094,197 checks, 0 errors (iverilog); gate-level simulation of the synthesized netlist also passes (build/v4/gl_all.log). Original RTL did not multiply; rewritten with the same ports.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counter_wb</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RTL testbench passes five checks (initial value, write/read, reset, free-running count, logic-analyzer mirror); gate-level simulation of the synthesized netlist passes (build/v4/gl_all.log). The original assigned its registers in two always blocks, so synthesis kept 1 of about 67 flip-flops (build/audit/AUDIT.md); now all in one block (RTL header), 67 sequential cells in output/counter_wb.</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uart</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The committed uart_tb exercises uart_tx and uart_rx only (loopback, CLKS_PER_BIT = 5). The gate-level runs use 34 Wishbone loopback bytes (uart_wb_tb) and pass on the synthesized and the routed netlist (build/v4/gl_all.log, gl_final.log).</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ring_osc</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The original ring (a combinational loop of not primitives) was folded away by Yosys; the RTL test used a divider instead of the ring (build/audit/AUDIT.md). Now the ring is built from explicit sky130 nand2_1 / inv_1 cells (RTL header) and the gate-level test runs on the real cell ring and passes (build/v4/gl_all.log). Oscillation frequency in silicon remains unmeasured.</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pwm_dac</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Testbench passes: duty 0 always low, duty 255 gives 255/256 high, duty 128 gives exactly 50%, duty register reads back (iverilog). Gate-level simulation passes.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sigma_delta</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Testbench passes: input 0 gives all zeros, 0xFFFF all ones, 0x8000 about 50%, density register near 128, input register reads back (iverilog). Gate-level simulation passes.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Appendix: how each design was verified (2 of 2)</a:t>
            </a:r>
            <a:endParaRPr lang="en-US" sz="28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71600"/>
                <a:gridCol w="6858000"/>
              </a:tblGrid>
              <a:tr h="27432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Design</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Verification</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aes128</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Passes FIPS-197 Appendix B and C.1 and the all-zero vector, plus 1,000 random vectors through the core and 1,000 through Wishbone: 0 mismatches (iverilog); gate-level simulation passes (build/v4/gl_all.log). Original build: 32,432 cells, 800 x 800 um, setup -6.20 ns, wrong ciphertext for both NIST vectors.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bnn_mnist</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RTL equals the integer reference on all 10,000 MNIST test images (130,302 checks, 0 errors). Accuracy 90.10% (9,010 / 10,000). 770 cycles per inference; 7,552 ROM bits. Gate-level simulation of 200 images passes. Before: 784 -&gt; 32 -&gt; 10 with random weights, 34,707 cells, 900 x 900 um, setup -6.62 ns.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fcnn_mnist</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1,000 MNIST images through Wishbone: 0 mismatches against the bit-exact reference, 909 / 1,000 correct, 602 cycles each. On 10,000 images the model gives 92.08% in floating point and 91.72% hardware-exact. Gate-level simulation of 100 images passes on the synthesized and routed netlists (build/v4). user_proj_example: same RTL, RT_MAX_LAYER met4; see appendix.</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cnn_lite</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RTL equals the reference on all 10,000 images (150,048 checks, 0 errors); accuracy 91.37% (9,137 / 10,000); 8 filters would reach 94.43% at twice the ROM; 1,587 cycles per inference; gate-level simulation of 200 images passes. cnn_fp16 has 531,505 cells; cnn_lite 7,700 (ratio about 69).</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cnn_fp16</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108 KB of HLS-generated Verilog; the HLS tool is not available so it cannot be regenerated. Hardened on a workstation (about 3.5 hours, 23 GB peak memory), 0 DRC, 0 LVS errors; setup -5.18 ns and hold -0.49 ns at the worst corner.</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Appendix: what we found in the originals</a:t>
            </a:r>
            <a:endParaRPr lang="en-US" sz="28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234440"/>
                <a:gridCol w="4023360"/>
                <a:gridCol w="2971800"/>
              </a:tblGrid>
              <a:tr h="256032">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Design</a:t>
                      </a:r>
                      <a:endParaRPr lang="en-US" sz="11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071A3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Found</a:t>
                      </a:r>
                      <a:endParaRPr lang="en-US" sz="11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071A3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Now</a:t>
                      </a:r>
                      <a:endParaRPr lang="en-US" sz="11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071A36"/>
                    </a:solidFill>
                  </a:tcPr>
                </a:tc>
              </a:tr>
              <a:tr h="384048">
                <a:tc>
                  <a:txBody>
                    <a:bodyPr/>
                    <a:lstStyle/>
                    <a:p>
                      <a:pPr indent="0" marL="0">
                        <a:buNone/>
                      </a:pPr>
                      <a:r>
                        <a:rPr lang="en-US" sz="1000" b="1" dirty="0">
                          <a:solidFill>
                            <a:srgbClr val="12151C"/>
                          </a:solidFill>
                          <a:latin typeface="Arial" pitchFamily="34" charset="0"/>
                          <a:ea typeface="Arial" pitchFamily="34" charset="-122"/>
                          <a:cs typeface="Arial" pitchFamily="34" charset="-120"/>
                        </a:rPr>
                        <a:t>spm_ref</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RTL did not multiply: 3 × 3 gave 3. Its test was failing but exited 0.</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Rewritten (carry-save, same ports); test checks 1,094,197 bits, 0 errors.</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2151C"/>
                          </a:solidFill>
                          <a:latin typeface="Arial" pitchFamily="34" charset="0"/>
                          <a:ea typeface="Arial" pitchFamily="34" charset="-122"/>
                          <a:cs typeface="Arial" pitchFamily="34" charset="-120"/>
                        </a:rPr>
                        <a:t>counter_wb</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Hollow: 1 of about 67 flip-flops survived synthesis (34 'multiple conflicting drivers'); RTL simulation, DRC, LVS and timing passed.</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All registers in one always block; gate-level test passes.</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2151C"/>
                          </a:solidFill>
                          <a:latin typeface="Arial" pitchFamily="34" charset="0"/>
                          <a:ea typeface="Arial" pitchFamily="34" charset="-122"/>
                          <a:cs typeface="Arial" pitchFamily="34" charset="-120"/>
                        </a:rPr>
                        <a:t>ring_osc</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Hollow: the 31-inverter ring was deleted by synthesis; the RTL test used a divider instead.</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Ring built from explicit sky130 cells; gate-level test on the real ring passes.</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2151C"/>
                          </a:solidFill>
                          <a:latin typeface="Arial" pitchFamily="34" charset="0"/>
                          <a:ea typeface="Arial" pitchFamily="34" charset="-122"/>
                          <a:cs typeface="Arial" pitchFamily="34" charset="-120"/>
                        </a:rPr>
                        <a:t>aes128</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Wrong ciphertext for both NIST vectors; 1,306 failing endpoints at max_ss_100C_1v60, worst setup −6.20 ns.</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Column-serial core passes FIPS-197 and 2,000 random blocks.</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r>
              <a:tr h="530352">
                <a:tc>
                  <a:txBody>
                    <a:bodyPr/>
                    <a:lstStyle/>
                    <a:p>
                      <a:pPr indent="0" marL="0">
                        <a:buNone/>
                      </a:pPr>
                      <a:r>
                        <a:rPr lang="en-US" sz="1000" b="1" dirty="0">
                          <a:solidFill>
                            <a:srgbClr val="12151C"/>
                          </a:solidFill>
                          <a:latin typeface="Arial" pitchFamily="34" charset="0"/>
                          <a:ea typeface="Arial" pitchFamily="34" charset="-122"/>
                          <a:cs typeface="Arial" pitchFamily="34" charset="-120"/>
                        </a:rPr>
                        <a:t>bnn_mnist</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Random weights; pixel register sampled every clock; testbench used the wrong address and passed anyway; 32 failing endpoints at max_ss_100C_1v60, worst setup −6.62 ns.</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Trained (90.10%); handshake fixed; RTL matches reference on 10,000 images.</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2151C"/>
                          </a:solidFill>
                          <a:latin typeface="Arial" pitchFamily="34" charset="0"/>
                          <a:ea typeface="Arial" pitchFamily="34" charset="-122"/>
                          <a:cs typeface="Arial" pitchFamily="34" charset="-120"/>
                        </a:rPr>
                        <a:t>fcnn_mnist</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Testbench only checked that the RTL compiles; accuracy in hardware unknown; 102,091 cells.</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196 inputs, 8-bit; 91.72% hardware-exact.</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2151C"/>
                          </a:solidFill>
                          <a:latin typeface="Arial" pitchFamily="34" charset="0"/>
                          <a:ea typeface="Arial" pitchFamily="34" charset="-122"/>
                          <a:cs typeface="Arial" pitchFamily="34" charset="-120"/>
                        </a:rPr>
                        <a:t>cnn_fp16</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Fails slow-corner setup (−5.18 ns) and hold (−0.49 ns); 142,619 max-slew violations.</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Not changed: HLS source unavailable; workstation-only.</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2151C"/>
                          </a:solidFill>
                          <a:latin typeface="Arial" pitchFamily="34" charset="0"/>
                          <a:ea typeface="Arial" pitchFamily="34" charset="-122"/>
                          <a:cs typeface="Arial" pitchFamily="34" charset="-120"/>
                        </a:rPr>
                        <a:t>Six small tests</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Each ended in a plain $finish, so a failed check could not fail the run.</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c>
                  <a:txBody>
                    <a:bodyPr/>
                    <a:lstStyle/>
                    <a:p>
                      <a:pPr indent="0" marL="0">
                        <a:buNone/>
                      </a:pPr>
                      <a:r>
                        <a:rPr lang="en-US" sz="1000" dirty="0">
                          <a:solidFill>
                            <a:srgbClr val="12151C"/>
                          </a:solidFill>
                          <a:latin typeface="Arial" pitchFamily="34" charset="0"/>
                          <a:ea typeface="Arial" pitchFamily="34" charset="-122"/>
                          <a:cs typeface="Arial" pitchFamily="34" charset="-120"/>
                        </a:rPr>
                        <a:t>All testbenches now exit non-zero on a failed check or a timeout.</a:t>
                      </a:r>
                      <a:endParaRPr lang="en-US" sz="1000" dirty="0">
                        <a:latin typeface="Arial" charset="0"/>
                        <a:ea typeface="Arial" charset="0"/>
                        <a:cs typeface="Arial" charset="0"/>
                      </a:endParaRPr>
                    </a:p>
                  </a:txBody>
                  <a:tcPr marL="73152" marR="73152" marT="18288" marB="18288"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Appendix: fcnn_mnist and user_proj_example</a:t>
            </a:r>
            <a:endParaRPr lang="en-US" sz="28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377440"/>
                <a:gridCol w="914400"/>
                <a:gridCol w="1371600"/>
                <a:gridCol w="822960"/>
                <a:gridCol w="914400"/>
                <a:gridCol w="914400"/>
                <a:gridCol w="914400"/>
              </a:tblGrid>
              <a:tr h="36576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Design</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Std cells</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Setup / hold (ns)</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Wall</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Peak</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Max-slew</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Max-cap</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r>
              <a:tr h="36576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fcnn_mnist</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12,212</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+9.65 / +0.08</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8.0 min</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1.54 GB</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user_proj_example (met4 only)</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12,361</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+9.61 / +0.10</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7.7 min</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1.57 GB</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91440" marR="91440" marT="45720" marB="45720"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108960"/>
            <a:ext cx="8229600" cy="365760"/>
          </a:xfrm>
          <a:prstGeom prst="rect">
            <a:avLst/>
          </a:prstGeom>
          <a:noFill/>
          <a:ln/>
        </p:spPr>
        <p:txBody>
          <a:bodyPr wrap="square" lIns="0" tIns="0" rIns="0" bIns="0" rtlCol="0" anchor="t"/>
          <a:lstStyle/>
          <a:p>
            <a:pPr indent="0" marL="0">
              <a:buNone/>
            </a:pPr>
            <a:r>
              <a:rPr lang="en-US" sz="1600" dirty="0">
                <a:solidFill>
                  <a:srgbClr val="5C6573"/>
                </a:solidFill>
                <a:latin typeface="Arial" pitchFamily="34" charset="0"/>
                <a:ea typeface="Arial" pitchFamily="34" charset="-122"/>
                <a:cs typeface="Arial" pitchFamily="34" charset="-120"/>
              </a:rPr>
              <a:t>Same RTL; user_proj_example is routed up to met4 only.</a:t>
            </a:r>
            <a:endParaRPr lang="en-US" sz="1600" dirty="0"/>
          </a:p>
        </p:txBody>
      </p:sp>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Appendix: lab and check commands</a:t>
            </a:r>
            <a:endParaRPr lang="en-US" sz="28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4206240"/>
                <a:gridCol w="4023360"/>
              </a:tblGrid>
              <a:tr h="310896">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Command</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What it does</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r>
              <a:tr h="310896">
                <a:tc>
                  <a:txBody>
                    <a:bodyPr/>
                    <a:lstStyle/>
                    <a:p>
                      <a:pPr algn="l" indent="0" marL="0">
                        <a:buNone/>
                      </a:pPr>
                      <a:r>
                        <a:rPr lang="en-US" sz="1000" b="1" dirty="0">
                          <a:solidFill>
                            <a:srgbClr val="12151C"/>
                          </a:solidFill>
                          <a:latin typeface="Courier New" pitchFamily="34" charset="0"/>
                          <a:ea typeface="Courier New" pitchFamily="34" charset="-122"/>
                          <a:cs typeface="Courier New" pitchFamily="34" charset="-120"/>
                        </a:rPr>
                        <a:t>make lunch [DESIGN=bnn_mnist]</a:t>
                      </a:r>
                      <a:endParaRPr lang="en-US" sz="1000" dirty="0">
                        <a:latin typeface="Courier New" charset="0"/>
                        <a:ea typeface="Courier New" charset="0"/>
                        <a:cs typeface="Courier New"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one unattended run: check, install, simulate, harden, gl, pack</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12151C"/>
                          </a:solidFill>
                          <a:latin typeface="Courier New" pitchFamily="34" charset="0"/>
                          <a:ea typeface="Courier New" pitchFamily="34" charset="-122"/>
                          <a:cs typeface="Courier New" pitchFamily="34" charset="-120"/>
                        </a:rPr>
                        <a:t>make view [DESIGN=uart]</a:t>
                      </a:r>
                      <a:endParaRPr lang="en-US" sz="1000" dirty="0">
                        <a:latin typeface="Courier New" charset="0"/>
                        <a:ea typeface="Courier New" charset="0"/>
                        <a:cs typeface="Courier New"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walk through the stored results</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12151C"/>
                          </a:solidFill>
                          <a:latin typeface="Courier New" pitchFamily="34" charset="0"/>
                          <a:ea typeface="Courier New" pitchFamily="34" charset="-122"/>
                          <a:cs typeface="Courier New" pitchFamily="34" charset="-120"/>
                        </a:rPr>
                        <a:t>make lab-setup</a:t>
                      </a:r>
                      <a:endParaRPr lang="en-US" sz="1000" dirty="0">
                        <a:latin typeface="Courier New" charset="0"/>
                        <a:ea typeface="Courier New" charset="0"/>
                        <a:cs typeface="Courier New"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once: reference run + checkpoints (~2 min)</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12151C"/>
                          </a:solidFill>
                          <a:latin typeface="Courier New" pitchFamily="34" charset="0"/>
                          <a:ea typeface="Courier New" pitchFamily="34" charset="-122"/>
                          <a:cs typeface="Courier New" pitchFamily="34" charset="-120"/>
                        </a:rPr>
                        <a:t>make lab N=3</a:t>
                      </a:r>
                      <a:endParaRPr lang="en-US" sz="1000" dirty="0">
                        <a:latin typeface="Courier New" charset="0"/>
                        <a:ea typeface="Courier New" charset="0"/>
                        <a:cs typeface="Courier New"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run lab 3 into your own area</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12151C"/>
                          </a:solidFill>
                          <a:latin typeface="Courier New" pitchFamily="34" charset="0"/>
                          <a:ea typeface="Courier New" pitchFamily="34" charset="-122"/>
                          <a:cs typeface="Courier New" pitchFamily="34" charset="-120"/>
                        </a:rPr>
                        <a:t>make lab-check N=3</a:t>
                      </a:r>
                      <a:endParaRPr lang="en-US" sz="1000" dirty="0">
                        <a:latin typeface="Courier New" charset="0"/>
                        <a:ea typeface="Courier New" charset="0"/>
                        <a:cs typeface="Courier New"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compare with the reference</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12151C"/>
                          </a:solidFill>
                          <a:latin typeface="Courier New" pitchFamily="34" charset="0"/>
                          <a:ea typeface="Courier New" pitchFamily="34" charset="-122"/>
                          <a:cs typeface="Courier New" pitchFamily="34" charset="-120"/>
                        </a:rPr>
                        <a:t>make lab-list</a:t>
                      </a:r>
                      <a:endParaRPr lang="en-US" sz="1000" dirty="0">
                        <a:latin typeface="Courier New" charset="0"/>
                        <a:ea typeface="Courier New" charset="0"/>
                        <a:cs typeface="Courier New"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labs, expected time, your status</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12151C"/>
                          </a:solidFill>
                          <a:latin typeface="Courier New" pitchFamily="34" charset="0"/>
                          <a:ea typeface="Courier New" pitchFamily="34" charset="-122"/>
                          <a:cs typeface="Courier New" pitchFamily="34" charset="-120"/>
                        </a:rPr>
                        <a:t>make lab-reset</a:t>
                      </a:r>
                      <a:endParaRPr lang="en-US" sz="1000" dirty="0">
                        <a:latin typeface="Courier New" charset="0"/>
                        <a:ea typeface="Courier New" charset="0"/>
                        <a:cs typeface="Courier New"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clear your results</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12151C"/>
                          </a:solidFill>
                          <a:latin typeface="Courier New" pitchFamily="34" charset="0"/>
                          <a:ea typeface="Courier New" pitchFamily="34" charset="-122"/>
                          <a:cs typeface="Courier New" pitchFamily="34" charset="-120"/>
                        </a:rPr>
                        <a:t>make lab-knob KNOB=clock VALUE=10</a:t>
                      </a:r>
                      <a:endParaRPr lang="en-US" sz="1000" dirty="0">
                        <a:latin typeface="Courier New" charset="0"/>
                        <a:ea typeface="Courier New" charset="0"/>
                        <a:cs typeface="Courier New"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cause-and-effect experiment</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12151C"/>
                          </a:solidFill>
                          <a:latin typeface="Courier New" pitchFamily="34" charset="0"/>
                          <a:ea typeface="Courier New" pitchFamily="34" charset="-122"/>
                          <a:cs typeface="Courier New" pitchFamily="34" charset="-120"/>
                        </a:rPr>
                        <a:t>make lab-pack / lab-unpack PACK=&lt;file&gt;</a:t>
                      </a:r>
                      <a:endParaRPr lang="en-US" sz="1000" dirty="0">
                        <a:latin typeface="Courier New" charset="0"/>
                        <a:ea typeface="Courier New" charset="0"/>
                        <a:cs typeface="Courier New"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fallback pack</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12151C"/>
                          </a:solidFill>
                          <a:latin typeface="Courier New" pitchFamily="34" charset="0"/>
                          <a:ea typeface="Courier New" pitchFamily="34" charset="-122"/>
                          <a:cs typeface="Courier New" pitchFamily="34" charset="-120"/>
                        </a:rPr>
                        <a:t>make gl-&lt;name&gt; / check-&lt;name&gt;</a:t>
                      </a:r>
                      <a:endParaRPr lang="en-US" sz="1000" dirty="0">
                        <a:latin typeface="Courier New" charset="0"/>
                        <a:ea typeface="Courier New" charset="0"/>
                        <a:cs typeface="Courier New"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gate-level sim / surviving registers; &lt;name&gt; is spm, counter, uart, aes128, ring-osc, pwm-dac, sigma-delta, bnn, fcnn, user-proj or cnn-lite</a:t>
                      </a:r>
                      <a:endParaRPr lang="en-US" sz="1000" dirty="0">
                        <a:latin typeface="Arial" charset="0"/>
                        <a:ea typeface="Arial" charset="0"/>
                        <a:cs typeface="Arial" charset="0"/>
                      </a:endParaRPr>
                    </a:p>
                  </a:txBody>
                  <a:tcPr marL="73152" marR="73152"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960120"/>
          </a:xfrm>
          <a:prstGeom prst="rect">
            <a:avLst/>
          </a:prstGeom>
          <a:noFill/>
          <a:ln/>
        </p:spPr>
        <p:txBody>
          <a:bodyPr wrap="square" lIns="0" tIns="0" rIns="0" bIns="0" rtlCol="0" anchor="t"/>
          <a:lstStyle/>
          <a:p>
            <a:pPr algn="l" indent="0" marL="0">
              <a:buNone/>
            </a:pPr>
            <a:r>
              <a:rPr lang="en-US" sz="2800" b="1" dirty="0">
                <a:solidFill>
                  <a:srgbClr val="12151C"/>
                </a:solidFill>
                <a:latin typeface="Arial" pitchFamily="34" charset="0"/>
                <a:ea typeface="Arial" pitchFamily="34" charset="-122"/>
                <a:cs typeface="Arial" pitchFamily="34" charset="-120"/>
              </a:rPr>
              <a:t>Appendix: the stages of cnn_lite, step by step</a:t>
            </a:r>
            <a:endParaRPr lang="en-US" sz="28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463040"/>
                <a:gridCol w="2926080"/>
                <a:gridCol w="2743200"/>
                <a:gridCol w="1097280"/>
              </a:tblGrid>
              <a:tr h="27432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Stage</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Step</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Tool</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Step time</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071A36"/>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floorplan</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13-openroad-floorplan</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OpenROAD</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0.63 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pdn</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21-openroad-generatepdn</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OpenROAD</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0.639 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global_placement</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28-openroad-globalplacement</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OpenROAD</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1.965 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placement</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34-openroad-detailedplacement</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OpenROAD</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0.757 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cts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35-openroad-cts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OpenROAD</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6.957 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routing</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45-openroad-detailedrouting</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OpenROAD</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250.21 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final_def</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final</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OpenROAD, Magic and KLayout (final outputs)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final</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final</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OpenROAD, Magic and KLayout (final outputs)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2151C"/>
                          </a:solidFill>
                          <a:latin typeface="Arial" pitchFamily="34" charset="0"/>
                          <a:ea typeface="Arial" pitchFamily="34" charset="-122"/>
                          <a:cs typeface="Arial" pitchFamily="34" charset="-120"/>
                        </a:rPr>
                        <a:t>zoom</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final</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51C"/>
                          </a:solidFill>
                          <a:latin typeface="Arial" pitchFamily="34" charset="0"/>
                          <a:ea typeface="Arial" pitchFamily="34" charset="-122"/>
                          <a:cs typeface="Arial" pitchFamily="34" charset="-120"/>
                        </a:rPr>
                        <a:t>OpenROAD, Magic and KLayout (final outputs)</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151C"/>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54864" marR="54864" marT="18288" marB="18288" anchor="ctr">
                    <a:lnL w="6350" cap="flat" cmpd="sng" algn="ctr">
                      <a:solidFill>
                        <a:srgbClr val="D5D9DC"/>
                      </a:solidFill>
                      <a:prstDash val="solid"/>
                      <a:round/>
                      <a:headEnd type="none" w="med" len="med"/>
                      <a:tailEnd type="none" w="med" len="med"/>
                    </a:lnL>
                    <a:lnR w="6350" cap="flat" cmpd="sng" algn="ctr">
                      <a:solidFill>
                        <a:srgbClr val="D5D9DC"/>
                      </a:solidFill>
                      <a:prstDash val="solid"/>
                      <a:round/>
                      <a:headEnd type="none" w="med" len="med"/>
                      <a:tailEnd type="none" w="med" len="med"/>
                    </a:lnR>
                    <a:lnT w="6350" cap="flat" cmpd="sng" algn="ctr">
                      <a:solidFill>
                        <a:srgbClr val="D5D9DC"/>
                      </a:solidFill>
                      <a:prstDash val="solid"/>
                      <a:round/>
                      <a:headEnd type="none" w="med" len="med"/>
                      <a:tailEnd type="none" w="med" len="med"/>
                    </a:lnT>
                    <a:lnB w="6350" cap="flat" cmpd="sng" algn="ctr">
                      <a:solidFill>
                        <a:srgbClr val="D5D9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573"/>
                </a:solidFill>
                <a:latin typeface="Arial"/>
                <a:ea typeface="Arial"/>
                <a:cs typeface="Arial"/>
              </a:defRPr>
            </a:lvl1pPr>
          </a:lstStyle>
          <a:p>
            <a:pPr algn="r"/>
            <a:fld id="{F7021451-1387-4CA6-816F-3879F97B5CBC}" type="slidenum">
              <a:rPr b="0" lang="en-US"/>
              <a:t>81</a:t>
            </a:fld>
            <a:endParaRPr lang="en-US"/>
          </a:p>
        </p:txBody>
      </p:sp>
    </p:spTree>
  </p:cSld>
  <p:clrMapOvr>
    <a:masterClrMapping/>
  </p:clrMapOvr>
</p:sld>
</file>

<file path=ppt/theme/theme1.xml><?xml version="1.0" encoding="utf-8"?>
<a:theme xmlns:a="http://schemas.openxmlformats.org/drawingml/2006/main" name="Open AI Silicon (OSI style)">
  <a:themeElements>
    <a:clrScheme name="Open AI Silicon (OSI style)">
      <a:dk1>
        <a:srgbClr val="12151C"/>
      </a:dk1>
      <a:lt1>
        <a:srgbClr val="FFFFFF"/>
      </a:lt1>
      <a:dk2>
        <a:srgbClr val="071A36"/>
      </a:dk2>
      <a:lt2>
        <a:srgbClr val="F4F6F8"/>
      </a:lt2>
      <a:accent1>
        <a:srgbClr val="008F7A"/>
      </a:accent1>
      <a:accent2>
        <a:srgbClr val="FF4D2E"/>
      </a:accent2>
      <a:accent3>
        <a:srgbClr val="5C6573"/>
      </a:accent3>
      <a:accent4>
        <a:srgbClr val="E1F0ED"/>
      </a:accent4>
      <a:accent5>
        <a:srgbClr val="D5D9DC"/>
      </a:accent5>
      <a:accent6>
        <a:srgbClr val="B83A22"/>
      </a:accent6>
      <a:hlink>
        <a:srgbClr val="008F7A"/>
      </a:hlink>
      <a:folHlink>
        <a:srgbClr val="5C6573"/>
      </a:folHlink>
    </a:clrScheme>
    <a:fontScheme name="Open AI Silicon (OSI styl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Open-source chips from RTL to GDSII: a 150-minute hands-on workshop</dc:title>
  <dc:subject>Prepared for Open Source India</dc:subject>
  <dc:creator>Raja Gopal</dc:creator>
  <cp:lastModifiedBy>Raja Gopal</cp:lastModifiedBy>
  <cp:revision>1</cp:revision>
  <dcterms:created xsi:type="dcterms:W3CDTF">2026-10-05T01:02:37Z</dcterms:created>
  <dcterms:modified xsi:type="dcterms:W3CDTF">2026-10-05T01:02:37Z</dcterms:modified>
</cp:coreProperties>
</file>